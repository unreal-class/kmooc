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Lst>
  <p:notesMasterIdLst>
    <p:notesMasterId r:id="rId29"/>
  </p:notesMasterIdLst>
  <p:handoutMasterIdLst>
    <p:handoutMasterId r:id="rId30"/>
  </p:handoutMasterIdLst>
  <p:sldIdLst>
    <p:sldId id="1093" r:id="rId2"/>
    <p:sldId id="1094" r:id="rId3"/>
    <p:sldId id="774" r:id="rId4"/>
    <p:sldId id="1095" r:id="rId5"/>
    <p:sldId id="1096" r:id="rId6"/>
    <p:sldId id="1097" r:id="rId7"/>
    <p:sldId id="1098" r:id="rId8"/>
    <p:sldId id="1099" r:id="rId9"/>
    <p:sldId id="1100" r:id="rId10"/>
    <p:sldId id="1122" r:id="rId11"/>
    <p:sldId id="1101" r:id="rId12"/>
    <p:sldId id="1102" r:id="rId13"/>
    <p:sldId id="1104" r:id="rId14"/>
    <p:sldId id="1123" r:id="rId15"/>
    <p:sldId id="802" r:id="rId16"/>
    <p:sldId id="1105" r:id="rId17"/>
    <p:sldId id="1126" r:id="rId18"/>
    <p:sldId id="1127" r:id="rId19"/>
    <p:sldId id="1107" r:id="rId20"/>
    <p:sldId id="1103" r:id="rId21"/>
    <p:sldId id="1108" r:id="rId22"/>
    <p:sldId id="1109" r:id="rId23"/>
    <p:sldId id="1110" r:id="rId24"/>
    <p:sldId id="1106" r:id="rId25"/>
    <p:sldId id="1112" r:id="rId26"/>
    <p:sldId id="1124" r:id="rId27"/>
    <p:sldId id="1125" r:id="rId28"/>
  </p:sldIdLst>
  <p:sldSz cx="9144000" cy="5143500" type="screen16x9"/>
  <p:notesSz cx="6858000" cy="9144000"/>
  <p:defaultTextStyle>
    <a:defPPr>
      <a:defRPr lang="ko-KR"/>
    </a:defPPr>
    <a:lvl1pPr marL="0" algn="l" defTabSz="914290" rtl="0" eaLnBrk="1" latinLnBrk="1" hangingPunct="1">
      <a:defRPr sz="1800" kern="1200">
        <a:solidFill>
          <a:schemeClr val="tx1"/>
        </a:solidFill>
        <a:latin typeface="+mn-lt"/>
        <a:ea typeface="+mn-ea"/>
        <a:cs typeface="+mn-cs"/>
      </a:defRPr>
    </a:lvl1pPr>
    <a:lvl2pPr marL="457145" algn="l" defTabSz="914290" rtl="0" eaLnBrk="1" latinLnBrk="1" hangingPunct="1">
      <a:defRPr sz="1800" kern="1200">
        <a:solidFill>
          <a:schemeClr val="tx1"/>
        </a:solidFill>
        <a:latin typeface="+mn-lt"/>
        <a:ea typeface="+mn-ea"/>
        <a:cs typeface="+mn-cs"/>
      </a:defRPr>
    </a:lvl2pPr>
    <a:lvl3pPr marL="914290" algn="l" defTabSz="914290" rtl="0" eaLnBrk="1" latinLnBrk="1" hangingPunct="1">
      <a:defRPr sz="1800" kern="1200">
        <a:solidFill>
          <a:schemeClr val="tx1"/>
        </a:solidFill>
        <a:latin typeface="+mn-lt"/>
        <a:ea typeface="+mn-ea"/>
        <a:cs typeface="+mn-cs"/>
      </a:defRPr>
    </a:lvl3pPr>
    <a:lvl4pPr marL="1371435" algn="l" defTabSz="914290" rtl="0" eaLnBrk="1" latinLnBrk="1" hangingPunct="1">
      <a:defRPr sz="1800" kern="1200">
        <a:solidFill>
          <a:schemeClr val="tx1"/>
        </a:solidFill>
        <a:latin typeface="+mn-lt"/>
        <a:ea typeface="+mn-ea"/>
        <a:cs typeface="+mn-cs"/>
      </a:defRPr>
    </a:lvl4pPr>
    <a:lvl5pPr marL="1828581" algn="l" defTabSz="914290" rtl="0" eaLnBrk="1" latinLnBrk="1" hangingPunct="1">
      <a:defRPr sz="1800" kern="1200">
        <a:solidFill>
          <a:schemeClr val="tx1"/>
        </a:solidFill>
        <a:latin typeface="+mn-lt"/>
        <a:ea typeface="+mn-ea"/>
        <a:cs typeface="+mn-cs"/>
      </a:defRPr>
    </a:lvl5pPr>
    <a:lvl6pPr marL="2285726" algn="l" defTabSz="914290" rtl="0" eaLnBrk="1" latinLnBrk="1" hangingPunct="1">
      <a:defRPr sz="1800" kern="1200">
        <a:solidFill>
          <a:schemeClr val="tx1"/>
        </a:solidFill>
        <a:latin typeface="+mn-lt"/>
        <a:ea typeface="+mn-ea"/>
        <a:cs typeface="+mn-cs"/>
      </a:defRPr>
    </a:lvl6pPr>
    <a:lvl7pPr marL="2742871" algn="l" defTabSz="914290" rtl="0" eaLnBrk="1" latinLnBrk="1" hangingPunct="1">
      <a:defRPr sz="1800" kern="1200">
        <a:solidFill>
          <a:schemeClr val="tx1"/>
        </a:solidFill>
        <a:latin typeface="+mn-lt"/>
        <a:ea typeface="+mn-ea"/>
        <a:cs typeface="+mn-cs"/>
      </a:defRPr>
    </a:lvl7pPr>
    <a:lvl8pPr marL="3200016" algn="l" defTabSz="914290" rtl="0" eaLnBrk="1" latinLnBrk="1" hangingPunct="1">
      <a:defRPr sz="1800" kern="1200">
        <a:solidFill>
          <a:schemeClr val="tx1"/>
        </a:solidFill>
        <a:latin typeface="+mn-lt"/>
        <a:ea typeface="+mn-ea"/>
        <a:cs typeface="+mn-cs"/>
      </a:defRPr>
    </a:lvl8pPr>
    <a:lvl9pPr marL="3657161" algn="l" defTabSz="91429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658A8"/>
    <a:srgbClr val="89ABD8"/>
    <a:srgbClr val="048ED3"/>
    <a:srgbClr val="044CA2"/>
    <a:srgbClr val="01B2CC"/>
    <a:srgbClr val="3399FF"/>
    <a:srgbClr val="99CCFF"/>
    <a:srgbClr val="66CCFF"/>
    <a:srgbClr val="FF6600"/>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69" autoAdjust="0"/>
    <p:restoredTop sz="68220" autoAdjust="0"/>
  </p:normalViewPr>
  <p:slideViewPr>
    <p:cSldViewPr snapToGrid="0">
      <p:cViewPr varScale="1">
        <p:scale>
          <a:sx n="88" d="100"/>
          <a:sy n="88" d="100"/>
        </p:scale>
        <p:origin x="69" y="302"/>
      </p:cViewPr>
      <p:guideLst/>
    </p:cSldViewPr>
  </p:slideViewPr>
  <p:notesTextViewPr>
    <p:cViewPr>
      <p:scale>
        <a:sx n="150" d="100"/>
        <a:sy n="150" d="100"/>
      </p:scale>
      <p:origin x="0" y="0"/>
    </p:cViewPr>
  </p:notesTextViewPr>
  <p:notesViewPr>
    <p:cSldViewPr snapToGrid="0">
      <p:cViewPr varScale="1">
        <p:scale>
          <a:sx n="86" d="100"/>
          <a:sy n="86" d="100"/>
        </p:scale>
        <p:origin x="2514" y="9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3762B07-010A-4736-9DFA-BB8F01696DB9}" type="datetimeFigureOut">
              <a:rPr lang="ko-KR" altLang="en-US" smtClean="0"/>
              <a:t>2026-07-13</a:t>
            </a:fld>
            <a:endParaRPr lang="ko-KR" altLang="en-US"/>
          </a:p>
        </p:txBody>
      </p:sp>
      <p:sp>
        <p:nvSpPr>
          <p:cNvPr id="4" name="바닥글 개체 틀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5" name="슬라이드 번호 개체 틀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32C9138-B0E2-461F-B8E2-5CB27C64500A}" type="slidenum">
              <a:rPr lang="ko-KR" altLang="en-US" smtClean="0"/>
              <a:t>‹#›</a:t>
            </a:fld>
            <a:endParaRPr lang="ko-KR" altLang="en-US"/>
          </a:p>
        </p:txBody>
      </p:sp>
    </p:spTree>
    <p:extLst>
      <p:ext uri="{BB962C8B-B14F-4D97-AF65-F5344CB8AC3E}">
        <p14:creationId xmlns:p14="http://schemas.microsoft.com/office/powerpoint/2010/main" val="325345005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6BB2639-E251-4B91-B04E-F4A39D6657D0}" type="datetimeFigureOut">
              <a:rPr lang="ko-KR" altLang="en-US" smtClean="0"/>
              <a:t>2026-07-13</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58B9CC-458F-4497-8737-CAF2F390B8C0}" type="slidenum">
              <a:rPr lang="ko-KR" altLang="en-US" smtClean="0"/>
              <a:t>‹#›</a:t>
            </a:fld>
            <a:endParaRPr lang="ko-KR" altLang="en-US"/>
          </a:p>
        </p:txBody>
      </p:sp>
    </p:spTree>
    <p:extLst>
      <p:ext uri="{BB962C8B-B14F-4D97-AF65-F5344CB8AC3E}">
        <p14:creationId xmlns:p14="http://schemas.microsoft.com/office/powerpoint/2010/main" val="237104949"/>
      </p:ext>
    </p:extLst>
  </p:cSld>
  <p:clrMap bg1="lt1" tx1="dk1" bg2="lt2" tx2="dk2" accent1="accent1" accent2="accent2" accent3="accent3" accent4="accent4" accent5="accent5" accent6="accent6" hlink="hlink" folHlink="folHlink"/>
  <p:notesStyle>
    <a:lvl1pPr marL="0" algn="l" defTabSz="914290" rtl="0" eaLnBrk="1" latinLnBrk="1" hangingPunct="1">
      <a:defRPr sz="1200" kern="1200">
        <a:solidFill>
          <a:schemeClr val="tx1"/>
        </a:solidFill>
        <a:latin typeface="+mn-lt"/>
        <a:ea typeface="+mn-ea"/>
        <a:cs typeface="+mn-cs"/>
      </a:defRPr>
    </a:lvl1pPr>
    <a:lvl2pPr marL="457145" algn="l" defTabSz="914290" rtl="0" eaLnBrk="1" latinLnBrk="1" hangingPunct="1">
      <a:defRPr sz="1200" kern="1200">
        <a:solidFill>
          <a:schemeClr val="tx1"/>
        </a:solidFill>
        <a:latin typeface="+mn-lt"/>
        <a:ea typeface="+mn-ea"/>
        <a:cs typeface="+mn-cs"/>
      </a:defRPr>
    </a:lvl2pPr>
    <a:lvl3pPr marL="914290" algn="l" defTabSz="914290" rtl="0" eaLnBrk="1" latinLnBrk="1" hangingPunct="1">
      <a:defRPr sz="1200" kern="1200">
        <a:solidFill>
          <a:schemeClr val="tx1"/>
        </a:solidFill>
        <a:latin typeface="+mn-lt"/>
        <a:ea typeface="+mn-ea"/>
        <a:cs typeface="+mn-cs"/>
      </a:defRPr>
    </a:lvl3pPr>
    <a:lvl4pPr marL="1371435" algn="l" defTabSz="914290" rtl="0" eaLnBrk="1" latinLnBrk="1" hangingPunct="1">
      <a:defRPr sz="1200" kern="1200">
        <a:solidFill>
          <a:schemeClr val="tx1"/>
        </a:solidFill>
        <a:latin typeface="+mn-lt"/>
        <a:ea typeface="+mn-ea"/>
        <a:cs typeface="+mn-cs"/>
      </a:defRPr>
    </a:lvl4pPr>
    <a:lvl5pPr marL="1828581" algn="l" defTabSz="914290" rtl="0" eaLnBrk="1" latinLnBrk="1" hangingPunct="1">
      <a:defRPr sz="1200" kern="1200">
        <a:solidFill>
          <a:schemeClr val="tx1"/>
        </a:solidFill>
        <a:latin typeface="+mn-lt"/>
        <a:ea typeface="+mn-ea"/>
        <a:cs typeface="+mn-cs"/>
      </a:defRPr>
    </a:lvl5pPr>
    <a:lvl6pPr marL="2285726" algn="l" defTabSz="914290" rtl="0" eaLnBrk="1" latinLnBrk="1" hangingPunct="1">
      <a:defRPr sz="1200" kern="1200">
        <a:solidFill>
          <a:schemeClr val="tx1"/>
        </a:solidFill>
        <a:latin typeface="+mn-lt"/>
        <a:ea typeface="+mn-ea"/>
        <a:cs typeface="+mn-cs"/>
      </a:defRPr>
    </a:lvl6pPr>
    <a:lvl7pPr marL="2742871" algn="l" defTabSz="914290" rtl="0" eaLnBrk="1" latinLnBrk="1" hangingPunct="1">
      <a:defRPr sz="1200" kern="1200">
        <a:solidFill>
          <a:schemeClr val="tx1"/>
        </a:solidFill>
        <a:latin typeface="+mn-lt"/>
        <a:ea typeface="+mn-ea"/>
        <a:cs typeface="+mn-cs"/>
      </a:defRPr>
    </a:lvl7pPr>
    <a:lvl8pPr marL="3200016" algn="l" defTabSz="914290" rtl="0" eaLnBrk="1" latinLnBrk="1" hangingPunct="1">
      <a:defRPr sz="1200" kern="1200">
        <a:solidFill>
          <a:schemeClr val="tx1"/>
        </a:solidFill>
        <a:latin typeface="+mn-lt"/>
        <a:ea typeface="+mn-ea"/>
        <a:cs typeface="+mn-cs"/>
      </a:defRPr>
    </a:lvl8pPr>
    <a:lvl9pPr marL="3657161" algn="l" defTabSz="91429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1차시에서는 블루프린트가 무엇인지, 어떤 특징을 가진 언어인지 살펴보고, 블루프린트 그래프를 구성하는 노드·핀·와이어의 구조를 학습합니다. 이어서 실습을 통해 게임 아이템인 골드 트로피 액터를 직접 만들고, </a:t>
            </a:r>
            <a:r>
              <a:rPr lang="ko-KR" altLang="en-US"/>
              <a:t>운동을 시켜봅니다</a:t>
            </a:r>
            <a:r>
              <a:rPr lang="en-US" altLang="ko-KR"/>
              <a:t>.</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a:t>만약 레벨 안에 어떤 정육면체 액터가 있다고 생각해 봅시다</a:t>
            </a:r>
            <a:r>
              <a:rPr lang="en-US" altLang="ko-KR"/>
              <a:t>.</a:t>
            </a:r>
            <a:r>
              <a:rPr lang="ko-KR" altLang="en-US"/>
              <a:t>이 액터가 위아래로 둥둥 떠 있는 모습을 구현한다고 하면 여러분은 어떻게 하시겠습니까</a:t>
            </a:r>
            <a:r>
              <a:rPr lang="en-US" altLang="ko-KR"/>
              <a:t>.</a:t>
            </a:r>
            <a:r>
              <a:rPr lang="ko-KR" altLang="en-US"/>
              <a:t>실력이 있는 분이라면 아마 다음과 같은 스타일로 코딩을 할 것입니다</a:t>
            </a:r>
            <a:r>
              <a:rPr lang="en-US" altLang="ko-KR"/>
              <a:t>.</a:t>
            </a:r>
            <a:r>
              <a:rPr lang="ko-KR" altLang="en-US"/>
              <a:t>이 액터의 위치를 계속 변경해야 하니</a:t>
            </a:r>
            <a:r>
              <a:rPr lang="en-US" altLang="ko-KR"/>
              <a:t>, </a:t>
            </a:r>
            <a:r>
              <a:rPr lang="ko-KR" altLang="en-US"/>
              <a:t>초기 위치값에 사인값을 더해 줍니다</a:t>
            </a:r>
            <a:r>
              <a:rPr lang="en-US" altLang="ko-KR"/>
              <a:t>.</a:t>
            </a:r>
            <a:r>
              <a:rPr lang="ko-KR" altLang="en-US"/>
              <a:t>사인값을 더하면 시간의 흐름에 따라 값이 출렁거리게 됩니다</a:t>
            </a:r>
            <a:r>
              <a:rPr lang="en-US" altLang="ko-KR"/>
              <a:t>.</a:t>
            </a:r>
            <a:r>
              <a:rPr lang="ko-KR" altLang="en-US"/>
              <a:t>그렇게 계산한 새로운 위치값으로 액터의 위치를 맞춰 주면 됩니다</a:t>
            </a:r>
            <a:r>
              <a:rPr lang="en-US" altLang="ko-KR"/>
              <a:t>. </a:t>
            </a:r>
            <a:r>
              <a:rPr lang="ko-KR" altLang="en-US"/>
              <a:t>언리얼 엔진에서도 </a:t>
            </a:r>
            <a:r>
              <a:rPr lang="en-US" altLang="ko-KR"/>
              <a:t>C++</a:t>
            </a:r>
            <a:r>
              <a:rPr lang="ko-KR" altLang="en-US"/>
              <a:t>를 이용하면 이런 방식으로 코딩할 수 있습니다</a:t>
            </a:r>
            <a:r>
              <a:rPr lang="en-US" altLang="ko-KR"/>
              <a:t>. </a:t>
            </a:r>
            <a:r>
              <a:rPr lang="ko-KR" altLang="en-US"/>
              <a:t>그런데 언리얼 엔진은 </a:t>
            </a:r>
            <a:r>
              <a:rPr lang="en-US" altLang="ko-KR"/>
              <a:t>C++ </a:t>
            </a:r>
            <a:r>
              <a:rPr lang="ko-KR" altLang="en-US"/>
              <a:t>외에도 블루프린트라는 배우기 쉽고 개발에 효과적인 스크립팅 언어를 제공하고 있습니다</a:t>
            </a:r>
            <a:r>
              <a:rPr lang="en-US" altLang="ko-KR"/>
              <a:t>. </a:t>
            </a:r>
            <a:r>
              <a:rPr lang="ko-KR" altLang="en-US"/>
              <a:t>따라서 본 강의에서는 블루프린트를 이용하여 강의를 진행할 예정입니다</a:t>
            </a:r>
            <a:r>
              <a:rPr lang="en-US" altLang="ko-KR"/>
              <a:t>.</a:t>
            </a:r>
            <a:r>
              <a:rPr lang="ko-KR" altLang="en-US"/>
              <a:t> 그럼 이제 블루프린트를 자세히 살펴보겠습니다</a:t>
            </a:r>
            <a:r>
              <a:rPr lang="en-US" altLang="ko-KR"/>
              <a:t>.</a:t>
            </a:r>
            <a:endParaRPr lang="ko-KR" altLang="en-US"/>
          </a:p>
        </p:txBody>
      </p:sp>
      <p:sp>
        <p:nvSpPr>
          <p:cNvPr id="4" name="슬라이드 번호 개체 틀 3"/>
          <p:cNvSpPr>
            <a:spLocks noGrp="1"/>
          </p:cNvSpPr>
          <p:nvPr>
            <p:ph type="sldNum" sz="quarter" idx="5"/>
          </p:nvPr>
        </p:nvSpPr>
        <p:spPr/>
        <p:txBody>
          <a:bodyPr/>
          <a:lstStyle/>
          <a:p>
            <a:fld id="{AE58B9CC-458F-4497-8737-CAF2F390B8C0}" type="slidenum">
              <a:rPr lang="ko-KR" altLang="en-US" smtClean="0"/>
              <a:t>3</a:t>
            </a:fld>
            <a:endParaRPr lang="ko-KR" altLang="en-US"/>
          </a:p>
        </p:txBody>
      </p:sp>
    </p:spTree>
    <p:extLst>
      <p:ext uri="{BB962C8B-B14F-4D97-AF65-F5344CB8AC3E}">
        <p14:creationId xmlns:p14="http://schemas.microsoft.com/office/powerpoint/2010/main" val="7522314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블루프린트(Blueprint)는 언리얼 엔진이 제공하는 비주얼 스크립팅 시스템으로, 코드를 직접 타이핑하지 않고 노드 기반의 그래프를 이용해 게임플레이 요소를 만들 수 있는 기능입니다. 언리얼 엔진 공식 문서에서도 블루프린트를 노드 기반 인터페이스로 에디터 안에서 게임플레이 요소를 완성할 수 있는 완전한 스크립팅 시스템이라고 설명합니다. 처음에는 프로그래머가 아닌 기획자나 디자이너도 통합 개발 환경 안에서 직접 게임 로직을 만들 수 있도록 하기 위해 도입되었지만, 기능이 계속 확장되면서 지금은 게임 개발 전반에서 폭넓게 활용됩니다. 그래서 언리얼 엔진은 성능이 특히 중요한 부분은 C++로 작성하고, 기획자나 아티스트와의 협업이 필요하거나 성능 부담이 크지 않은 부분은 블루프린트로 작성하는 하이브리드 개발 방식을 권장합니다. 결국 언리얼 엔진을 제대로 다루기 위해서는 블루프린트에 대한 이해가 반드시 필요합니다.</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블루프린트의 첫 번째 특징은 비주얼 언어라는 점입니다. C++이나 파이썬 같은 일반적인 프로그래밍 언어는 텍스트 에디터에 코드를 작성한 다음 실행하거나 컴파일하는 텍스트 기반 언어입니다. 반면 블루프린트는 사각형으로 표시되는 노드(Node)와, 노드와 노드를 연결하는 선인 와이어(Wire)라는 두 가지 시각 요소만으로 그림을 그리듯 로직을 구성하는 언어입니다. 이렇게 노드와 와이어로 이루어진 작업 공간을 언리얼 엔진에서는 블루프린트 그래프(Blueprint Graph)라고 부릅니다. 언리얼 엔진 공식 문서 역시 블루프린트를 노드 기반 인터페이스를 사용해 코드를 작성하지 않고도 게임플레이 기능을 만드는 비주얼 스크립팅 언어로 정의하고 있습니다. 그래프 형태로 로직이 표현되기 때문에 복잡한 로직도 비교적 쉽게 만들 수 있고, 와이어를 따라 실행 흐름이 어떻게 진행되는지 눈으로 직접 확인할 수 있어 문제가 생겼을 때 원인을 찾는 디버깅 작업도 한결 수월해집니다.</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블루프린트의 두 번째 특징은 스크립팅 언어, 즉 인터프리터 방식으로 동작한다는 점입니다. C++처럼 컴파일러 기반의 언어는 코드를 작성한 뒤 반드시 컴파일 과정을 거쳐야 실행할 수 있고, 프로젝트 규모가 커질수록 빌드에 걸리는 시간도 길어집니다. 반면 인터프리터 방식은 코드를 작성하는 즉시 실행되는 구조로, 파이썬이 대표적인 예이며 블루프린트도 이와 같은 방식으로 동작합니다. 블루프린트 그래프를 수정해도 별도의 빌드 과정 없이 곧바로 결과를 확인할 수 있어 반복적인 실험과 수정이 매우 빠르게 이루어집니다. 다만 블루프린트 에디터에도 컴파일 버튼이 존재하는데, 이는 C++의 컴파일과는 다른 개념으로, 그림으로 그려진 그래프를 엔진 내부에서 빠르게 처리할 수 있는 형태로 변환하는 과정입니다. 이 과정은 매우 짧은 시간에 끝나지만, 그래프를 수정한 내용을 실제로 반영하려면 반드시 저장과 컴파일을 함께 진행해야 한다는 점을 기억해야 합니다.</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블루프린트는 여러 장점과 함께 명확한 단점도 가지고 있습니다. 가장 큰 단점은 성능입니다. 블루프린트는 내부적으로 가상 머신을 기반으로 실행되기 때문에 C++에 비해 속도가 느리며, 적게는 5배에서 많게는 30배까지 차이가 난다고 알려져 있습니다. 또한 언리얼 엔진이 제공하는 모든 기능을 블루프린트만으로 사용할 수 있는 것은 아니며, 일부 저수준 기능은 C++로만 접근할 수 있습니다. 그럼에도 블루프린트는 계속 발전해 오면서 활용할 수 있는 기능의 폭이 매우 넓어졌고, 블루프린트로 작성한 로직을 C++ 코드로 변환하는 방법도 존재해 성능 문제를 보완할 수 있습니다. 특히 게임을 빠르게 프로토타입 해야 하는 상황이나, 캐주얼한 스타일의 게임을 개발할 때는 블루프린트만으로도 충분히 상용화 수준의 결과물을 만들 수 있습니다. 이런 이유로 언리얼 엔진 공식 문서에서도 블루프린트를 프로그래머가 만든 C++ 기반 시스템을 기획자가 손쉽게 확장할 수 있는 강력한 도구로 소개하고 있습니다.</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블루프린트 그래프를 이루는 기본 요소는 노드(Node)와 와이어(Wire)입니다. 노드는 사각형으로 표시되며 이벤트, 함수, 연산, 분기, 변수 등 다양한 동작을 나타냅니다. </a:t>
            </a:r>
            <a:r>
              <a:rPr lang="ko-KR" altLang="en-US"/>
              <a:t>여러 종류의 노드가 있는데</a:t>
            </a:r>
            <a:r>
              <a:rPr lang="en-US" altLang="ko-KR"/>
              <a:t>, </a:t>
            </a:r>
            <a:r>
              <a:rPr lang="ko-KR" altLang="en-US"/>
              <a:t>간단히 살펴보죠</a:t>
            </a:r>
            <a:r>
              <a:rPr lang="en-US" altLang="ko-KR"/>
              <a:t>. </a:t>
            </a:r>
            <a:r>
              <a:t>이벤트 노드는 피격이나 충돌, 제한 시간 종료처럼 특정 사건이 발생했음을 알려주는 노드</a:t>
            </a:r>
            <a:r>
              <a:rPr lang="ko-KR" altLang="en-US"/>
              <a:t>입니다</a:t>
            </a:r>
            <a:r>
              <a:rPr lang="en-US" altLang="ko-KR"/>
              <a:t>. </a:t>
            </a:r>
            <a:r>
              <a:t>함수 노드는 입력된 데이터를 처리해 결과를 반환하는 노드로, 예를 들어 SetActorLocation 노드는 액터의 위치를 설정하는 함수입니다. 연산 노드는 더하기나 곱하기 같은 계산을 수행</a:t>
            </a:r>
            <a:r>
              <a:rPr lang="ko-KR" altLang="en-US"/>
              <a:t>합니다</a:t>
            </a:r>
            <a:r>
              <a:rPr lang="en-US" altLang="ko-KR"/>
              <a:t>.</a:t>
            </a:r>
            <a:r>
              <a:t> 분기 노드는 프로그래밍의 if문이나 for문에 해당하는 Branch, ForLoop 같은 노드로 실행 흐름을 제어합니다. 마지막으로 변수 노드는 변수 값을 가져오는 Get 노드와 변수 값을 설정하는 Set 노드로 나뉩니다. 이렇게 프로그래밍 언어의 여러 문법 요소가 모두 노드의 형태로 표현되어 있는 것이 특징입니다.</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핀(Pin)은 노드의 좌우에 위치한 연결점으로, 크게 실행 핀과 데이터 핀 두 종류로 나뉩니다. 실행 핀은 흰색 오각형으로 표시되며 노드 상단의 좌우에 위치해, 노드와 노드를 연결하면서 프로그램이 진행되는 흐름, 즉 실행 순서를 나타냅니다. 일반적인 텍스트 기반 언어는 코드가 위에서 아래로 순서대로 실행되지만, 블루프린트에서는 노드의 왼쪽에서 시작해 오른쪽으로 실행 흐름이 이어지는 경우가 대부분입니다. </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2C1C71-5C5C-215D-9EE5-8AB5BC78D1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F6A2E4-2139-1D32-EA09-05BB03BC97E4}"/>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33DD6542-334C-364F-6AF8-7B4457A1F1A1}"/>
              </a:ext>
            </a:extLst>
          </p:cNvPr>
          <p:cNvSpPr>
            <a:spLocks noGrp="1"/>
          </p:cNvSpPr>
          <p:nvPr>
            <p:ph type="body" sz="quarter" idx="3"/>
          </p:nvPr>
        </p:nvSpPr>
        <p:spPr/>
        <p:txBody>
          <a:bodyPr/>
          <a:lstStyle/>
          <a:p>
            <a:r>
              <a:t>실행 핀 아래쪽에 위치한 색깔이 있는 핀은 데이터 핀으로, 입력 핀과 출력 핀으로 구분됩니다. 함수를 예로 들면 함수에 들어가는 입력은 파라미터에 해당하고 함수에서 나오는 출력은 결과값에 해당하는데, 노드의 왼쪽 핀은 입력 데이터를, 오른쪽 핀은 출력 데이터를 나타냅니다. 데이터 핀의 색은 정수, 실수, 불리언, 벡터 등 데이터 타입에 따라 다르게 표시되어, 색깔만 보고도 어떤 종류의 값이 오가는지 쉽게 구분할 수 있도록 설계되어 있습니다.</a:t>
            </a:r>
          </a:p>
        </p:txBody>
      </p:sp>
      <p:sp>
        <p:nvSpPr>
          <p:cNvPr id="4" name="Slide Number Placeholder 3">
            <a:extLst>
              <a:ext uri="{FF2B5EF4-FFF2-40B4-BE49-F238E27FC236}">
                <a16:creationId xmlns:a16="http://schemas.microsoft.com/office/drawing/2014/main" id="{231C9BC4-C52A-2A0F-B753-E5A8140DA392}"/>
              </a:ext>
            </a:extLst>
          </p:cNvPr>
          <p:cNvSpPr>
            <a:spLocks noGrp="1"/>
          </p:cNvSpPr>
          <p:nvPr>
            <p:ph type="sldNum" sz="quarter" idx="5"/>
          </p:nvPr>
        </p:nvSpPr>
        <p:spPr/>
      </p:sp>
    </p:spTree>
    <p:extLst>
      <p:ext uri="{BB962C8B-B14F-4D97-AF65-F5344CB8AC3E}">
        <p14:creationId xmlns:p14="http://schemas.microsoft.com/office/powerpoint/2010/main" val="10457809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와이어(Wire)는 핀과 핀을 연결해 노드와 노드를 이어주는 선으로, 실행 흐름을 나타내는 와이어와 데이터 흐름을 나타내는 와이어 두 종류가 있습니다. 실행 흐름을 나타내는 와이어는 흰색 선으로 표시되며, 예를 들어 이벤트 틱(Event Tick) 노드에서 뻗어 나온 흰색 와이어를 따라 프로그램의 실행 흐름이 다음 함수 노드로 전달됩니다. 반면 색깔이 있는 와이어는 데이터의 흐름을 나타내며, 어떤 노드의 출력값이 다른 노드의 입력값으로 전달될 때 사용됩니다. 와이어의 색깔은 연결된 데이터 핀의 타입에 따라 결정되는데, 예를 들어 노란색 와이어는 단일 부동소수점 값인 Float(스칼라) 타입을 나타냅니다. 이렇게 핀과 와이어라는 단순한 시각 요소만으로도 실행 순서와 데이터의 입출력을 모두 명확하게 표현할 수 있다는 점이 블루프린트 그래프의 큰 장점이며, 이 덕분에 복잡한 로직도 한눈에 흐름을 파악하기 쉬워집니다.</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언리얼 엔진에서 물체를 움직이는 가장 기본적인 방법은 게임 루프(Game Loop) 구조를 따르는 것입니다. 이는 마치 스톱모션 애니메이션이나 인형극처럼, 물체를 아주 조금씩 움직이고 그 상태를 계속 촬영해 이어 붙이는 방식과 같습니다. 게임이 시작되면 언리얼 엔진은 레벨에 존재하는 모든 액터에게 가장 먼저 초기화를 위한 이벤트인 BeginPlay(이벤트 비긴 플레이)를 보내 시작 준비를 하게 합니다. 초기화가 끝난 뒤부터는 엔진이 초당 평균 60회 이상 각 액터에게 Tick(이벤트 틱)을 보내고, 액터는 이 틱 이벤트를 받을 때마다 스스로 상태를 업데이트합니다. 모든 액터가 상태를 갱신하고 나면 엔진은 그 결과를 기준으로 화면을 렌더링하며, 이 BeginPlay와 Tick의 반복 구조가 바로 게임 루프입니다. 이러한 구조를 이해하면 액터의 위치를 갱신하는 GetActorLocation, SetActorLocation 같은 함수를 왜 Tick 이벤트에 연결해야 하는지 자연스럽게 이해할 수 있습니다.</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Step 1. 콘텐츠 폴더 아래에 렉처03 폴더를 새로 만든다.</a:t>
            </a:r>
          </a:p>
          <a:p>
            <a:r>
              <a:t>Step 2. 기존 브릭하우스 맵을 복사해 렉처03 폴더에 저장하고, 복사된 레벨을 연다.</a:t>
            </a:r>
          </a:p>
          <a:p>
            <a:r>
              <a:t>Step 3. 스타터 콘텐츠 프롭스 폴더의 SM_Structure 스태틱 메쉬를 레벨 위로 드래그해서 배치한다.</a:t>
            </a:r>
          </a:p>
          <a:p>
            <a:r>
              <a:t>Step 4. 머티리얼 폴더에서 골드 머티리얼을 찾아 오브젝트에 드래그해 적용한다.</a:t>
            </a:r>
          </a:p>
          <a:p>
            <a:r>
              <a:t>Step 5. 트로피를 선택하고 디테일 패널의 블루프린트 생성 버튼을 클릭한다.</a:t>
            </a:r>
          </a:p>
          <a:p>
            <a:r>
              <a:t>Step 6. 블루프린트 이름을 BP_GoldTrophy로 정하고, 렉처03 폴더에 저장한다.</a:t>
            </a:r>
          </a:p>
          <a:p>
            <a:r>
              <a:t>Step 7. 블루프린트 에디터 탭을 메인 창에 도킹시키고 Ctrl+S로 저장한다.</a:t>
            </a:r>
          </a:p>
          <a:p>
            <a:r>
              <a:t>Step 8. 이벤트 그래프 탭으로 이동해 기본으로 놓인 Event Tick 노드를 확인한다.</a:t>
            </a:r>
          </a:p>
          <a:p>
            <a:r>
              <a:t>Step 9. 빈 공간에서 마우스 오른쪽 버튼을 눌러 SetActorLocation 노드를 검색해 추가한다.</a:t>
            </a:r>
          </a:p>
          <a:p>
            <a:r>
              <a:t>Step 10. Event Tick의 실행 핀을 SetActorLocation의 실행 핀에 연결한다.</a:t>
            </a:r>
          </a:p>
          <a:p>
            <a:r>
              <a:t>Step 11. GetActorLocation 노드를 추가해 현재 위치(Vector)를 가져온다.</a:t>
            </a:r>
          </a:p>
          <a:p>
            <a:r>
              <a:t>Step 12. GetActorLocation의 리턴 값을 드래그해 Add 노드를 만들고, Z 값에 1을 입력한다.</a:t>
            </a:r>
          </a:p>
          <a:p>
            <a:r>
              <a:t>Step 13. Add 노드의 결과를 SetActorLocation의 New Location 입력에 연결한다.</a:t>
            </a:r>
          </a:p>
          <a:p>
            <a:r>
              <a:t>Step 14. 저장 후 컴파일 버튼을 눌러 그래프를 반영한다.</a:t>
            </a:r>
          </a:p>
          <a:p>
            <a:r>
              <a:t>Step 15. 레벨에서 플레이해 보면 트로피가 움직이지 않고 에러 메시지가 나오는 것을 확인한다.</a:t>
            </a:r>
          </a:p>
          <a:p>
            <a:r>
              <a:t>Step 16. 트로피의 디테일 패널에서 Mobility 속성을 Static에서 Movable로 변경한다.</a:t>
            </a:r>
          </a:p>
          <a:p>
            <a:r>
              <a:t>Step 17. 다시 플레이해서 트로피가 위로 계속 올라가는 것을 확인한다.</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F9F369-0F5C-8F37-0C2E-5720CE604D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2D14A6-1317-5EB1-7CBC-38ABA9464539}"/>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238CB032-95E0-4D86-FF6A-03FA23EB35C0}"/>
              </a:ext>
            </a:extLst>
          </p:cNvPr>
          <p:cNvSpPr>
            <a:spLocks noGrp="1"/>
          </p:cNvSpPr>
          <p:nvPr>
            <p:ph type="body" sz="quarter" idx="3"/>
          </p:nvPr>
        </p:nvSpPr>
        <p:spPr/>
        <p:txBody>
          <a:bodyPr/>
          <a:lstStyle/>
          <a:p>
            <a:endParaRPr/>
          </a:p>
        </p:txBody>
      </p:sp>
      <p:sp>
        <p:nvSpPr>
          <p:cNvPr id="4" name="Slide Number Placeholder 3">
            <a:extLst>
              <a:ext uri="{FF2B5EF4-FFF2-40B4-BE49-F238E27FC236}">
                <a16:creationId xmlns:a16="http://schemas.microsoft.com/office/drawing/2014/main" id="{C9CE5548-19EE-7BC0-E80D-DA1C5E7A3452}"/>
              </a:ext>
            </a:extLst>
          </p:cNvPr>
          <p:cNvSpPr>
            <a:spLocks noGrp="1"/>
          </p:cNvSpPr>
          <p:nvPr>
            <p:ph type="sldNum" sz="quarter" idx="5"/>
          </p:nvPr>
        </p:nvSpPr>
        <p:spPr/>
      </p:sp>
    </p:spTree>
    <p:extLst>
      <p:ext uri="{BB962C8B-B14F-4D97-AF65-F5344CB8AC3E}">
        <p14:creationId xmlns:p14="http://schemas.microsoft.com/office/powerpoint/2010/main" val="16322920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latinLnBrk="0"/>
            <a:r>
              <a:rPr lang="en-US" altLang="ko-KR" sz="1200" b="0" i="0" kern="1200">
                <a:solidFill>
                  <a:schemeClr val="tx1"/>
                </a:solidFill>
                <a:effectLst/>
                <a:latin typeface="+mn-lt"/>
                <a:ea typeface="+mn-ea"/>
                <a:cs typeface="+mn-cs"/>
              </a:rPr>
              <a:t>"</a:t>
            </a:r>
            <a:r>
              <a:rPr lang="ko-KR" altLang="en-US" sz="1200" b="0" i="0" kern="1200">
                <a:solidFill>
                  <a:schemeClr val="tx1"/>
                </a:solidFill>
                <a:effectLst/>
                <a:latin typeface="+mn-lt"/>
                <a:ea typeface="+mn-ea"/>
                <a:cs typeface="+mn-cs"/>
              </a:rPr>
              <a:t>안녕하십니까</a:t>
            </a:r>
            <a:r>
              <a:rPr lang="en-US" altLang="ko-KR" sz="1200" b="0" i="0" kern="1200">
                <a:solidFill>
                  <a:schemeClr val="tx1"/>
                </a:solidFill>
                <a:effectLst/>
                <a:latin typeface="+mn-lt"/>
                <a:ea typeface="+mn-ea"/>
                <a:cs typeface="+mn-cs"/>
              </a:rPr>
              <a:t>, </a:t>
            </a:r>
            <a:r>
              <a:rPr lang="ko-KR" altLang="en-US" sz="1200" b="0" i="0" kern="1200">
                <a:solidFill>
                  <a:schemeClr val="tx1"/>
                </a:solidFill>
                <a:effectLst/>
                <a:latin typeface="+mn-lt"/>
                <a:ea typeface="+mn-ea"/>
                <a:cs typeface="+mn-cs"/>
              </a:rPr>
              <a:t>이번 슬라이드에서는 언리얼 엔진 블루프린트의 가장 핵심적인 기초인 </a:t>
            </a:r>
            <a:r>
              <a:rPr lang="en-US" altLang="ko-KR" sz="1200" b="0" i="0" kern="1200">
                <a:solidFill>
                  <a:schemeClr val="tx1"/>
                </a:solidFill>
                <a:effectLst/>
                <a:latin typeface="+mn-lt"/>
                <a:ea typeface="+mn-ea"/>
                <a:cs typeface="+mn-cs"/>
              </a:rPr>
              <a:t>'</a:t>
            </a:r>
            <a:r>
              <a:rPr lang="ko-KR" altLang="en-US" sz="1200" b="0" i="0" kern="1200">
                <a:solidFill>
                  <a:schemeClr val="tx1"/>
                </a:solidFill>
                <a:effectLst/>
                <a:latin typeface="+mn-lt"/>
                <a:ea typeface="+mn-ea"/>
                <a:cs typeface="+mn-cs"/>
              </a:rPr>
              <a:t>변수</a:t>
            </a:r>
            <a:r>
              <a:rPr lang="en-US" altLang="ko-KR" sz="1200" b="0" i="0" kern="1200">
                <a:solidFill>
                  <a:schemeClr val="tx1"/>
                </a:solidFill>
                <a:effectLst/>
                <a:latin typeface="+mn-lt"/>
                <a:ea typeface="+mn-ea"/>
                <a:cs typeface="+mn-cs"/>
              </a:rPr>
              <a:t>(Variable)'</a:t>
            </a:r>
            <a:r>
              <a:rPr lang="ko-KR" altLang="en-US" sz="1200" b="0" i="0" kern="1200">
                <a:solidFill>
                  <a:schemeClr val="tx1"/>
                </a:solidFill>
                <a:effectLst/>
                <a:latin typeface="+mn-lt"/>
                <a:ea typeface="+mn-ea"/>
                <a:cs typeface="+mn-cs"/>
              </a:rPr>
              <a:t>에 대해 한눈에 정리해보겠습니다</a:t>
            </a:r>
            <a:r>
              <a:rPr lang="en-US" altLang="ko-KR" sz="1200" b="0" i="0" kern="1200">
                <a:solidFill>
                  <a:schemeClr val="tx1"/>
                </a:solidFill>
                <a:effectLst/>
                <a:latin typeface="+mn-lt"/>
                <a:ea typeface="+mn-ea"/>
                <a:cs typeface="+mn-cs"/>
              </a:rPr>
              <a:t>. </a:t>
            </a:r>
            <a:r>
              <a:rPr lang="ko-KR" altLang="en-US" sz="1200" b="0" i="0" kern="1200">
                <a:solidFill>
                  <a:schemeClr val="tx1"/>
                </a:solidFill>
                <a:effectLst/>
                <a:latin typeface="+mn-lt"/>
                <a:ea typeface="+mn-ea"/>
                <a:cs typeface="+mn-cs"/>
              </a:rPr>
              <a:t>프로그래밍이나 엔진을 처음 접하시는 분들께 변수란 조금 낯설 수 있지만</a:t>
            </a:r>
            <a:r>
              <a:rPr lang="en-US" altLang="ko-KR" sz="1200" b="0" i="0" kern="1200">
                <a:solidFill>
                  <a:schemeClr val="tx1"/>
                </a:solidFill>
                <a:effectLst/>
                <a:latin typeface="+mn-lt"/>
                <a:ea typeface="+mn-ea"/>
                <a:cs typeface="+mn-cs"/>
              </a:rPr>
              <a:t>, </a:t>
            </a:r>
            <a:r>
              <a:rPr lang="ko-KR" altLang="en-US" sz="1200" b="0" i="0" kern="1200">
                <a:solidFill>
                  <a:schemeClr val="tx1"/>
                </a:solidFill>
                <a:effectLst/>
                <a:latin typeface="+mn-lt"/>
                <a:ea typeface="+mn-ea"/>
                <a:cs typeface="+mn-cs"/>
              </a:rPr>
              <a:t>쉽게 말해 게임 내의 다양한 데이터를 담아두고 필요할 때마다 꺼내 쓰는 </a:t>
            </a:r>
            <a:r>
              <a:rPr lang="en-US" altLang="ko-KR" sz="1200" b="0" i="0" kern="1200">
                <a:solidFill>
                  <a:schemeClr val="tx1"/>
                </a:solidFill>
                <a:effectLst/>
                <a:latin typeface="+mn-lt"/>
                <a:ea typeface="+mn-ea"/>
                <a:cs typeface="+mn-cs"/>
              </a:rPr>
              <a:t>'</a:t>
            </a:r>
            <a:r>
              <a:rPr lang="ko-KR" altLang="en-US" sz="1200" b="0" i="0" kern="1200">
                <a:solidFill>
                  <a:schemeClr val="tx1"/>
                </a:solidFill>
                <a:effectLst/>
                <a:latin typeface="+mn-lt"/>
                <a:ea typeface="+mn-ea"/>
                <a:cs typeface="+mn-cs"/>
              </a:rPr>
              <a:t>상자</a:t>
            </a:r>
            <a:r>
              <a:rPr lang="en-US" altLang="ko-KR" sz="1200" b="0" i="0" kern="1200">
                <a:solidFill>
                  <a:schemeClr val="tx1"/>
                </a:solidFill>
                <a:effectLst/>
                <a:latin typeface="+mn-lt"/>
                <a:ea typeface="+mn-ea"/>
                <a:cs typeface="+mn-cs"/>
              </a:rPr>
              <a:t>' </a:t>
            </a:r>
            <a:r>
              <a:rPr lang="ko-KR" altLang="en-US" sz="1200" b="0" i="0" kern="1200">
                <a:solidFill>
                  <a:schemeClr val="tx1"/>
                </a:solidFill>
                <a:effectLst/>
                <a:latin typeface="+mn-lt"/>
                <a:ea typeface="+mn-ea"/>
                <a:cs typeface="+mn-cs"/>
              </a:rPr>
              <a:t>또는 </a:t>
            </a:r>
            <a:r>
              <a:rPr lang="en-US" altLang="ko-KR" sz="1200" b="0" i="0" kern="1200">
                <a:solidFill>
                  <a:schemeClr val="tx1"/>
                </a:solidFill>
                <a:effectLst/>
                <a:latin typeface="+mn-lt"/>
                <a:ea typeface="+mn-ea"/>
                <a:cs typeface="+mn-cs"/>
              </a:rPr>
              <a:t>'</a:t>
            </a:r>
            <a:r>
              <a:rPr lang="ko-KR" altLang="en-US" sz="1200" b="0" i="0" kern="1200">
                <a:solidFill>
                  <a:schemeClr val="tx1"/>
                </a:solidFill>
                <a:effectLst/>
                <a:latin typeface="+mn-lt"/>
                <a:ea typeface="+mn-ea"/>
                <a:cs typeface="+mn-cs"/>
              </a:rPr>
              <a:t>기억 공간</a:t>
            </a:r>
            <a:r>
              <a:rPr lang="en-US" altLang="ko-KR" sz="1200" b="0" i="0" kern="1200">
                <a:solidFill>
                  <a:schemeClr val="tx1"/>
                </a:solidFill>
                <a:effectLst/>
                <a:latin typeface="+mn-lt"/>
                <a:ea typeface="+mn-ea"/>
                <a:cs typeface="+mn-cs"/>
              </a:rPr>
              <a:t>'</a:t>
            </a:r>
            <a:r>
              <a:rPr lang="ko-KR" altLang="en-US" sz="1200" b="0" i="0" kern="1200">
                <a:solidFill>
                  <a:schemeClr val="tx1"/>
                </a:solidFill>
                <a:effectLst/>
                <a:latin typeface="+mn-lt"/>
                <a:ea typeface="+mn-ea"/>
                <a:cs typeface="+mn-cs"/>
              </a:rPr>
              <a:t>이라고 이해하시면 됩니다</a:t>
            </a:r>
            <a:r>
              <a:rPr lang="en-US" altLang="ko-KR" sz="1200" b="0" i="0" kern="1200">
                <a:solidFill>
                  <a:schemeClr val="tx1"/>
                </a:solidFill>
                <a:effectLst/>
                <a:latin typeface="+mn-lt"/>
                <a:ea typeface="+mn-ea"/>
                <a:cs typeface="+mn-cs"/>
              </a:rPr>
              <a:t>. </a:t>
            </a:r>
            <a:r>
              <a:rPr lang="ko-KR" altLang="en-US" sz="1200" b="0" i="0" kern="1200">
                <a:solidFill>
                  <a:schemeClr val="tx1"/>
                </a:solidFill>
                <a:effectLst/>
                <a:latin typeface="+mn-lt"/>
                <a:ea typeface="+mn-ea"/>
                <a:cs typeface="+mn-cs"/>
              </a:rPr>
              <a:t>블루프린트의 가장 큰 장점 중 하나는 이러한 변수들을 핀의 색상만으로 아주 직관적으로 구분할 수 있다는 점입니다</a:t>
            </a:r>
            <a:r>
              <a:rPr lang="en-US" altLang="ko-KR" sz="1200" b="0" i="0" kern="1200">
                <a:solidFill>
                  <a:schemeClr val="tx1"/>
                </a:solidFill>
                <a:effectLst/>
                <a:latin typeface="+mn-lt"/>
                <a:ea typeface="+mn-ea"/>
                <a:cs typeface="+mn-cs"/>
              </a:rPr>
              <a:t>. </a:t>
            </a:r>
            <a:r>
              <a:rPr lang="ko-KR" altLang="en-US" sz="1200" b="0" i="0" kern="1200">
                <a:solidFill>
                  <a:schemeClr val="tx1"/>
                </a:solidFill>
                <a:effectLst/>
                <a:latin typeface="+mn-lt"/>
                <a:ea typeface="+mn-ea"/>
                <a:cs typeface="+mn-cs"/>
              </a:rPr>
              <a:t>참과 거짓을 나타내는 빨간색 </a:t>
            </a:r>
            <a:r>
              <a:rPr lang="en-US" altLang="ko-KR" sz="1200" b="0" i="0" kern="1200">
                <a:solidFill>
                  <a:schemeClr val="tx1"/>
                </a:solidFill>
                <a:effectLst/>
                <a:latin typeface="+mn-lt"/>
                <a:ea typeface="+mn-ea"/>
                <a:cs typeface="+mn-cs"/>
              </a:rPr>
              <a:t>Boolean</a:t>
            </a:r>
            <a:r>
              <a:rPr lang="ko-KR" altLang="en-US" sz="1200" b="0" i="0" kern="1200">
                <a:solidFill>
                  <a:schemeClr val="tx1"/>
                </a:solidFill>
                <a:effectLst/>
                <a:latin typeface="+mn-lt"/>
                <a:ea typeface="+mn-ea"/>
                <a:cs typeface="+mn-cs"/>
              </a:rPr>
              <a:t>부터</a:t>
            </a:r>
            <a:r>
              <a:rPr lang="en-US" altLang="ko-KR" sz="1200" b="0" i="0" kern="1200">
                <a:solidFill>
                  <a:schemeClr val="tx1"/>
                </a:solidFill>
                <a:effectLst/>
                <a:latin typeface="+mn-lt"/>
                <a:ea typeface="+mn-ea"/>
                <a:cs typeface="+mn-cs"/>
              </a:rPr>
              <a:t>, </a:t>
            </a:r>
            <a:r>
              <a:rPr lang="ko-KR" altLang="en-US" sz="1200" b="0" i="0" kern="1200">
                <a:solidFill>
                  <a:schemeClr val="tx1"/>
                </a:solidFill>
                <a:effectLst/>
                <a:latin typeface="+mn-lt"/>
                <a:ea typeface="+mn-ea"/>
                <a:cs typeface="+mn-cs"/>
              </a:rPr>
              <a:t>숫자를 담는 청록색 </a:t>
            </a:r>
            <a:r>
              <a:rPr lang="en-US" altLang="ko-KR" sz="1200" b="0" i="0" kern="1200">
                <a:solidFill>
                  <a:schemeClr val="tx1"/>
                </a:solidFill>
                <a:effectLst/>
                <a:latin typeface="+mn-lt"/>
                <a:ea typeface="+mn-ea"/>
                <a:cs typeface="+mn-cs"/>
              </a:rPr>
              <a:t>Integer</a:t>
            </a:r>
            <a:r>
              <a:rPr lang="ko-KR" altLang="en-US" sz="1200" b="0" i="0" kern="1200">
                <a:solidFill>
                  <a:schemeClr val="tx1"/>
                </a:solidFill>
                <a:effectLst/>
                <a:latin typeface="+mn-lt"/>
                <a:ea typeface="+mn-ea"/>
                <a:cs typeface="+mn-cs"/>
              </a:rPr>
              <a:t>나 연두색 </a:t>
            </a:r>
            <a:r>
              <a:rPr lang="en-US" altLang="ko-KR" sz="1200" b="0" i="0" kern="1200">
                <a:solidFill>
                  <a:schemeClr val="tx1"/>
                </a:solidFill>
                <a:effectLst/>
                <a:latin typeface="+mn-lt"/>
                <a:ea typeface="+mn-ea"/>
                <a:cs typeface="+mn-cs"/>
              </a:rPr>
              <a:t>Float, </a:t>
            </a:r>
            <a:r>
              <a:rPr lang="ko-KR" altLang="en-US" sz="1200" b="0" i="0" kern="1200">
                <a:solidFill>
                  <a:schemeClr val="tx1"/>
                </a:solidFill>
                <a:effectLst/>
                <a:latin typeface="+mn-lt"/>
                <a:ea typeface="+mn-ea"/>
                <a:cs typeface="+mn-cs"/>
              </a:rPr>
              <a:t>그리고 </a:t>
            </a:r>
            <a:r>
              <a:rPr lang="en-US" altLang="ko-KR" sz="1200" b="0" i="0" kern="1200">
                <a:solidFill>
                  <a:schemeClr val="tx1"/>
                </a:solidFill>
                <a:effectLst/>
                <a:latin typeface="+mn-lt"/>
                <a:ea typeface="+mn-ea"/>
                <a:cs typeface="+mn-cs"/>
              </a:rPr>
              <a:t>3D </a:t>
            </a:r>
            <a:r>
              <a:rPr lang="ko-KR" altLang="en-US" sz="1200" b="0" i="0" kern="1200">
                <a:solidFill>
                  <a:schemeClr val="tx1"/>
                </a:solidFill>
                <a:effectLst/>
                <a:latin typeface="+mn-lt"/>
                <a:ea typeface="+mn-ea"/>
                <a:cs typeface="+mn-cs"/>
              </a:rPr>
              <a:t>공간 좌표를 담는 노란색 </a:t>
            </a:r>
            <a:r>
              <a:rPr lang="en-US" altLang="ko-KR" sz="1200" b="0" i="0" kern="1200">
                <a:solidFill>
                  <a:schemeClr val="tx1"/>
                </a:solidFill>
                <a:effectLst/>
                <a:latin typeface="+mn-lt"/>
                <a:ea typeface="+mn-ea"/>
                <a:cs typeface="+mn-cs"/>
              </a:rPr>
              <a:t>Vector</a:t>
            </a:r>
            <a:r>
              <a:rPr lang="ko-KR" altLang="en-US" sz="1200" b="0" i="0" kern="1200">
                <a:solidFill>
                  <a:schemeClr val="tx1"/>
                </a:solidFill>
                <a:effectLst/>
                <a:latin typeface="+mn-lt"/>
                <a:ea typeface="+mn-ea"/>
                <a:cs typeface="+mn-cs"/>
              </a:rPr>
              <a:t>까지 그 종류가 명확하게 시각화되어 있습니다</a:t>
            </a:r>
            <a:r>
              <a:rPr lang="en-US" altLang="ko-KR" sz="1200" b="0" i="0" kern="1200">
                <a:solidFill>
                  <a:schemeClr val="tx1"/>
                </a:solidFill>
                <a:effectLst/>
                <a:latin typeface="+mn-lt"/>
                <a:ea typeface="+mn-ea"/>
                <a:cs typeface="+mn-cs"/>
              </a:rPr>
              <a:t>. </a:t>
            </a:r>
            <a:r>
              <a:rPr lang="ko-KR" altLang="en-US" sz="1200" b="0" i="0" kern="1200">
                <a:solidFill>
                  <a:schemeClr val="tx1"/>
                </a:solidFill>
                <a:effectLst/>
                <a:latin typeface="+mn-lt"/>
                <a:ea typeface="+mn-ea"/>
                <a:cs typeface="+mn-cs"/>
              </a:rPr>
              <a:t>또한 데이터를 활용할 때는 </a:t>
            </a:r>
            <a:r>
              <a:rPr lang="en-US" altLang="ko-KR" sz="1200" b="0" i="0" kern="1200">
                <a:solidFill>
                  <a:schemeClr val="tx1"/>
                </a:solidFill>
                <a:effectLst/>
                <a:latin typeface="+mn-lt"/>
                <a:ea typeface="+mn-ea"/>
                <a:cs typeface="+mn-cs"/>
              </a:rPr>
              <a:t>Get </a:t>
            </a:r>
            <a:r>
              <a:rPr lang="ko-KR" altLang="en-US" sz="1200" b="0" i="0" kern="1200">
                <a:solidFill>
                  <a:schemeClr val="tx1"/>
                </a:solidFill>
                <a:effectLst/>
                <a:latin typeface="+mn-lt"/>
                <a:ea typeface="+mn-ea"/>
                <a:cs typeface="+mn-cs"/>
              </a:rPr>
              <a:t>노드를 통해 저장된 값을 안전하게 읽어와 각종 연산에 사용하고</a:t>
            </a:r>
            <a:r>
              <a:rPr lang="en-US" altLang="ko-KR" sz="1200" b="0" i="0" kern="1200">
                <a:solidFill>
                  <a:schemeClr val="tx1"/>
                </a:solidFill>
                <a:effectLst/>
                <a:latin typeface="+mn-lt"/>
                <a:ea typeface="+mn-ea"/>
                <a:cs typeface="+mn-cs"/>
              </a:rPr>
              <a:t>, </a:t>
            </a:r>
            <a:r>
              <a:rPr lang="ko-KR" altLang="en-US" sz="1200" b="0" i="0" kern="1200">
                <a:solidFill>
                  <a:schemeClr val="tx1"/>
                </a:solidFill>
                <a:effectLst/>
                <a:latin typeface="+mn-lt"/>
                <a:ea typeface="+mn-ea"/>
                <a:cs typeface="+mn-cs"/>
              </a:rPr>
              <a:t>게임의 상태가 변했을 때는 </a:t>
            </a:r>
            <a:r>
              <a:rPr lang="en-US" altLang="ko-KR" sz="1200" b="0" i="0" kern="1200">
                <a:solidFill>
                  <a:schemeClr val="tx1"/>
                </a:solidFill>
                <a:effectLst/>
                <a:latin typeface="+mn-lt"/>
                <a:ea typeface="+mn-ea"/>
                <a:cs typeface="+mn-cs"/>
              </a:rPr>
              <a:t>Set </a:t>
            </a:r>
            <a:r>
              <a:rPr lang="ko-KR" altLang="en-US" sz="1200" b="0" i="0" kern="1200">
                <a:solidFill>
                  <a:schemeClr val="tx1"/>
                </a:solidFill>
                <a:effectLst/>
                <a:latin typeface="+mn-lt"/>
                <a:ea typeface="+mn-ea"/>
                <a:cs typeface="+mn-cs"/>
              </a:rPr>
              <a:t>노드를 활용해 새로운 값으로 덮어쓸 수 있습니다</a:t>
            </a:r>
            <a:r>
              <a:rPr lang="en-US" altLang="ko-KR" sz="1200" b="0" i="0" kern="1200">
                <a:solidFill>
                  <a:schemeClr val="tx1"/>
                </a:solidFill>
                <a:effectLst/>
                <a:latin typeface="+mn-lt"/>
                <a:ea typeface="+mn-ea"/>
                <a:cs typeface="+mn-cs"/>
              </a:rPr>
              <a:t>. </a:t>
            </a:r>
            <a:r>
              <a:rPr lang="ko-KR" altLang="en-US" sz="1200" b="0" i="0" kern="1200">
                <a:solidFill>
                  <a:schemeClr val="tx1"/>
                </a:solidFill>
                <a:effectLst/>
                <a:latin typeface="+mn-lt"/>
                <a:ea typeface="+mn-ea"/>
                <a:cs typeface="+mn-cs"/>
              </a:rPr>
              <a:t>더불어 우측 디테일 패널에서 기본값을 설정하거나</a:t>
            </a:r>
            <a:r>
              <a:rPr lang="en-US" altLang="ko-KR" sz="1200" b="0" i="0" kern="1200">
                <a:solidFill>
                  <a:schemeClr val="tx1"/>
                </a:solidFill>
                <a:effectLst/>
                <a:latin typeface="+mn-lt"/>
                <a:ea typeface="+mn-ea"/>
                <a:cs typeface="+mn-cs"/>
              </a:rPr>
              <a:t>, </a:t>
            </a:r>
            <a:r>
              <a:rPr lang="ko-KR" altLang="en-US" sz="1200" b="0" i="0" kern="1200">
                <a:solidFill>
                  <a:schemeClr val="tx1"/>
                </a:solidFill>
                <a:effectLst/>
                <a:latin typeface="+mn-lt"/>
                <a:ea typeface="+mn-ea"/>
                <a:cs typeface="+mn-cs"/>
              </a:rPr>
              <a:t>눈동자 모양 아이콘인 </a:t>
            </a:r>
            <a:r>
              <a:rPr lang="en-US" altLang="ko-KR" sz="1200" b="0" i="0" kern="1200">
                <a:solidFill>
                  <a:schemeClr val="tx1"/>
                </a:solidFill>
                <a:effectLst/>
                <a:latin typeface="+mn-lt"/>
                <a:ea typeface="+mn-ea"/>
                <a:cs typeface="+mn-cs"/>
              </a:rPr>
              <a:t>'</a:t>
            </a:r>
            <a:r>
              <a:rPr lang="ko-KR" altLang="en-US" sz="1200" b="0" i="0" kern="1200">
                <a:solidFill>
                  <a:schemeClr val="tx1"/>
                </a:solidFill>
                <a:effectLst/>
                <a:latin typeface="+mn-lt"/>
                <a:ea typeface="+mn-ea"/>
                <a:cs typeface="+mn-cs"/>
              </a:rPr>
              <a:t>인스턴스 편집가능</a:t>
            </a:r>
            <a:r>
              <a:rPr lang="en-US" altLang="ko-KR" sz="1200" b="0" i="0" kern="1200">
                <a:solidFill>
                  <a:schemeClr val="tx1"/>
                </a:solidFill>
                <a:effectLst/>
                <a:latin typeface="+mn-lt"/>
                <a:ea typeface="+mn-ea"/>
                <a:cs typeface="+mn-cs"/>
              </a:rPr>
              <a:t>' </a:t>
            </a:r>
            <a:r>
              <a:rPr lang="ko-KR" altLang="en-US" sz="1200" b="0" i="0" kern="1200">
                <a:solidFill>
                  <a:schemeClr val="tx1"/>
                </a:solidFill>
                <a:effectLst/>
                <a:latin typeface="+mn-lt"/>
                <a:ea typeface="+mn-ea"/>
                <a:cs typeface="+mn-cs"/>
              </a:rPr>
              <a:t>옵션을 켜면 똑같은 몬스터 설계도를 사용하더라도 맵에 배치된 개체마다 체력이나 이동 속도를 각기 다르게 부여할 수 있습니다</a:t>
            </a:r>
            <a:r>
              <a:rPr lang="en-US" altLang="ko-KR" sz="1200" b="0" i="0" kern="1200">
                <a:solidFill>
                  <a:schemeClr val="tx1"/>
                </a:solidFill>
                <a:effectLst/>
                <a:latin typeface="+mn-lt"/>
                <a:ea typeface="+mn-ea"/>
                <a:cs typeface="+mn-cs"/>
              </a:rPr>
              <a:t>. </a:t>
            </a:r>
            <a:r>
              <a:rPr lang="ko-KR" altLang="en-US" sz="1200" b="0" i="0" kern="1200">
                <a:solidFill>
                  <a:schemeClr val="tx1"/>
                </a:solidFill>
                <a:effectLst/>
                <a:latin typeface="+mn-lt"/>
                <a:ea typeface="+mn-ea"/>
                <a:cs typeface="+mn-cs"/>
              </a:rPr>
              <a:t>이를 통해 개발자는 보다 다채롭고 유연한 게임 로직을 아주 손쉽게 구현하실 수 있습니다</a:t>
            </a:r>
            <a:r>
              <a:rPr lang="en-US" altLang="ko-KR" sz="1200" b="0" i="0" kern="1200">
                <a:solidFill>
                  <a:schemeClr val="tx1"/>
                </a:solidFill>
                <a:effectLst/>
                <a:latin typeface="+mn-lt"/>
                <a:ea typeface="+mn-ea"/>
                <a:cs typeface="+mn-cs"/>
              </a:rPr>
              <a:t>."</a:t>
            </a:r>
          </a:p>
          <a:p>
            <a:br>
              <a:rPr lang="ko-KR" altLang="en-US"/>
            </a:br>
            <a:endParaRPr lang="en-US" altLang="ko-KR"/>
          </a:p>
        </p:txBody>
      </p:sp>
      <p:sp>
        <p:nvSpPr>
          <p:cNvPr id="4" name="슬라이드 번호 개체 틀 3"/>
          <p:cNvSpPr>
            <a:spLocks noGrp="1"/>
          </p:cNvSpPr>
          <p:nvPr>
            <p:ph type="sldNum" sz="quarter" idx="5"/>
          </p:nvPr>
        </p:nvSpPr>
        <p:spPr/>
        <p:txBody>
          <a:bodyPr/>
          <a:lstStyle/>
          <a:p>
            <a:fld id="{AE58B9CC-458F-4497-8737-CAF2F390B8C0}" type="slidenum">
              <a:rPr lang="ko-KR" altLang="en-US" smtClean="0"/>
              <a:t>15</a:t>
            </a:fld>
            <a:endParaRPr lang="ko-KR" altLang="en-US"/>
          </a:p>
        </p:txBody>
      </p:sp>
    </p:spTree>
    <p:extLst>
      <p:ext uri="{BB962C8B-B14F-4D97-AF65-F5344CB8AC3E}">
        <p14:creationId xmlns:p14="http://schemas.microsoft.com/office/powerpoint/2010/main" val="33563859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2차시에서는 게임 월드에서 발생하는 사건을 감지해 처리하는 이벤트 드리븐 프로그래밍 방식을 학습하고, 이를 이용해 플레이어가 트로피에 다가갔을 때 폭파 효과와 사운드가 함께 재생되며 아이템을 획득하는 연출을 직접 구현합니다. 이어서 여러 액터로 구성된 구조물을 팩트 레벨 액터와 레벨 인스턴스로 그룹화해, 넓은 레벨을 빠르고 효율적으로 확장하는 방법을 실습합니다.</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ko-KR" altLang="en-US"/>
              <a:t>객체지향언어에서 </a:t>
            </a:r>
            <a:r>
              <a:t>클래스(Class)는 객체를 만들기 위한 설계도이며, 흔히 붕어빵 틀에 비유됩니다. 붕어빵 틀 하나만 있으면 같은 모양의 붕어빵을 계속 찍어낼 수 있듯이, 하나의 클래스를 만들어 두면 그 클래스를 이용해 원하는 만큼 많은 액터(객체)를 만들어 낼 수 있습니다. </a:t>
            </a:r>
            <a:r>
              <a:rPr lang="ko-KR" altLang="en-US"/>
              <a:t>언리얼 엔진에서 클래스를 만드는 방법 중에 하나는 블루프린트를 이용하는 것이며</a:t>
            </a:r>
            <a:r>
              <a:rPr lang="en-US" altLang="ko-KR"/>
              <a:t>, </a:t>
            </a:r>
            <a:r>
              <a:rPr lang="ko-KR" altLang="en-US"/>
              <a:t>이렇게 만든 클래스를 블루프린트 클래스라고 하며</a:t>
            </a:r>
            <a:r>
              <a:rPr lang="en-US" altLang="ko-KR"/>
              <a:t>, </a:t>
            </a:r>
            <a:r>
              <a:rPr lang="ko-KR" altLang="en-US"/>
              <a:t>그냥 줄여서 블루프린트라고 부르기도 합니다</a:t>
            </a:r>
            <a:r>
              <a:rPr lang="en-US" altLang="ko-KR"/>
              <a:t>.</a:t>
            </a:r>
            <a:br>
              <a:rPr lang="en-US"/>
            </a:br>
            <a:r>
              <a:rPr lang="ko-KR" altLang="en-US"/>
              <a:t>실습을 통해 살펴보겠습니다만</a:t>
            </a:r>
            <a:r>
              <a:rPr lang="en-US" altLang="ko-KR"/>
              <a:t>, </a:t>
            </a:r>
            <a:r>
              <a:t>액터를 레벨에 배치한 뒤 블루프린트 생성 버튼을 눌러 새로운 블루프린트 클래스를 만들고, 그 안에 위아래로 움직이는 로직을 추가하면, 이 블루프린트는 곧 위아래로 움직이는 </a:t>
            </a:r>
            <a:r>
              <a:rPr lang="ko-KR" altLang="en-US"/>
              <a:t>액터의</a:t>
            </a:r>
            <a:r>
              <a:t> 설계도가 됩니다. 이렇게 완성된 클래스는 콘텐츠 브라우저에서 확인할 수 있으며, 이 클래스를 클릭한 채 레벨로 드래그해서 배치하는 행위 자체가 바로 클래스를 이용해 새로운 액터, 즉 객체를 찍어내는 작업입니다. </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이벤트 </a:t>
            </a:r>
            <a:r>
              <a:rPr lang="ko-KR" altLang="en-US"/>
              <a:t>기반</a:t>
            </a:r>
            <a:r>
              <a:t> 프로그래밍(Event-Driven Programming)이란 게임 월드에서 일어나는 모든 사건을 엔진이 계속 관찰하고 있다가, 특정 사건이 발생하면 그 사건과 관련된 액터들에게 즉시 알려주는 방식의 프로그래밍 기법입니다. 예를 들어 플레이어가 트로피에 부딪히면 플레이어와 트로피 사이에 충돌 이벤트가 발생하는데, 엔진은 이를 감지해 플레이어에게는 트로피와 부딪혔다는 정보를, 트로피에게는 플레이어와 충돌했다는 정보를 각각 전달합니다. 이렇게 이벤트를 받은 액터는 자신에게 맞는 처리를 이어서 진행하면 되고, 이 처리를 시작하는 진입점 역할을 하는 것이 바로 이벤트 노드입니다. 이런 방식은 앞서 배운 이벤트 틱과도 같은 맥락으로, 언리얼 엔진은 BeginPlay, Tick 뿐 아니라 충돌, 오버랩, 피격 등 다양한 상황에 대한 이벤트 노드를 폭넓게 제공합니다. 즉 개발자는 매 순간 조건을 검사하는 코드를 직접 작성하는 대신, 원하는 이벤트 노드를 찾아 그에 이어지는 로직만 작성하면 되므로 훨씬 직관적이고 효율적으로 게임 로직을 구성할 수 있습니다.</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액터끼리 충돌했을 때 이를 감지하려면 히트(Hit) 관련 이벤트 노드를 사용합니다. </a:t>
            </a:r>
            <a:r>
              <a:rPr lang="en-US"/>
              <a:t>On </a:t>
            </a:r>
            <a:r>
              <a:rPr lang="en-US" altLang="ko-KR"/>
              <a:t>Component Hit</a:t>
            </a:r>
            <a:r>
              <a:rPr lang="ko-KR" altLang="en-US"/>
              <a:t>라는 이벤트</a:t>
            </a:r>
            <a:r>
              <a:t>는 액터에 포함된 스태틱 메쉬 컴포넌트가 다른 무언가와 부딪혔을 때 자동으로 호출되는 이벤트 노드입니다. 액터</a:t>
            </a:r>
            <a:r>
              <a:rPr lang="ko-KR" altLang="en-US"/>
              <a:t>가</a:t>
            </a:r>
            <a:r>
              <a:t> </a:t>
            </a:r>
            <a:r>
              <a:rPr lang="ko-KR" altLang="en-US"/>
              <a:t>다른 </a:t>
            </a:r>
            <a:r>
              <a:t>무언가와 충돌이 발생하면 이 On Component Hit 노드가 실행되며, 이후에 원하는 처리를 자유롭게 이어서 연결할 수 있습니다. 이처럼 언리얼 엔진은 충돌, 오버랩, 피격 등 상황별로 세분화된 다양한 이벤트 노드를 제공하는데, 어떤 노드를 사용하느냐에 따라 충돌을 감지하는 시점과 전달되는 정보(부딪힌 상대 액터, 충돌 지점 등)가 달라집니다. 상황에 맞는 이벤트 노드를 정확히 선택하는 것이 이벤트 </a:t>
            </a:r>
            <a:r>
              <a:rPr lang="ko-KR" altLang="en-US"/>
              <a:t>기반</a:t>
            </a:r>
            <a:r>
              <a:t> 프로그래밍을 제대로 활용하는 핵심입니다.</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충돌 이벤트가 발생했을 때 아이템을 자연스럽게 사라지게 하려면 액터 스스로 자기 자신을 삭제하는 DestroyActor 함수를 사용합니다. 다만 그냥 사라지기만 하면 다소 밋밋하게 느껴질 수 있으므로, 폭파 효과와 소리 효과를 함께 추가하면 훨씬 완성도 높은 연출을 만들 수 있습니다. 폭파 효과는 SpawnEmitterAtLocation 함수를 이용해 원하는 파티클 이펙트 템플릿을 특정 위치에서 재생하는 방식으로 구현하며, 소리는 PlaySoundAtLocation 함수를 이용해 특정 위치에서 원하는 사운드 에셋을 재생하는 방식으로 구현합니다. 두 함수 모두 효과가 발생할 위치가 필요한데, 이때는 GetActorLocation으로 가져온 트로피의 현재 위치를 입력으로 연결해 주면 됩니다. 정리하면 On Component Hit 이벤트가 발생했을 때, 먼저 폭파 효과를 만들고, 이어서 사운드를 재생한 다음, 마지막으로 액터를 삭제하는 순서로 실행 핀을 연결하면 자연스러운 아이템 획득 연출이 완성됩니다.</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Step 1. 클래스 디폴트를 클릭해 블루프린트 자체의 Mobility 기본값도 Movable로 변경하고 컴파일한다.</a:t>
            </a:r>
          </a:p>
          <a:p>
            <a:r>
              <a:t>Step 2. 완성된 BP_GoldTrophy 클래스를 콘텐츠 브라우저에서 드래그해 레벨에 추가로 배치해 본다.</a:t>
            </a:r>
          </a:p>
          <a:p>
            <a:r>
              <a:t>Step 3. Sin 값에 곱했던 50이라는 숫자를 클릭한 채 드래그해 Promote to Variable을 선택한다.</a:t>
            </a:r>
          </a:p>
          <a:p>
            <a:r>
              <a:t>Step 4. 자동으로 만들어진 변수 이름을 Amplitude(진폭)로 바꾸고 컴파일한다.</a:t>
            </a:r>
          </a:p>
          <a:p>
            <a:r>
              <a:t>Step 5. 변수 이름 옆의 눈 모양 아이콘을 클릭해 Instance Editable(인스턴스 에디터블)로 설정한다.</a:t>
            </a:r>
          </a:p>
          <a:p>
            <a:r>
              <a:t>Step 6. 저장 후 레벨로 돌아가 배치된 트로피를 선택하고 디테일 패널에서 Amplitude 값을 확인한다.</a:t>
            </a:r>
          </a:p>
          <a:p>
            <a:r>
              <a:t>Step 7. 트로피마다 Amplitude 값을 10, 50, 100 등으로 다르게 입력해 서로 다른 진폭을 만든다.</a:t>
            </a:r>
          </a:p>
          <a:p>
            <a:r>
              <a:t>Step 8. Multiply 노드에서 마우스 오른쪽 버튼을 눌러 Add Pin으로 입력 핀을 하나 추가하고 값을 1로 둔다.</a:t>
            </a:r>
          </a:p>
          <a:p>
            <a:r>
              <a:t>Step 9. 이 핀 값을 드래그해 Promote to Variable을 선택하고 이름을 Frequency(주파수)로 바꾼다.</a:t>
            </a:r>
          </a:p>
          <a:p>
            <a:r>
              <a:t>Step 10. Frequency 변수도 눈 아이콘을 눌러 Instance Editable로 설정하고 컴파일, 저장한다.</a:t>
            </a:r>
          </a:p>
          <a:p>
            <a:r>
              <a:t>Step 11. 레벨에서 트로피마다 Frequency 값을 1, 5, 10 등으로 다르게 입력한다.</a:t>
            </a:r>
          </a:p>
          <a:p>
            <a:r>
              <a:t>Step 12. 플레이해서 각 트로피가 서로 다른 진폭과 속도로 출렁이는지 확인한다.</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Step 1. BP_GoldTrophy 블루프린트로 이동한다.</a:t>
            </a:r>
          </a:p>
          <a:p>
            <a:r>
              <a:t>Step 2. 컴포넌트 패널에서 Static Mesh Component를 선택한다.</a:t>
            </a:r>
          </a:p>
          <a:p>
            <a:r>
              <a:t>Step 3. 컴포넌트 위에 마우스를 올려 Add Event 항목에서 On Component Hit를 찾아 클릭한다.</a:t>
            </a:r>
          </a:p>
          <a:p>
            <a:r>
              <a:t>Step 4. 이벤트 그래프에 On Component Hit 노드가 추가된 것을 확인한다.</a:t>
            </a:r>
          </a:p>
          <a:p>
            <a:r>
              <a:t>Step 5. 빈 공간에서 마우스 오른쪽 버튼을 눌러 DestroyActor를 검색해 추가한다.</a:t>
            </a:r>
          </a:p>
          <a:p>
            <a:r>
              <a:t>Step 6. On Component Hit의 실행 핀을 DestroyActor의 실행 핀에 연결하고 플레이해 트로피가 사라지는지 확인한다.</a:t>
            </a:r>
          </a:p>
          <a:p>
            <a:r>
              <a:t>Step 7. 빈 공간에서 SpawnEmitterAtLocation을 검색해 추가한다.</a:t>
            </a:r>
          </a:p>
          <a:p>
            <a:r>
              <a:t>Step 8. 이펙트 템플릿 목록에서 폭파(Explosion) 관련 템플릿을 선택한다.</a:t>
            </a:r>
          </a:p>
          <a:p>
            <a:r>
              <a:t>Step 9. GetActorLocation 노드를 추가해 SpawnEmitterAtLocation의 Location 입력에 연결한다.</a:t>
            </a:r>
          </a:p>
          <a:p>
            <a:r>
              <a:t>Step 10. On Component Hit의 실행 핀을 SpawnEmitterAtLocation의 실행 핀에 연결한다.</a:t>
            </a:r>
          </a:p>
          <a:p>
            <a:r>
              <a:t>Step 11. PlaySoundAtLocation을 검색해 추가하고, 폭발 관련 사운드 에셋을 선택한다.</a:t>
            </a:r>
          </a:p>
          <a:p>
            <a:r>
              <a:t>Step 12. GetActorLocation의 결과를 PlaySoundAtLocation의 Location 입력에 연결한다.</a:t>
            </a:r>
          </a:p>
          <a:p>
            <a:r>
              <a:t>Step 13. SpawnEmitterAtLocation의 실행 핀을 PlaySoundAtLocation의 실행 핀에 연결한다.</a:t>
            </a:r>
          </a:p>
          <a:p>
            <a:r>
              <a:t>Step 14. PlaySoundAtLocation의 실행 핀을 DestroyActor의 실행 핀에 연결한다.</a:t>
            </a:r>
          </a:p>
          <a:p>
            <a:r>
              <a:t>Step 15. 컴파일, 저장 후 플레이해서 폭파 효과와 소리가 함께 나며 트로피가 사라지는지 확인한다.</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a:xfrm>
            <a:off x="55202" y="104895"/>
            <a:ext cx="8981294" cy="414343"/>
          </a:xfrm>
          <a:prstGeom prst="rect">
            <a:avLst/>
          </a:prstGeom>
        </p:spPr>
        <p:txBody>
          <a:bodyPr/>
          <a:lstStyle>
            <a:lvl1pPr>
              <a:defRPr sz="2000" b="1" i="0">
                <a:solidFill>
                  <a:schemeClr val="tx1">
                    <a:lumMod val="75000"/>
                    <a:lumOff val="25000"/>
                  </a:schemeClr>
                </a:solidFill>
                <a:latin typeface="나눔스퀘어 ExtraBold" panose="020B0600000101010101" pitchFamily="50" charset="-127"/>
                <a:ea typeface="나눔스퀘어 ExtraBold" panose="020B0600000101010101" pitchFamily="50" charset="-127"/>
              </a:defRPr>
            </a:lvl1pPr>
          </a:lstStyle>
          <a:p>
            <a:r>
              <a:rPr lang="ko-KR" altLang="en-US" dirty="0"/>
              <a:t>마스터 제목 스타일 편집</a:t>
            </a:r>
          </a:p>
        </p:txBody>
      </p:sp>
      <p:sp>
        <p:nvSpPr>
          <p:cNvPr id="3" name="내용 개체 틀 2"/>
          <p:cNvSpPr>
            <a:spLocks noGrp="1"/>
          </p:cNvSpPr>
          <p:nvPr>
            <p:ph idx="1" hasCustomPrompt="1"/>
          </p:nvPr>
        </p:nvSpPr>
        <p:spPr>
          <a:xfrm>
            <a:off x="55202" y="618982"/>
            <a:ext cx="8981294" cy="4275028"/>
          </a:xfrm>
          <a:prstGeom prst="rect">
            <a:avLst/>
          </a:prstGeom>
        </p:spPr>
        <p:txBody>
          <a:bodyPr/>
          <a:lstStyle>
            <a:lvl1pPr marL="124617" indent="-124617">
              <a:lnSpc>
                <a:spcPct val="100000"/>
              </a:lnSpc>
              <a:spcBef>
                <a:spcPts val="554"/>
              </a:spcBef>
              <a:buClr>
                <a:srgbClr val="048ED3"/>
              </a:buClr>
              <a:buSzPct val="100000"/>
              <a:buFont typeface="Wingdings" panose="05000000000000000000" pitchFamily="2" charset="2"/>
              <a:buChar char="§"/>
              <a:defRPr sz="1600">
                <a:solidFill>
                  <a:schemeClr val="tx1">
                    <a:lumMod val="75000"/>
                    <a:lumOff val="25000"/>
                  </a:schemeClr>
                </a:solidFill>
                <a:latin typeface="나눔스퀘어 ExtraBold" panose="020B0600000101010101" pitchFamily="50" charset="-127"/>
                <a:ea typeface="나눔스퀘어 ExtraBold" panose="020B0600000101010101" pitchFamily="50" charset="-127"/>
              </a:defRPr>
            </a:lvl1pPr>
            <a:lvl2pPr marL="249235" indent="-124617">
              <a:lnSpc>
                <a:spcPct val="100000"/>
              </a:lnSpc>
              <a:spcBef>
                <a:spcPts val="554"/>
              </a:spcBef>
              <a:buClr>
                <a:srgbClr val="048ED3"/>
              </a:buClr>
              <a:buFont typeface="Wingdings" panose="05000000000000000000" pitchFamily="2" charset="2"/>
              <a:buChar char="§"/>
              <a:defRPr sz="1400">
                <a:solidFill>
                  <a:schemeClr val="tx1">
                    <a:lumMod val="75000"/>
                    <a:lumOff val="25000"/>
                  </a:schemeClr>
                </a:solidFill>
                <a:latin typeface="나눔스퀘어 ExtraBold" panose="020B0600000101010101" pitchFamily="50" charset="-127"/>
                <a:ea typeface="나눔스퀘어 ExtraBold" panose="020B0600000101010101" pitchFamily="50" charset="-127"/>
              </a:defRPr>
            </a:lvl2pPr>
            <a:lvl3pPr marL="498469" indent="-124617">
              <a:lnSpc>
                <a:spcPct val="100000"/>
              </a:lnSpc>
              <a:spcBef>
                <a:spcPts val="554"/>
              </a:spcBef>
              <a:buClr>
                <a:srgbClr val="048ED3"/>
              </a:buClr>
              <a:buFont typeface="Wingdings" panose="05000000000000000000" pitchFamily="2" charset="2"/>
              <a:buChar char="§"/>
              <a:defRPr sz="1400">
                <a:solidFill>
                  <a:schemeClr val="tx1">
                    <a:lumMod val="75000"/>
                    <a:lumOff val="25000"/>
                  </a:schemeClr>
                </a:solidFill>
                <a:latin typeface="나눔스퀘어 ExtraBold" panose="020B0600000101010101" pitchFamily="50" charset="-127"/>
                <a:ea typeface="나눔스퀘어 ExtraBold" panose="020B0600000101010101" pitchFamily="50" charset="-127"/>
              </a:defRPr>
            </a:lvl3pPr>
            <a:lvl4pPr marL="747704" indent="-124617">
              <a:lnSpc>
                <a:spcPct val="100000"/>
              </a:lnSpc>
              <a:spcBef>
                <a:spcPts val="554"/>
              </a:spcBef>
              <a:buClr>
                <a:srgbClr val="048ED3"/>
              </a:buClr>
              <a:buFont typeface="Wingdings" panose="05000000000000000000" pitchFamily="2" charset="2"/>
              <a:buChar char="§"/>
              <a:defRPr sz="1400">
                <a:solidFill>
                  <a:schemeClr val="tx1">
                    <a:lumMod val="75000"/>
                    <a:lumOff val="25000"/>
                  </a:schemeClr>
                </a:solidFill>
                <a:latin typeface="나눔스퀘어 ExtraBold" panose="020B0600000101010101" pitchFamily="50" charset="-127"/>
                <a:ea typeface="나눔스퀘어 ExtraBold" panose="020B0600000101010101" pitchFamily="50" charset="-127"/>
              </a:defRPr>
            </a:lvl4pPr>
            <a:lvl5pPr marL="996938" indent="-124617">
              <a:lnSpc>
                <a:spcPct val="100000"/>
              </a:lnSpc>
              <a:spcBef>
                <a:spcPts val="554"/>
              </a:spcBef>
              <a:buClr>
                <a:srgbClr val="048ED3"/>
              </a:buClr>
              <a:buFont typeface="Wingdings" panose="05000000000000000000" pitchFamily="2" charset="2"/>
              <a:buChar char="§"/>
              <a:defRPr sz="1400">
                <a:solidFill>
                  <a:schemeClr val="tx1">
                    <a:lumMod val="75000"/>
                    <a:lumOff val="25000"/>
                  </a:schemeClr>
                </a:solidFill>
                <a:latin typeface="나눔스퀘어 ExtraBold" panose="020B0600000101010101" pitchFamily="50" charset="-127"/>
                <a:ea typeface="나눔스퀘어 ExtraBold" panose="020B0600000101010101" pitchFamily="50" charset="-127"/>
              </a:defRPr>
            </a:lvl5pPr>
          </a:lstStyle>
          <a:p>
            <a:pPr lvl="0"/>
            <a:r>
              <a:rPr lang="ko-KR" altLang="en-US" dirty="0"/>
              <a:t> 마스터 텍스트 스타일을 편집합니다</a:t>
            </a:r>
            <a:r>
              <a:rPr lang="en-US" altLang="ko-KR" dirty="0"/>
              <a:t>. </a:t>
            </a:r>
            <a:endParaRPr lang="ko-KR" altLang="en-US" dirty="0"/>
          </a:p>
          <a:p>
            <a:pPr lvl="1"/>
            <a:r>
              <a:rPr lang="ko-KR" altLang="en-US" dirty="0"/>
              <a:t> 둘째 수준</a:t>
            </a:r>
          </a:p>
          <a:p>
            <a:pPr lvl="2"/>
            <a:r>
              <a:rPr lang="ko-KR" altLang="en-US" dirty="0"/>
              <a:t> 셋째 수준</a:t>
            </a:r>
          </a:p>
          <a:p>
            <a:pPr lvl="3"/>
            <a:r>
              <a:rPr lang="ko-KR" altLang="en-US" dirty="0"/>
              <a:t> 넷째 수준</a:t>
            </a:r>
          </a:p>
          <a:p>
            <a:pPr lvl="4"/>
            <a:r>
              <a:rPr lang="ko-KR" altLang="en-US" dirty="0"/>
              <a:t> 다섯째 수준</a:t>
            </a:r>
          </a:p>
        </p:txBody>
      </p:sp>
      <p:cxnSp>
        <p:nvCxnSpPr>
          <p:cNvPr id="4" name="Straight Connector 11"/>
          <p:cNvCxnSpPr>
            <a:cxnSpLocks/>
          </p:cNvCxnSpPr>
          <p:nvPr userDrawn="1"/>
        </p:nvCxnSpPr>
        <p:spPr>
          <a:xfrm>
            <a:off x="33418" y="568479"/>
            <a:ext cx="9003078" cy="0"/>
          </a:xfrm>
          <a:prstGeom prst="line">
            <a:avLst/>
          </a:prstGeom>
          <a:ln w="25400">
            <a:solidFill>
              <a:srgbClr val="048ED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289129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제목만">
    <p:spTree>
      <p:nvGrpSpPr>
        <p:cNvPr id="1" name=""/>
        <p:cNvGrpSpPr/>
        <p:nvPr/>
      </p:nvGrpSpPr>
      <p:grpSpPr>
        <a:xfrm>
          <a:off x="0" y="0"/>
          <a:ext cx="0" cy="0"/>
          <a:chOff x="0" y="0"/>
          <a:chExt cx="0" cy="0"/>
        </a:xfrm>
      </p:grpSpPr>
      <p:sp>
        <p:nvSpPr>
          <p:cNvPr id="4" name="제목 1">
            <a:extLst>
              <a:ext uri="{FF2B5EF4-FFF2-40B4-BE49-F238E27FC236}">
                <a16:creationId xmlns:a16="http://schemas.microsoft.com/office/drawing/2014/main" id="{9E58036D-FB22-427F-91AE-E1045B46E0A6}"/>
              </a:ext>
            </a:extLst>
          </p:cNvPr>
          <p:cNvSpPr>
            <a:spLocks noGrp="1"/>
          </p:cNvSpPr>
          <p:nvPr>
            <p:ph type="title"/>
          </p:nvPr>
        </p:nvSpPr>
        <p:spPr>
          <a:xfrm>
            <a:off x="55202" y="104895"/>
            <a:ext cx="8981294" cy="414343"/>
          </a:xfrm>
          <a:prstGeom prst="rect">
            <a:avLst/>
          </a:prstGeom>
        </p:spPr>
        <p:txBody>
          <a:bodyPr/>
          <a:lstStyle>
            <a:lvl1pPr>
              <a:defRPr sz="2000" b="1" i="0">
                <a:solidFill>
                  <a:schemeClr val="tx1">
                    <a:lumMod val="75000"/>
                    <a:lumOff val="25000"/>
                  </a:schemeClr>
                </a:solidFill>
                <a:latin typeface="나눔스퀘어 ExtraBold" panose="020B0600000101010101" pitchFamily="50" charset="-127"/>
                <a:ea typeface="나눔스퀘어 ExtraBold" panose="020B0600000101010101" pitchFamily="50" charset="-127"/>
              </a:defRPr>
            </a:lvl1pPr>
          </a:lstStyle>
          <a:p>
            <a:r>
              <a:rPr lang="ko-KR" altLang="en-US" dirty="0"/>
              <a:t>마스터 제목 스타일 편집</a:t>
            </a:r>
          </a:p>
        </p:txBody>
      </p:sp>
      <p:cxnSp>
        <p:nvCxnSpPr>
          <p:cNvPr id="5" name="Straight Connector 11">
            <a:extLst>
              <a:ext uri="{FF2B5EF4-FFF2-40B4-BE49-F238E27FC236}">
                <a16:creationId xmlns:a16="http://schemas.microsoft.com/office/drawing/2014/main" id="{737BA576-93AE-49D6-AEB2-07214FE6BB36}"/>
              </a:ext>
            </a:extLst>
          </p:cNvPr>
          <p:cNvCxnSpPr>
            <a:cxnSpLocks/>
          </p:cNvCxnSpPr>
          <p:nvPr userDrawn="1"/>
        </p:nvCxnSpPr>
        <p:spPr>
          <a:xfrm>
            <a:off x="33418" y="568479"/>
            <a:ext cx="9003078" cy="0"/>
          </a:xfrm>
          <a:prstGeom prst="line">
            <a:avLst/>
          </a:prstGeom>
          <a:ln w="25400">
            <a:solidFill>
              <a:srgbClr val="048ED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49207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Tree>
    <p:extLst>
      <p:ext uri="{BB962C8B-B14F-4D97-AF65-F5344CB8AC3E}">
        <p14:creationId xmlns:p14="http://schemas.microsoft.com/office/powerpoint/2010/main" val="14214840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Box 21"/>
          <p:cNvSpPr txBox="1">
            <a:spLocks noChangeArrowheads="1"/>
          </p:cNvSpPr>
          <p:nvPr userDrawn="1"/>
        </p:nvSpPr>
        <p:spPr bwMode="auto">
          <a:xfrm>
            <a:off x="8" y="4937427"/>
            <a:ext cx="9128841" cy="184666"/>
          </a:xfrm>
          <a:prstGeom prst="rect">
            <a:avLst/>
          </a:prstGeom>
          <a:noFill/>
          <a:ln w="9525" algn="ctr">
            <a:noFill/>
            <a:miter lim="800000"/>
            <a:headEnd/>
            <a:tailEnd/>
          </a:ln>
          <a:effectLst/>
        </p:spPr>
        <p:txBody>
          <a:bodyPr wrap="square">
            <a:spAutoFit/>
          </a:bodyPr>
          <a:lstStyle/>
          <a:p>
            <a:pPr algn="l">
              <a:defRPr/>
            </a:pPr>
            <a:r>
              <a:rPr lang="ko-KR" altLang="en-US" sz="600" b="0" baseline="0" dirty="0">
                <a:solidFill>
                  <a:schemeClr val="bg1">
                    <a:lumMod val="50000"/>
                  </a:schemeClr>
                </a:solidFill>
                <a:latin typeface="+mj-ea"/>
                <a:ea typeface="+mj-ea"/>
              </a:rPr>
              <a:t>게임 엔진 </a:t>
            </a:r>
            <a:r>
              <a:rPr lang="en-US" altLang="ko-KR" sz="600" b="0" baseline="0" dirty="0">
                <a:solidFill>
                  <a:schemeClr val="bg1">
                    <a:lumMod val="50000"/>
                  </a:schemeClr>
                </a:solidFill>
                <a:latin typeface="+mj-ea"/>
                <a:ea typeface="+mj-ea"/>
              </a:rPr>
              <a:t>(1)</a:t>
            </a:r>
            <a:r>
              <a:rPr lang="ko-KR" altLang="en-US" sz="600" b="0" baseline="0" dirty="0">
                <a:solidFill>
                  <a:schemeClr val="bg1">
                    <a:lumMod val="50000"/>
                  </a:schemeClr>
                </a:solidFill>
                <a:latin typeface="+mj-ea"/>
                <a:ea typeface="+mj-ea"/>
              </a:rPr>
              <a:t>                                                                                                                                                                                                                                                                                                                                                                                                                         한국공학대학교 이대현</a:t>
            </a:r>
            <a:endParaRPr lang="ko-KR" altLang="en-US" sz="600" b="0" dirty="0">
              <a:solidFill>
                <a:schemeClr val="bg1">
                  <a:lumMod val="50000"/>
                </a:schemeClr>
              </a:solidFill>
              <a:latin typeface="+mj-ea"/>
              <a:ea typeface="+mj-ea"/>
            </a:endParaRPr>
          </a:p>
        </p:txBody>
      </p:sp>
    </p:spTree>
    <p:extLst>
      <p:ext uri="{BB962C8B-B14F-4D97-AF65-F5344CB8AC3E}">
        <p14:creationId xmlns:p14="http://schemas.microsoft.com/office/powerpoint/2010/main" val="2246404918"/>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Lst>
  <p:txStyles>
    <p:titleStyle>
      <a:lvl1pPr algn="l" rtl="0" eaLnBrk="0" fontAlgn="base" latinLnBrk="1" hangingPunct="0">
        <a:spcBef>
          <a:spcPct val="0"/>
        </a:spcBef>
        <a:spcAft>
          <a:spcPct val="0"/>
        </a:spcAft>
        <a:defRPr kumimoji="1" sz="1523" b="1">
          <a:solidFill>
            <a:schemeClr val="tx1"/>
          </a:solidFill>
          <a:latin typeface="나눔스퀘어" panose="020B0600000101010101" pitchFamily="50" charset="-127"/>
          <a:ea typeface="나눔스퀘어" panose="020B0600000101010101" pitchFamily="50" charset="-127"/>
          <a:cs typeface="+mj-cs"/>
        </a:defRPr>
      </a:lvl1pPr>
      <a:lvl2pPr algn="l" rtl="0" eaLnBrk="0" fontAlgn="base" latinLnBrk="1" hangingPunct="0">
        <a:spcBef>
          <a:spcPct val="0"/>
        </a:spcBef>
        <a:spcAft>
          <a:spcPct val="0"/>
        </a:spcAft>
        <a:defRPr kumimoji="1" sz="1523" b="1">
          <a:solidFill>
            <a:schemeClr val="tx1"/>
          </a:solidFill>
          <a:latin typeface="나눔고딕" pitchFamily="50" charset="-127"/>
          <a:ea typeface="나눔고딕" pitchFamily="50" charset="-127"/>
        </a:defRPr>
      </a:lvl2pPr>
      <a:lvl3pPr algn="l" rtl="0" eaLnBrk="0" fontAlgn="base" latinLnBrk="1" hangingPunct="0">
        <a:spcBef>
          <a:spcPct val="0"/>
        </a:spcBef>
        <a:spcAft>
          <a:spcPct val="0"/>
        </a:spcAft>
        <a:defRPr kumimoji="1" sz="1523" b="1">
          <a:solidFill>
            <a:schemeClr val="tx1"/>
          </a:solidFill>
          <a:latin typeface="나눔고딕" pitchFamily="50" charset="-127"/>
          <a:ea typeface="나눔고딕" pitchFamily="50" charset="-127"/>
        </a:defRPr>
      </a:lvl3pPr>
      <a:lvl4pPr algn="l" rtl="0" eaLnBrk="0" fontAlgn="base" latinLnBrk="1" hangingPunct="0">
        <a:spcBef>
          <a:spcPct val="0"/>
        </a:spcBef>
        <a:spcAft>
          <a:spcPct val="0"/>
        </a:spcAft>
        <a:defRPr kumimoji="1" sz="1523" b="1">
          <a:solidFill>
            <a:schemeClr val="tx1"/>
          </a:solidFill>
          <a:latin typeface="나눔고딕" pitchFamily="50" charset="-127"/>
          <a:ea typeface="나눔고딕" pitchFamily="50" charset="-127"/>
        </a:defRPr>
      </a:lvl4pPr>
      <a:lvl5pPr algn="l" rtl="0" eaLnBrk="0" fontAlgn="base" latinLnBrk="1" hangingPunct="0">
        <a:spcBef>
          <a:spcPct val="0"/>
        </a:spcBef>
        <a:spcAft>
          <a:spcPct val="0"/>
        </a:spcAft>
        <a:defRPr kumimoji="1" sz="1523" b="1">
          <a:solidFill>
            <a:schemeClr val="tx1"/>
          </a:solidFill>
          <a:latin typeface="나눔고딕" pitchFamily="50" charset="-127"/>
          <a:ea typeface="나눔고딕" pitchFamily="50" charset="-127"/>
        </a:defRPr>
      </a:lvl5pPr>
      <a:lvl6pPr marL="316528" algn="l" rtl="0" fontAlgn="base" latinLnBrk="1">
        <a:spcBef>
          <a:spcPct val="0"/>
        </a:spcBef>
        <a:spcAft>
          <a:spcPct val="0"/>
        </a:spcAft>
        <a:defRPr kumimoji="1" sz="1523" b="1">
          <a:solidFill>
            <a:schemeClr val="tx1"/>
          </a:solidFill>
          <a:latin typeface="나눔고딕" pitchFamily="50" charset="-127"/>
          <a:ea typeface="나눔고딕" pitchFamily="50" charset="-127"/>
        </a:defRPr>
      </a:lvl6pPr>
      <a:lvl7pPr marL="633056" algn="l" rtl="0" fontAlgn="base" latinLnBrk="1">
        <a:spcBef>
          <a:spcPct val="0"/>
        </a:spcBef>
        <a:spcAft>
          <a:spcPct val="0"/>
        </a:spcAft>
        <a:defRPr kumimoji="1" sz="1523" b="1">
          <a:solidFill>
            <a:schemeClr val="tx1"/>
          </a:solidFill>
          <a:latin typeface="나눔고딕" pitchFamily="50" charset="-127"/>
          <a:ea typeface="나눔고딕" pitchFamily="50" charset="-127"/>
        </a:defRPr>
      </a:lvl7pPr>
      <a:lvl8pPr marL="949583" algn="l" rtl="0" fontAlgn="base" latinLnBrk="1">
        <a:spcBef>
          <a:spcPct val="0"/>
        </a:spcBef>
        <a:spcAft>
          <a:spcPct val="0"/>
        </a:spcAft>
        <a:defRPr kumimoji="1" sz="1523" b="1">
          <a:solidFill>
            <a:schemeClr val="tx1"/>
          </a:solidFill>
          <a:latin typeface="나눔고딕" pitchFamily="50" charset="-127"/>
          <a:ea typeface="나눔고딕" pitchFamily="50" charset="-127"/>
        </a:defRPr>
      </a:lvl8pPr>
      <a:lvl9pPr marL="1266110" algn="l" rtl="0" fontAlgn="base" latinLnBrk="1">
        <a:spcBef>
          <a:spcPct val="0"/>
        </a:spcBef>
        <a:spcAft>
          <a:spcPct val="0"/>
        </a:spcAft>
        <a:defRPr kumimoji="1" sz="1523" b="1">
          <a:solidFill>
            <a:schemeClr val="tx1"/>
          </a:solidFill>
          <a:latin typeface="나눔고딕" pitchFamily="50" charset="-127"/>
          <a:ea typeface="나눔고딕" pitchFamily="50" charset="-127"/>
        </a:defRPr>
      </a:lvl9pPr>
    </p:titleStyle>
    <p:bodyStyle>
      <a:lvl1pPr marL="0" indent="124617" algn="l" rtl="0" eaLnBrk="0" fontAlgn="base" latinLnBrk="1" hangingPunct="0">
        <a:spcBef>
          <a:spcPct val="20000"/>
        </a:spcBef>
        <a:spcAft>
          <a:spcPct val="0"/>
        </a:spcAft>
        <a:buClr>
          <a:schemeClr val="bg2"/>
        </a:buClr>
        <a:buSzPct val="75000"/>
        <a:buFont typeface="Wingdings" pitchFamily="2" charset="2"/>
        <a:buChar char="n"/>
        <a:defRPr kumimoji="1" b="1">
          <a:solidFill>
            <a:schemeClr val="tx1"/>
          </a:solidFill>
          <a:latin typeface="+mn-lt"/>
          <a:ea typeface="+mn-ea"/>
          <a:cs typeface="+mn-cs"/>
        </a:defRPr>
      </a:lvl1pPr>
      <a:lvl2pPr marL="249235" indent="-124617" algn="l" rtl="0" eaLnBrk="0" fontAlgn="base" latinLnBrk="1" hangingPunct="0">
        <a:spcBef>
          <a:spcPct val="20000"/>
        </a:spcBef>
        <a:spcAft>
          <a:spcPct val="0"/>
        </a:spcAft>
        <a:buClr>
          <a:schemeClr val="accent2"/>
        </a:buClr>
        <a:buSzPct val="80000"/>
        <a:buFont typeface="Wingdings" pitchFamily="2" charset="2"/>
        <a:buChar char="¨"/>
        <a:defRPr kumimoji="1" sz="1108">
          <a:solidFill>
            <a:schemeClr val="tx1"/>
          </a:solidFill>
          <a:latin typeface="+mn-lt"/>
          <a:ea typeface="+mn-ea"/>
        </a:defRPr>
      </a:lvl2pPr>
      <a:lvl3pPr marL="498469" indent="-124617" algn="l" rtl="0" eaLnBrk="0" fontAlgn="base" latinLnBrk="1" hangingPunct="0">
        <a:spcBef>
          <a:spcPct val="20000"/>
        </a:spcBef>
        <a:spcAft>
          <a:spcPct val="0"/>
        </a:spcAft>
        <a:buClr>
          <a:schemeClr val="bg2"/>
        </a:buClr>
        <a:buSzPct val="65000"/>
        <a:buFont typeface="Wingdings" pitchFamily="2" charset="2"/>
        <a:buChar char="n"/>
        <a:defRPr kumimoji="1" sz="969">
          <a:solidFill>
            <a:schemeClr val="tx1"/>
          </a:solidFill>
          <a:latin typeface="+mn-lt"/>
          <a:ea typeface="+mn-ea"/>
        </a:defRPr>
      </a:lvl3pPr>
      <a:lvl4pPr marL="747704" indent="-124617" algn="l" rtl="0" eaLnBrk="0" fontAlgn="base" latinLnBrk="1" hangingPunct="0">
        <a:spcBef>
          <a:spcPct val="20000"/>
        </a:spcBef>
        <a:spcAft>
          <a:spcPct val="0"/>
        </a:spcAft>
        <a:buClr>
          <a:schemeClr val="accent2"/>
        </a:buClr>
        <a:buSzPct val="70000"/>
        <a:buFont typeface="Wingdings" pitchFamily="2" charset="2"/>
        <a:buChar char="¨"/>
        <a:defRPr kumimoji="1" sz="831">
          <a:solidFill>
            <a:schemeClr val="tx1"/>
          </a:solidFill>
          <a:latin typeface="+mn-lt"/>
          <a:ea typeface="+mn-ea"/>
        </a:defRPr>
      </a:lvl4pPr>
      <a:lvl5pPr marL="996938" indent="-124617" algn="l" rtl="0" eaLnBrk="0" fontAlgn="base" latinLnBrk="1" hangingPunct="0">
        <a:spcBef>
          <a:spcPct val="20000"/>
        </a:spcBef>
        <a:spcAft>
          <a:spcPct val="0"/>
        </a:spcAft>
        <a:buClr>
          <a:schemeClr val="bg2"/>
        </a:buClr>
        <a:buFont typeface="Wingdings" pitchFamily="2" charset="2"/>
        <a:buChar char="§"/>
        <a:defRPr kumimoji="1" sz="831">
          <a:solidFill>
            <a:schemeClr val="tx1"/>
          </a:solidFill>
          <a:latin typeface="+mn-lt"/>
          <a:ea typeface="+mn-ea"/>
        </a:defRPr>
      </a:lvl5pPr>
      <a:lvl6pPr marL="1740901" indent="-158264" algn="l" rtl="0" fontAlgn="base" latinLnBrk="1">
        <a:spcBef>
          <a:spcPct val="20000"/>
        </a:spcBef>
        <a:spcAft>
          <a:spcPct val="0"/>
        </a:spcAft>
        <a:buClr>
          <a:schemeClr val="bg2"/>
        </a:buClr>
        <a:buFont typeface="Wingdings" pitchFamily="2" charset="2"/>
        <a:buChar char="§"/>
        <a:defRPr kumimoji="1" sz="831">
          <a:solidFill>
            <a:schemeClr val="tx1"/>
          </a:solidFill>
          <a:latin typeface="+mn-lt"/>
          <a:ea typeface="+mn-ea"/>
        </a:defRPr>
      </a:lvl6pPr>
      <a:lvl7pPr marL="2057429" indent="-158264" algn="l" rtl="0" fontAlgn="base" latinLnBrk="1">
        <a:spcBef>
          <a:spcPct val="20000"/>
        </a:spcBef>
        <a:spcAft>
          <a:spcPct val="0"/>
        </a:spcAft>
        <a:buClr>
          <a:schemeClr val="bg2"/>
        </a:buClr>
        <a:buFont typeface="Wingdings" pitchFamily="2" charset="2"/>
        <a:buChar char="§"/>
        <a:defRPr kumimoji="1" sz="831">
          <a:solidFill>
            <a:schemeClr val="tx1"/>
          </a:solidFill>
          <a:latin typeface="+mn-lt"/>
          <a:ea typeface="+mn-ea"/>
        </a:defRPr>
      </a:lvl7pPr>
      <a:lvl8pPr marL="2373957" indent="-158264" algn="l" rtl="0" fontAlgn="base" latinLnBrk="1">
        <a:spcBef>
          <a:spcPct val="20000"/>
        </a:spcBef>
        <a:spcAft>
          <a:spcPct val="0"/>
        </a:spcAft>
        <a:buClr>
          <a:schemeClr val="bg2"/>
        </a:buClr>
        <a:buFont typeface="Wingdings" pitchFamily="2" charset="2"/>
        <a:buChar char="§"/>
        <a:defRPr kumimoji="1" sz="831">
          <a:solidFill>
            <a:schemeClr val="tx1"/>
          </a:solidFill>
          <a:latin typeface="+mn-lt"/>
          <a:ea typeface="+mn-ea"/>
        </a:defRPr>
      </a:lvl8pPr>
      <a:lvl9pPr marL="2690485" indent="-158264" algn="l" rtl="0" fontAlgn="base" latinLnBrk="1">
        <a:spcBef>
          <a:spcPct val="20000"/>
        </a:spcBef>
        <a:spcAft>
          <a:spcPct val="0"/>
        </a:spcAft>
        <a:buClr>
          <a:schemeClr val="bg2"/>
        </a:buClr>
        <a:buFont typeface="Wingdings" pitchFamily="2" charset="2"/>
        <a:buChar char="§"/>
        <a:defRPr kumimoji="1" sz="831">
          <a:solidFill>
            <a:schemeClr val="tx1"/>
          </a:solidFill>
          <a:latin typeface="+mn-lt"/>
          <a:ea typeface="+mn-ea"/>
        </a:defRPr>
      </a:lvl9pPr>
    </p:bodyStyle>
    <p:otherStyle>
      <a:defPPr>
        <a:defRPr lang="ko-KR"/>
      </a:defPPr>
      <a:lvl1pPr marL="0" algn="l" defTabSz="633056" rtl="0" eaLnBrk="1" latinLnBrk="1" hangingPunct="1">
        <a:defRPr sz="1247" kern="1200">
          <a:solidFill>
            <a:schemeClr val="tx1"/>
          </a:solidFill>
          <a:latin typeface="+mn-lt"/>
          <a:ea typeface="+mn-ea"/>
          <a:cs typeface="+mn-cs"/>
        </a:defRPr>
      </a:lvl1pPr>
      <a:lvl2pPr marL="316528" algn="l" defTabSz="633056" rtl="0" eaLnBrk="1" latinLnBrk="1" hangingPunct="1">
        <a:defRPr sz="1247" kern="1200">
          <a:solidFill>
            <a:schemeClr val="tx1"/>
          </a:solidFill>
          <a:latin typeface="+mn-lt"/>
          <a:ea typeface="+mn-ea"/>
          <a:cs typeface="+mn-cs"/>
        </a:defRPr>
      </a:lvl2pPr>
      <a:lvl3pPr marL="633056" algn="l" defTabSz="633056" rtl="0" eaLnBrk="1" latinLnBrk="1" hangingPunct="1">
        <a:defRPr sz="1247" kern="1200">
          <a:solidFill>
            <a:schemeClr val="tx1"/>
          </a:solidFill>
          <a:latin typeface="+mn-lt"/>
          <a:ea typeface="+mn-ea"/>
          <a:cs typeface="+mn-cs"/>
        </a:defRPr>
      </a:lvl3pPr>
      <a:lvl4pPr marL="949583" algn="l" defTabSz="633056" rtl="0" eaLnBrk="1" latinLnBrk="1" hangingPunct="1">
        <a:defRPr sz="1247" kern="1200">
          <a:solidFill>
            <a:schemeClr val="tx1"/>
          </a:solidFill>
          <a:latin typeface="+mn-lt"/>
          <a:ea typeface="+mn-ea"/>
          <a:cs typeface="+mn-cs"/>
        </a:defRPr>
      </a:lvl4pPr>
      <a:lvl5pPr marL="1266110" algn="l" defTabSz="633056" rtl="0" eaLnBrk="1" latinLnBrk="1" hangingPunct="1">
        <a:defRPr sz="1247" kern="1200">
          <a:solidFill>
            <a:schemeClr val="tx1"/>
          </a:solidFill>
          <a:latin typeface="+mn-lt"/>
          <a:ea typeface="+mn-ea"/>
          <a:cs typeface="+mn-cs"/>
        </a:defRPr>
      </a:lvl5pPr>
      <a:lvl6pPr marL="1582639" algn="l" defTabSz="633056" rtl="0" eaLnBrk="1" latinLnBrk="1" hangingPunct="1">
        <a:defRPr sz="1247" kern="1200">
          <a:solidFill>
            <a:schemeClr val="tx1"/>
          </a:solidFill>
          <a:latin typeface="+mn-lt"/>
          <a:ea typeface="+mn-ea"/>
          <a:cs typeface="+mn-cs"/>
        </a:defRPr>
      </a:lvl6pPr>
      <a:lvl7pPr marL="1899167" algn="l" defTabSz="633056" rtl="0" eaLnBrk="1" latinLnBrk="1" hangingPunct="1">
        <a:defRPr sz="1247" kern="1200">
          <a:solidFill>
            <a:schemeClr val="tx1"/>
          </a:solidFill>
          <a:latin typeface="+mn-lt"/>
          <a:ea typeface="+mn-ea"/>
          <a:cs typeface="+mn-cs"/>
        </a:defRPr>
      </a:lvl7pPr>
      <a:lvl8pPr marL="2215693" algn="l" defTabSz="633056" rtl="0" eaLnBrk="1" latinLnBrk="1" hangingPunct="1">
        <a:defRPr sz="1247" kern="1200">
          <a:solidFill>
            <a:schemeClr val="tx1"/>
          </a:solidFill>
          <a:latin typeface="+mn-lt"/>
          <a:ea typeface="+mn-ea"/>
          <a:cs typeface="+mn-cs"/>
        </a:defRPr>
      </a:lvl8pPr>
      <a:lvl9pPr marL="2532221" algn="l" defTabSz="633056" rtl="0" eaLnBrk="1" latinLnBrk="1" hangingPunct="1">
        <a:defRPr sz="1247"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0.jpe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BDA2922-079D-4EC0-BCF5-8053049360E1}"/>
              </a:ext>
            </a:extLst>
          </p:cNvPr>
          <p:cNvSpPr>
            <a:spLocks noGrp="1"/>
          </p:cNvSpPr>
          <p:nvPr>
            <p:ph type="title"/>
          </p:nvPr>
        </p:nvSpPr>
        <p:spPr>
          <a:xfrm>
            <a:off x="55202" y="104895"/>
            <a:ext cx="8981294" cy="414343"/>
          </a:xfrm>
        </p:spPr>
        <p:txBody>
          <a:bodyPr wrap="square"/>
          <a:lstStyle/>
          <a:p>
            <a:r>
              <a:rPr lang="ko-KR" altLang="en-US"/>
              <a:t>학습 목표</a:t>
            </a:r>
            <a:endParaRPr lang="ko-KR" altLang="en-US" dirty="0"/>
          </a:p>
        </p:txBody>
      </p:sp>
      <p:sp>
        <p:nvSpPr>
          <p:cNvPr id="3" name="내용 개체 틀 2">
            <a:extLst>
              <a:ext uri="{FF2B5EF4-FFF2-40B4-BE49-F238E27FC236}">
                <a16:creationId xmlns:a16="http://schemas.microsoft.com/office/drawing/2014/main" id="{79B0F421-0FE8-44AE-86B6-151D0625309C}"/>
              </a:ext>
            </a:extLst>
          </p:cNvPr>
          <p:cNvSpPr>
            <a:spLocks noGrp="1"/>
          </p:cNvSpPr>
          <p:nvPr>
            <p:ph idx="1"/>
          </p:nvPr>
        </p:nvSpPr>
        <p:spPr>
          <a:xfrm>
            <a:off x="55202" y="618982"/>
            <a:ext cx="8981294" cy="4275028"/>
          </a:xfrm>
        </p:spPr>
        <p:txBody>
          <a:bodyPr wrap="square"/>
          <a:lstStyle/>
          <a:p>
            <a:r>
              <a:rPr lang="ko-KR" altLang="en-US"/>
              <a:t>블루프린트의 개념과 노드</a:t>
            </a:r>
            <a:r>
              <a:rPr lang="en-US" altLang="ko-KR"/>
              <a:t>·</a:t>
            </a:r>
            <a:r>
              <a:rPr lang="ko-KR" altLang="en-US"/>
              <a:t>핀</a:t>
            </a:r>
            <a:r>
              <a:rPr lang="en-US" altLang="ko-KR"/>
              <a:t>·</a:t>
            </a:r>
            <a:r>
              <a:rPr lang="ko-KR" altLang="en-US"/>
              <a:t>와이어의 구조를 설명할 수 있다</a:t>
            </a:r>
            <a:r>
              <a:rPr lang="en-US" altLang="ko-KR"/>
              <a:t>.</a:t>
            </a:r>
            <a:endParaRPr lang="ko-KR" altLang="en-US" dirty="0"/>
          </a:p>
          <a:p>
            <a:r>
              <a:rPr lang="ko-KR" altLang="en-US"/>
              <a:t>이벤트 틱을 이용해 액터가 움직이는 로직을 구현할 수 있다</a:t>
            </a:r>
            <a:r>
              <a:rPr lang="en-US" altLang="ko-KR"/>
              <a:t>.</a:t>
            </a:r>
          </a:p>
          <a:p>
            <a:r>
              <a:rPr lang="ko-KR" altLang="en-US"/>
              <a:t>이벤트 기반 프로그래밍으로 충돌을 처리하고</a:t>
            </a:r>
            <a:r>
              <a:rPr lang="en-US" altLang="ko-KR"/>
              <a:t>, </a:t>
            </a:r>
            <a:r>
              <a:rPr lang="ko-KR" altLang="en-US"/>
              <a:t>팩트 레벨 액터</a:t>
            </a:r>
            <a:r>
              <a:rPr lang="en-US" altLang="ko-KR"/>
              <a:t>·</a:t>
            </a:r>
            <a:r>
              <a:rPr lang="ko-KR" altLang="en-US"/>
              <a:t>레벨 인스턴스로 레벨을 효율적으로 구성할 수 있다</a:t>
            </a:r>
            <a:r>
              <a:rPr lang="en-US" altLang="ko-KR"/>
              <a:t>.</a:t>
            </a:r>
          </a:p>
          <a:p>
            <a:r>
              <a:rPr lang="ko-KR" altLang="en-US"/>
              <a:t>상속과 컴포넌트 개념을 이해하고</a:t>
            </a:r>
            <a:r>
              <a:rPr lang="en-US" altLang="ko-KR"/>
              <a:t>, </a:t>
            </a:r>
            <a:r>
              <a:rPr lang="ko-KR" altLang="en-US"/>
              <a:t>재사용 가능한 커스텀 컴포넌트를 제작해 여러 액터에 적용할 수 있다</a:t>
            </a:r>
            <a:r>
              <a:rPr lang="en-US" altLang="ko-KR"/>
              <a: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CAB1EA4-83AA-53ED-4BC4-EA7064EC67A1}"/>
              </a:ext>
            </a:extLst>
          </p:cNvPr>
          <p:cNvSpPr>
            <a:spLocks noGrp="1"/>
          </p:cNvSpPr>
          <p:nvPr>
            <p:ph type="title"/>
          </p:nvPr>
        </p:nvSpPr>
        <p:spPr>
          <a:xfrm>
            <a:off x="55202" y="104895"/>
            <a:ext cx="8981294" cy="414343"/>
          </a:xfrm>
        </p:spPr>
        <p:txBody>
          <a:bodyPr wrap="square"/>
          <a:lstStyle/>
          <a:p>
            <a:r>
              <a:rPr lang="en-US" altLang="ko-KR"/>
              <a:t>1</a:t>
            </a:r>
            <a:r>
              <a:rPr lang="ko-KR" altLang="en-US"/>
              <a:t>차시</a:t>
            </a:r>
            <a:r>
              <a:rPr lang="en-US" altLang="ko-KR"/>
              <a:t>. </a:t>
            </a:r>
            <a:r>
              <a:rPr lang="ko-KR" altLang="en-US"/>
              <a:t>블루프린트 기초</a:t>
            </a:r>
            <a:endParaRPr lang="ko-KR" altLang="en-US" dirty="0"/>
          </a:p>
        </p:txBody>
      </p:sp>
      <p:sp>
        <p:nvSpPr>
          <p:cNvPr id="3" name="내용 개체 틀 2">
            <a:extLst>
              <a:ext uri="{FF2B5EF4-FFF2-40B4-BE49-F238E27FC236}">
                <a16:creationId xmlns:a16="http://schemas.microsoft.com/office/drawing/2014/main" id="{8B811AA4-9DEF-9B13-DD3C-9CE8658E2345}"/>
              </a:ext>
            </a:extLst>
          </p:cNvPr>
          <p:cNvSpPr>
            <a:spLocks noGrp="1"/>
          </p:cNvSpPr>
          <p:nvPr>
            <p:ph idx="1"/>
          </p:nvPr>
        </p:nvSpPr>
        <p:spPr>
          <a:xfrm>
            <a:off x="55202" y="618982"/>
            <a:ext cx="8981294" cy="4275028"/>
          </a:xfrm>
        </p:spPr>
        <p:txBody>
          <a:bodyPr wrap="square"/>
          <a:lstStyle/>
          <a:p>
            <a:r>
              <a:rPr lang="ko-KR" altLang="en-US"/>
              <a:t>블루프린트의 개념과 특징</a:t>
            </a:r>
          </a:p>
          <a:p>
            <a:r>
              <a:rPr lang="ko-KR" altLang="en-US"/>
              <a:t>노드</a:t>
            </a:r>
            <a:r>
              <a:rPr lang="en-US" altLang="ko-KR"/>
              <a:t>·</a:t>
            </a:r>
            <a:r>
              <a:rPr lang="ko-KR" altLang="en-US"/>
              <a:t>핀</a:t>
            </a:r>
            <a:r>
              <a:rPr lang="en-US" altLang="ko-KR"/>
              <a:t>·</a:t>
            </a:r>
            <a:r>
              <a:rPr lang="ko-KR" altLang="en-US"/>
              <a:t>와이어의 구조</a:t>
            </a:r>
          </a:p>
          <a:p>
            <a:r>
              <a:rPr lang="ko-KR" altLang="en-US"/>
              <a:t>틱 이벤트로 액터의 운동 만들기</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3"/>
          <p:cNvSpPr>
            <a:spLocks noGrp="1"/>
          </p:cNvSpPr>
          <p:nvPr>
            <p:ph type="title"/>
          </p:nvPr>
        </p:nvSpPr>
        <p:spPr>
          <a:xfrm>
            <a:off x="55202" y="104895"/>
            <a:ext cx="8981294" cy="414343"/>
          </a:xfrm>
        </p:spPr>
        <p:txBody>
          <a:bodyPr/>
          <a:lstStyle/>
          <a:p>
            <a:r>
              <a:rPr lang="ko-KR" altLang="en-US" dirty="0" err="1"/>
              <a:t>액터</a:t>
            </a:r>
            <a:r>
              <a:rPr lang="ko-KR" altLang="en-US" dirty="0"/>
              <a:t> 움직이기</a:t>
            </a:r>
            <a:endParaRPr lang="en-US" dirty="0"/>
          </a:p>
        </p:txBody>
      </p:sp>
      <p:sp>
        <p:nvSpPr>
          <p:cNvPr id="5" name="내용 개체 틀 4"/>
          <p:cNvSpPr>
            <a:spLocks noGrp="1"/>
          </p:cNvSpPr>
          <p:nvPr>
            <p:ph idx="1"/>
          </p:nvPr>
        </p:nvSpPr>
        <p:spPr>
          <a:xfrm>
            <a:off x="55202" y="618982"/>
            <a:ext cx="8981294" cy="4275028"/>
          </a:xfrm>
        </p:spPr>
        <p:txBody>
          <a:bodyPr/>
          <a:lstStyle/>
          <a:p>
            <a:r>
              <a:rPr lang="ko-KR" altLang="en-US" dirty="0"/>
              <a:t>정육면체 모양의 </a:t>
            </a:r>
            <a:r>
              <a:rPr lang="ko-KR" altLang="en-US" dirty="0" err="1"/>
              <a:t>액터가</a:t>
            </a:r>
            <a:r>
              <a:rPr lang="ko-KR" altLang="en-US" dirty="0"/>
              <a:t> 공중에서 위아래로 움직이면서 떠 있게 하려면</a:t>
            </a:r>
            <a:r>
              <a:rPr lang="en-US" altLang="ko-KR" dirty="0"/>
              <a:t>?</a:t>
            </a:r>
          </a:p>
          <a:p>
            <a:pPr lvl="2"/>
            <a:r>
              <a:rPr lang="ko-KR" altLang="en-US" dirty="0" err="1"/>
              <a:t>액터의</a:t>
            </a:r>
            <a:r>
              <a:rPr lang="ko-KR" altLang="en-US" dirty="0"/>
              <a:t> 운동 </a:t>
            </a:r>
            <a:r>
              <a:rPr lang="ko-KR" altLang="en-US" dirty="0" err="1"/>
              <a:t>로직을</a:t>
            </a:r>
            <a:r>
              <a:rPr lang="ko-KR" altLang="en-US" dirty="0"/>
              <a:t> 프로그램으로 구현하면 됨</a:t>
            </a:r>
            <a:r>
              <a:rPr lang="en-US" altLang="ko-KR" dirty="0"/>
              <a:t>.</a:t>
            </a:r>
          </a:p>
          <a:p>
            <a:pPr lvl="2"/>
            <a:r>
              <a:rPr lang="en-US" dirty="0"/>
              <a:t>C</a:t>
            </a:r>
            <a:r>
              <a:rPr lang="en-US" altLang="ko-KR" dirty="0"/>
              <a:t>++</a:t>
            </a:r>
            <a:r>
              <a:rPr lang="ko-KR" altLang="en-US" dirty="0"/>
              <a:t> 과 같은 프로그래밍 언어를 사용</a:t>
            </a:r>
            <a:r>
              <a:rPr lang="en-US" altLang="ko-KR" dirty="0"/>
              <a:t>.</a:t>
            </a:r>
            <a:endParaRPr lang="en-US" dirty="0"/>
          </a:p>
        </p:txBody>
      </p:sp>
      <p:pic>
        <p:nvPicPr>
          <p:cNvPr id="2050" name="Picture 2">
            <a:extLst>
              <a:ext uri="{FF2B5EF4-FFF2-40B4-BE49-F238E27FC236}">
                <a16:creationId xmlns:a16="http://schemas.microsoft.com/office/drawing/2014/main" id="{0DA2AAB5-7147-D69D-1936-54EE157FF5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4315" y="1780048"/>
            <a:ext cx="3800475" cy="2851150"/>
          </a:xfrm>
          <a:prstGeom prst="rect">
            <a:avLst/>
          </a:prstGeom>
          <a:noFill/>
          <a:ln>
            <a:noFill/>
          </a:ln>
          <a:effectLst>
            <a:outerShdw blurRad="292100" dist="139700" dir="2700000" algn="ctr" rotWithShape="0">
              <a:srgbClr val="000000">
                <a:alpha val="64999"/>
              </a:srgbClr>
            </a:outerShdw>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round/>
                <a:headEnd/>
                <a:tailEnd/>
              </a14:hiddenLine>
            </a:ext>
          </a:extLst>
        </p:spPr>
      </p:pic>
      <p:sp>
        <p:nvSpPr>
          <p:cNvPr id="6" name="Text Box 3">
            <a:extLst>
              <a:ext uri="{FF2B5EF4-FFF2-40B4-BE49-F238E27FC236}">
                <a16:creationId xmlns:a16="http://schemas.microsoft.com/office/drawing/2014/main" id="{59A4CA5E-B5DA-79C6-35ED-60BFDCEBC2B3}"/>
              </a:ext>
            </a:extLst>
          </p:cNvPr>
          <p:cNvSpPr txBox="1">
            <a:spLocks noChangeArrowheads="1"/>
          </p:cNvSpPr>
          <p:nvPr/>
        </p:nvSpPr>
        <p:spPr bwMode="auto">
          <a:xfrm>
            <a:off x="4685982" y="2418080"/>
            <a:ext cx="3916998" cy="995363"/>
          </a:xfrm>
          <a:prstGeom prst="rect">
            <a:avLst/>
          </a:prstGeom>
          <a:solidFill>
            <a:srgbClr val="F3F3F3"/>
          </a:solidFill>
          <a:ln w="25400" algn="ctr">
            <a:solidFill>
              <a:srgbClr val="595959"/>
            </a:solidFill>
            <a:miter lim="800000"/>
            <a:headEnd/>
            <a:tailEnd/>
          </a:ln>
          <a:effectLst>
            <a:outerShdw blurRad="50800" dist="38100" dir="2700000" algn="tl" rotWithShape="0">
              <a:srgbClr val="000000">
                <a:alpha val="39999"/>
              </a:srgbClr>
            </a:outerShdw>
          </a:effectLst>
        </p:spPr>
        <p:txBody>
          <a:bodyPr vert="horz" wrap="square" lIns="36576" tIns="36576" rIns="36576" bIns="36576"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1000" b="0" i="0" u="none" strike="noStrike" cap="none" normalizeH="0" baseline="0">
                <a:ln>
                  <a:noFill/>
                </a:ln>
                <a:solidFill>
                  <a:srgbClr val="000000"/>
                </a:solidFill>
                <a:effectLst/>
                <a:latin typeface="Consolas" panose="020B0609020204030204" pitchFamily="49" charset="0"/>
              </a:rPr>
              <a:t>for (int t = 0; t &lt; 200; 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1000" b="0" i="0" u="none" strike="noStrike" cap="none" normalizeH="0" baseline="0">
                <a:ln>
                  <a:noFill/>
                </a:ln>
                <a:solidFill>
                  <a:srgbClr val="000000"/>
                </a:solidFill>
                <a:effectLst/>
                <a:latin typeface="Consolas" panose="020B06090202040302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1000" b="0" i="0" u="none" strike="noStrike" cap="none" normalizeH="0" baseline="0">
                <a:ln>
                  <a:noFill/>
                </a:ln>
                <a:solidFill>
                  <a:srgbClr val="000000"/>
                </a:solidFill>
                <a:effectLst/>
                <a:latin typeface="Consolas" panose="020B0609020204030204" pitchFamily="49" charset="0"/>
              </a:rPr>
              <a:t>    float z = 100.0 * sin(t/100*2*3.141592) + 400.0;</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1000" b="0" i="0" u="none" strike="noStrike" cap="none" normalizeH="0" baseline="0">
                <a:ln>
                  <a:noFill/>
                </a:ln>
                <a:solidFill>
                  <a:srgbClr val="000000"/>
                </a:solidFill>
                <a:effectLst/>
                <a:latin typeface="Consolas" panose="020B0609020204030204" pitchFamily="49" charset="0"/>
              </a:rPr>
              <a:t>    cube-&gt;set_z(z);</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1000" b="0" i="0" u="none" strike="noStrike" cap="none" normalizeH="0" baseline="0">
                <a:ln>
                  <a:noFill/>
                </a:ln>
                <a:solidFill>
                  <a:srgbClr val="000000"/>
                </a:solidFill>
                <a:effectLst/>
                <a:latin typeface="Consolas" panose="020B0609020204030204" pitchFamily="49" charset="0"/>
              </a:rPr>
              <a:t>}</a:t>
            </a:r>
            <a:endParaRPr kumimoji="0" lang="ko-KR" altLang="ko-KR" sz="24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641953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BDA2922-079D-4EC0-BCF5-8053049360E1}"/>
              </a:ext>
            </a:extLst>
          </p:cNvPr>
          <p:cNvSpPr>
            <a:spLocks noGrp="1"/>
          </p:cNvSpPr>
          <p:nvPr>
            <p:ph type="title"/>
          </p:nvPr>
        </p:nvSpPr>
        <p:spPr>
          <a:xfrm>
            <a:off x="55202" y="104895"/>
            <a:ext cx="8981294" cy="414343"/>
          </a:xfrm>
        </p:spPr>
        <p:txBody>
          <a:bodyPr wrap="square"/>
          <a:lstStyle/>
          <a:p>
            <a:r>
              <a:rPr lang="ko-KR" altLang="en-US"/>
              <a:t>블루프린트란</a:t>
            </a:r>
            <a:r>
              <a:rPr lang="en-US" altLang="ko-KR"/>
              <a:t>?</a:t>
            </a:r>
            <a:endParaRPr lang="ko-KR" altLang="en-US" dirty="0"/>
          </a:p>
        </p:txBody>
      </p:sp>
      <p:sp>
        <p:nvSpPr>
          <p:cNvPr id="3" name="내용 개체 틀 2">
            <a:extLst>
              <a:ext uri="{FF2B5EF4-FFF2-40B4-BE49-F238E27FC236}">
                <a16:creationId xmlns:a16="http://schemas.microsoft.com/office/drawing/2014/main" id="{79B0F421-0FE8-44AE-86B6-151D0625309C}"/>
              </a:ext>
            </a:extLst>
          </p:cNvPr>
          <p:cNvSpPr>
            <a:spLocks noGrp="1"/>
          </p:cNvSpPr>
          <p:nvPr>
            <p:ph idx="1"/>
          </p:nvPr>
        </p:nvSpPr>
        <p:spPr>
          <a:xfrm>
            <a:off x="55202" y="618982"/>
            <a:ext cx="8981294" cy="4275028"/>
          </a:xfrm>
        </p:spPr>
        <p:txBody>
          <a:bodyPr wrap="square"/>
          <a:lstStyle/>
          <a:p>
            <a:r>
              <a:rPr lang="ko-KR" altLang="en-US"/>
              <a:t>언리얼 엔진이 제공하는 비주얼 스크립팅 시스템</a:t>
            </a:r>
            <a:endParaRPr lang="ko-KR" altLang="en-US" dirty="0"/>
          </a:p>
          <a:p>
            <a:r>
              <a:rPr lang="ko-KR" altLang="en-US"/>
              <a:t>버전 </a:t>
            </a:r>
            <a:r>
              <a:rPr lang="en-US" altLang="ko-KR"/>
              <a:t>4</a:t>
            </a:r>
            <a:r>
              <a:rPr lang="ko-KR" altLang="en-US"/>
              <a:t>부터 본격적으로 사용</a:t>
            </a:r>
          </a:p>
          <a:p>
            <a:r>
              <a:rPr lang="ko-KR" altLang="en-US"/>
              <a:t>개발자</a:t>
            </a:r>
            <a:r>
              <a:rPr lang="en-US" altLang="ko-KR"/>
              <a:t>, </a:t>
            </a:r>
            <a:r>
              <a:rPr lang="ko-KR" altLang="en-US"/>
              <a:t>기획자</a:t>
            </a:r>
            <a:r>
              <a:rPr lang="en-US" altLang="ko-KR"/>
              <a:t>, </a:t>
            </a:r>
            <a:r>
              <a:rPr lang="ko-KR" altLang="en-US"/>
              <a:t>디자이너 모두가 게임 개발에 참여할 수 있도록 설계</a:t>
            </a:r>
          </a:p>
          <a:p>
            <a:r>
              <a:rPr lang="ko-KR" altLang="en-US"/>
              <a:t>성능이 중요한 부분은 </a:t>
            </a:r>
            <a:r>
              <a:rPr lang="en-US" altLang="ko-KR"/>
              <a:t>C++</a:t>
            </a:r>
            <a:r>
              <a:rPr lang="ko-KR" altLang="en-US"/>
              <a:t>로</a:t>
            </a:r>
            <a:r>
              <a:rPr lang="en-US" altLang="ko-KR"/>
              <a:t>, </a:t>
            </a:r>
            <a:r>
              <a:rPr lang="ko-KR" altLang="en-US"/>
              <a:t>나머지는 블루프린트로 개발하는 하이브리드 방식 권장</a:t>
            </a:r>
          </a:p>
        </p:txBody>
      </p:sp>
      <p:pic>
        <p:nvPicPr>
          <p:cNvPr id="4" name="Picture 2">
            <a:extLst>
              <a:ext uri="{FF2B5EF4-FFF2-40B4-BE49-F238E27FC236}">
                <a16:creationId xmlns:a16="http://schemas.microsoft.com/office/drawing/2014/main" id="{8BF24BA6-0D0C-AC94-35D3-BD395E3B70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35" y="2182127"/>
            <a:ext cx="9068228" cy="249189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BDA2922-079D-4EC0-BCF5-8053049360E1}"/>
              </a:ext>
            </a:extLst>
          </p:cNvPr>
          <p:cNvSpPr>
            <a:spLocks noGrp="1"/>
          </p:cNvSpPr>
          <p:nvPr>
            <p:ph type="title"/>
          </p:nvPr>
        </p:nvSpPr>
        <p:spPr>
          <a:xfrm>
            <a:off x="55202" y="104895"/>
            <a:ext cx="8981294" cy="414343"/>
          </a:xfrm>
        </p:spPr>
        <p:txBody>
          <a:bodyPr wrap="square"/>
          <a:lstStyle/>
          <a:p>
            <a:r>
              <a:rPr lang="ko-KR" altLang="en-US"/>
              <a:t>블루프린트의 특징 </a:t>
            </a:r>
            <a:r>
              <a:rPr lang="en-US" altLang="ko-KR"/>
              <a:t>- </a:t>
            </a:r>
            <a:r>
              <a:rPr lang="ko-KR" altLang="en-US"/>
              <a:t>비주얼 언어</a:t>
            </a:r>
            <a:endParaRPr lang="ko-KR" altLang="en-US" dirty="0"/>
          </a:p>
        </p:txBody>
      </p:sp>
      <p:sp>
        <p:nvSpPr>
          <p:cNvPr id="3" name="내용 개체 틀 2">
            <a:extLst>
              <a:ext uri="{FF2B5EF4-FFF2-40B4-BE49-F238E27FC236}">
                <a16:creationId xmlns:a16="http://schemas.microsoft.com/office/drawing/2014/main" id="{79B0F421-0FE8-44AE-86B6-151D0625309C}"/>
              </a:ext>
            </a:extLst>
          </p:cNvPr>
          <p:cNvSpPr>
            <a:spLocks noGrp="1"/>
          </p:cNvSpPr>
          <p:nvPr>
            <p:ph idx="1"/>
          </p:nvPr>
        </p:nvSpPr>
        <p:spPr>
          <a:xfrm>
            <a:off x="55202" y="618982"/>
            <a:ext cx="8981294" cy="4275028"/>
          </a:xfrm>
        </p:spPr>
        <p:txBody>
          <a:bodyPr wrap="square"/>
          <a:lstStyle/>
          <a:p>
            <a:r>
              <a:rPr lang="ko-KR" altLang="en-US"/>
              <a:t>텍스트 기반 언어</a:t>
            </a:r>
            <a:r>
              <a:rPr lang="en-US" altLang="ko-KR"/>
              <a:t>(C++, </a:t>
            </a:r>
            <a:r>
              <a:rPr lang="ko-KR" altLang="en-US"/>
              <a:t>파이썬</a:t>
            </a:r>
            <a:r>
              <a:rPr lang="en-US" altLang="ko-KR"/>
              <a:t>)</a:t>
            </a:r>
            <a:r>
              <a:rPr lang="ko-KR" altLang="en-US"/>
              <a:t>와 달리 그림으로 로직을 구성</a:t>
            </a:r>
            <a:endParaRPr lang="ko-KR" altLang="en-US" dirty="0"/>
          </a:p>
          <a:p>
            <a:r>
              <a:rPr lang="ko-KR" altLang="en-US"/>
              <a:t>사각형 노드와 이를 연결하는 와이어로 구성</a:t>
            </a:r>
          </a:p>
          <a:p>
            <a:r>
              <a:rPr lang="ko-KR" altLang="en-US"/>
              <a:t>노드와 와이어의 집합을 블루프린트 그래프라고 부름</a:t>
            </a:r>
          </a:p>
          <a:p>
            <a:r>
              <a:rPr lang="ko-KR" altLang="en-US"/>
              <a:t>실행 흐름을 시각적으로 확인할 수 있어 디버깅이 용이</a:t>
            </a:r>
          </a:p>
        </p:txBody>
      </p:sp>
      <p:pic>
        <p:nvPicPr>
          <p:cNvPr id="4" name="그림 3">
            <a:extLst>
              <a:ext uri="{FF2B5EF4-FFF2-40B4-BE49-F238E27FC236}">
                <a16:creationId xmlns:a16="http://schemas.microsoft.com/office/drawing/2014/main" id="{B6677344-5388-F155-DE10-918FBAFAF810}"/>
              </a:ext>
            </a:extLst>
          </p:cNvPr>
          <p:cNvPicPr>
            <a:picLocks noChangeAspect="1"/>
          </p:cNvPicPr>
          <p:nvPr/>
        </p:nvPicPr>
        <p:blipFill>
          <a:blip r:embed="rId3"/>
          <a:stretch>
            <a:fillRect/>
          </a:stretch>
        </p:blipFill>
        <p:spPr>
          <a:xfrm>
            <a:off x="965933" y="2180191"/>
            <a:ext cx="6111417" cy="242366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BDA2922-079D-4EC0-BCF5-8053049360E1}"/>
              </a:ext>
            </a:extLst>
          </p:cNvPr>
          <p:cNvSpPr>
            <a:spLocks noGrp="1"/>
          </p:cNvSpPr>
          <p:nvPr>
            <p:ph type="title"/>
          </p:nvPr>
        </p:nvSpPr>
        <p:spPr>
          <a:xfrm>
            <a:off x="55202" y="104895"/>
            <a:ext cx="8981294" cy="414343"/>
          </a:xfrm>
        </p:spPr>
        <p:txBody>
          <a:bodyPr wrap="square"/>
          <a:lstStyle/>
          <a:p>
            <a:r>
              <a:rPr lang="ko-KR" altLang="en-US"/>
              <a:t>블루프린트의 특징 </a:t>
            </a:r>
            <a:r>
              <a:rPr lang="en-US" altLang="ko-KR"/>
              <a:t>- </a:t>
            </a:r>
            <a:r>
              <a:rPr lang="ko-KR" altLang="en-US"/>
              <a:t>스크립팅</a:t>
            </a:r>
            <a:r>
              <a:rPr lang="en-US" altLang="ko-KR"/>
              <a:t>(</a:t>
            </a:r>
            <a:r>
              <a:rPr lang="ko-KR" altLang="en-US"/>
              <a:t>인터프리터</a:t>
            </a:r>
            <a:r>
              <a:rPr lang="en-US" altLang="ko-KR"/>
              <a:t>) </a:t>
            </a:r>
            <a:r>
              <a:rPr lang="ko-KR" altLang="en-US"/>
              <a:t>언어</a:t>
            </a:r>
            <a:endParaRPr lang="ko-KR" altLang="en-US" dirty="0"/>
          </a:p>
        </p:txBody>
      </p:sp>
      <p:sp>
        <p:nvSpPr>
          <p:cNvPr id="3" name="내용 개체 틀 2">
            <a:extLst>
              <a:ext uri="{FF2B5EF4-FFF2-40B4-BE49-F238E27FC236}">
                <a16:creationId xmlns:a16="http://schemas.microsoft.com/office/drawing/2014/main" id="{79B0F421-0FE8-44AE-86B6-151D0625309C}"/>
              </a:ext>
            </a:extLst>
          </p:cNvPr>
          <p:cNvSpPr>
            <a:spLocks noGrp="1"/>
          </p:cNvSpPr>
          <p:nvPr>
            <p:ph idx="1"/>
          </p:nvPr>
        </p:nvSpPr>
        <p:spPr>
          <a:xfrm>
            <a:off x="55202" y="618982"/>
            <a:ext cx="8981294" cy="4275028"/>
          </a:xfrm>
        </p:spPr>
        <p:txBody>
          <a:bodyPr wrap="square"/>
          <a:lstStyle/>
          <a:p>
            <a:r>
              <a:rPr lang="ko-KR" altLang="en-US"/>
              <a:t>컴파일러 기반 언어</a:t>
            </a:r>
            <a:r>
              <a:rPr lang="en-US" altLang="ko-KR"/>
              <a:t>(C++)</a:t>
            </a:r>
            <a:r>
              <a:rPr lang="ko-KR" altLang="en-US"/>
              <a:t>와 달리 코드를 작성하면 즉시 실행되는 인터프리터 방식</a:t>
            </a:r>
            <a:endParaRPr lang="ko-KR" altLang="en-US" dirty="0"/>
          </a:p>
          <a:p>
            <a:r>
              <a:rPr lang="ko-KR" altLang="en-US"/>
              <a:t>빌드 과정 없이 곧바로 결과 확인 가능</a:t>
            </a:r>
          </a:p>
          <a:p>
            <a:r>
              <a:rPr lang="ko-KR" altLang="en-US"/>
              <a:t>블루프린트의 컴파일 버튼은 </a:t>
            </a:r>
            <a:r>
              <a:rPr lang="en-US" altLang="ko-KR"/>
              <a:t>C++</a:t>
            </a:r>
            <a:r>
              <a:rPr lang="ko-KR" altLang="en-US"/>
              <a:t>의 컴파일과는 다른 개념</a:t>
            </a:r>
          </a:p>
          <a:p>
            <a:r>
              <a:rPr lang="ko-KR" altLang="en-US"/>
              <a:t>그래프 수정 후에는 반드시 저장과 컴파일 필요</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BDA2922-079D-4EC0-BCF5-8053049360E1}"/>
              </a:ext>
            </a:extLst>
          </p:cNvPr>
          <p:cNvSpPr>
            <a:spLocks noGrp="1"/>
          </p:cNvSpPr>
          <p:nvPr>
            <p:ph type="title"/>
          </p:nvPr>
        </p:nvSpPr>
        <p:spPr>
          <a:xfrm>
            <a:off x="55202" y="104895"/>
            <a:ext cx="8981294" cy="414343"/>
          </a:xfrm>
        </p:spPr>
        <p:txBody>
          <a:bodyPr wrap="square"/>
          <a:lstStyle/>
          <a:p>
            <a:r>
              <a:rPr lang="ko-KR" altLang="en-US"/>
              <a:t>블루프린트의 장점과 단점</a:t>
            </a:r>
            <a:endParaRPr lang="ko-KR" altLang="en-US" dirty="0"/>
          </a:p>
        </p:txBody>
      </p:sp>
      <p:sp>
        <p:nvSpPr>
          <p:cNvPr id="3" name="내용 개체 틀 2">
            <a:extLst>
              <a:ext uri="{FF2B5EF4-FFF2-40B4-BE49-F238E27FC236}">
                <a16:creationId xmlns:a16="http://schemas.microsoft.com/office/drawing/2014/main" id="{79B0F421-0FE8-44AE-86B6-151D0625309C}"/>
              </a:ext>
            </a:extLst>
          </p:cNvPr>
          <p:cNvSpPr>
            <a:spLocks noGrp="1"/>
          </p:cNvSpPr>
          <p:nvPr>
            <p:ph idx="1"/>
          </p:nvPr>
        </p:nvSpPr>
        <p:spPr>
          <a:xfrm>
            <a:off x="55202" y="618982"/>
            <a:ext cx="8981294" cy="4275028"/>
          </a:xfrm>
        </p:spPr>
        <p:txBody>
          <a:bodyPr wrap="square"/>
          <a:lstStyle/>
          <a:p>
            <a:r>
              <a:rPr lang="ko-KR" altLang="en-US"/>
              <a:t>단점</a:t>
            </a:r>
            <a:endParaRPr lang="en-US" altLang="ko-KR"/>
          </a:p>
          <a:p>
            <a:pPr lvl="1"/>
            <a:r>
              <a:rPr lang="en-US" altLang="ko-KR"/>
              <a:t>C++</a:t>
            </a:r>
            <a:r>
              <a:rPr lang="ko-KR" altLang="en-US"/>
              <a:t>보다 </a:t>
            </a:r>
            <a:r>
              <a:rPr lang="en-US" altLang="ko-KR"/>
              <a:t>5~30</a:t>
            </a:r>
            <a:r>
              <a:rPr lang="ko-KR" altLang="en-US"/>
              <a:t>배가량 느린 실행 속도</a:t>
            </a:r>
            <a:r>
              <a:rPr lang="en-US" altLang="ko-KR"/>
              <a:t>(</a:t>
            </a:r>
            <a:r>
              <a:rPr lang="ko-KR" altLang="en-US"/>
              <a:t>가상 머신 기반</a:t>
            </a:r>
            <a:r>
              <a:rPr lang="en-US" altLang="ko-KR"/>
              <a:t>)</a:t>
            </a:r>
            <a:endParaRPr lang="ko-KR" altLang="en-US" dirty="0"/>
          </a:p>
          <a:p>
            <a:pPr lvl="1"/>
            <a:r>
              <a:rPr lang="ko-KR" altLang="en-US"/>
              <a:t>일부 저수준 기능은 </a:t>
            </a:r>
            <a:r>
              <a:rPr lang="en-US" altLang="ko-KR"/>
              <a:t>C++</a:t>
            </a:r>
            <a:r>
              <a:rPr lang="ko-KR" altLang="en-US"/>
              <a:t>로만 접근 가능</a:t>
            </a:r>
          </a:p>
          <a:p>
            <a:r>
              <a:rPr lang="ko-KR" altLang="en-US"/>
              <a:t>장점</a:t>
            </a:r>
            <a:endParaRPr lang="en-US" altLang="ko-KR"/>
          </a:p>
          <a:p>
            <a:pPr lvl="1"/>
            <a:r>
              <a:rPr lang="ko-KR" altLang="en-US"/>
              <a:t>빠른 프로토타이핑</a:t>
            </a:r>
            <a:r>
              <a:rPr lang="en-US" altLang="ko-KR"/>
              <a:t>, </a:t>
            </a:r>
            <a:r>
              <a:rPr lang="ko-KR" altLang="en-US"/>
              <a:t>캐주얼 게임은 블루프린트만으로도 상용화 가능</a:t>
            </a:r>
          </a:p>
          <a:p>
            <a:pPr lvl="1"/>
            <a:r>
              <a:rPr lang="ko-KR" altLang="en-US"/>
              <a:t>블루프린트 로직을 </a:t>
            </a:r>
            <a:r>
              <a:rPr lang="en-US" altLang="ko-KR"/>
              <a:t>C++</a:t>
            </a:r>
            <a:r>
              <a:rPr lang="ko-KR" altLang="en-US"/>
              <a:t>로 변환하는 방법도 존재</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BDA2922-079D-4EC0-BCF5-8053049360E1}"/>
              </a:ext>
            </a:extLst>
          </p:cNvPr>
          <p:cNvSpPr>
            <a:spLocks noGrp="1"/>
          </p:cNvSpPr>
          <p:nvPr>
            <p:ph type="title"/>
          </p:nvPr>
        </p:nvSpPr>
        <p:spPr>
          <a:xfrm>
            <a:off x="55202" y="104895"/>
            <a:ext cx="8981294" cy="414343"/>
          </a:xfrm>
        </p:spPr>
        <p:txBody>
          <a:bodyPr wrap="square"/>
          <a:lstStyle/>
          <a:p>
            <a:r>
              <a:rPr lang="ko-KR" altLang="en-US"/>
              <a:t>블루프린트 그래프의 구성 요소 </a:t>
            </a:r>
            <a:r>
              <a:rPr lang="en-US" altLang="ko-KR"/>
              <a:t>- </a:t>
            </a:r>
            <a:r>
              <a:rPr lang="ko-KR" altLang="en-US"/>
              <a:t>노드</a:t>
            </a:r>
            <a:endParaRPr lang="ko-KR" altLang="en-US" dirty="0"/>
          </a:p>
        </p:txBody>
      </p:sp>
      <p:sp>
        <p:nvSpPr>
          <p:cNvPr id="3" name="내용 개체 틀 2">
            <a:extLst>
              <a:ext uri="{FF2B5EF4-FFF2-40B4-BE49-F238E27FC236}">
                <a16:creationId xmlns:a16="http://schemas.microsoft.com/office/drawing/2014/main" id="{79B0F421-0FE8-44AE-86B6-151D0625309C}"/>
              </a:ext>
            </a:extLst>
          </p:cNvPr>
          <p:cNvSpPr>
            <a:spLocks noGrp="1"/>
          </p:cNvSpPr>
          <p:nvPr>
            <p:ph idx="1"/>
          </p:nvPr>
        </p:nvSpPr>
        <p:spPr>
          <a:xfrm>
            <a:off x="55202" y="618982"/>
            <a:ext cx="8981294" cy="1644158"/>
          </a:xfrm>
        </p:spPr>
        <p:txBody>
          <a:bodyPr wrap="square"/>
          <a:lstStyle/>
          <a:p>
            <a:r>
              <a:rPr lang="ko-KR" altLang="en-US"/>
              <a:t>이벤트 노드</a:t>
            </a:r>
            <a:r>
              <a:rPr lang="en-US" altLang="ko-KR"/>
              <a:t>: </a:t>
            </a:r>
            <a:r>
              <a:rPr lang="ko-KR" altLang="en-US"/>
              <a:t>어떤 사건의 발생을 알림 </a:t>
            </a:r>
            <a:r>
              <a:rPr lang="en-US" altLang="ko-KR"/>
              <a:t>(</a:t>
            </a:r>
            <a:r>
              <a:rPr lang="ko-KR" altLang="en-US"/>
              <a:t>예</a:t>
            </a:r>
            <a:r>
              <a:rPr lang="en-US" altLang="ko-KR"/>
              <a:t>: </a:t>
            </a:r>
            <a:r>
              <a:rPr lang="ko-KR" altLang="en-US"/>
              <a:t>충돌</a:t>
            </a:r>
            <a:r>
              <a:rPr lang="en-US" altLang="ko-KR"/>
              <a:t>, </a:t>
            </a:r>
            <a:r>
              <a:rPr lang="ko-KR" altLang="en-US"/>
              <a:t>피격</a:t>
            </a:r>
            <a:r>
              <a:rPr lang="en-US" altLang="ko-KR"/>
              <a:t>)</a:t>
            </a:r>
            <a:endParaRPr lang="ko-KR" altLang="en-US" dirty="0"/>
          </a:p>
          <a:p>
            <a:r>
              <a:rPr lang="ko-KR" altLang="en-US"/>
              <a:t>함수 노드</a:t>
            </a:r>
            <a:r>
              <a:rPr lang="en-US" altLang="ko-KR"/>
              <a:t>: </a:t>
            </a:r>
            <a:r>
              <a:rPr lang="ko-KR" altLang="en-US"/>
              <a:t>입력을 처리해 결과를 반환 </a:t>
            </a:r>
            <a:r>
              <a:rPr lang="en-US" altLang="ko-KR"/>
              <a:t>(</a:t>
            </a:r>
            <a:r>
              <a:rPr lang="ko-KR" altLang="en-US"/>
              <a:t>예</a:t>
            </a:r>
            <a:r>
              <a:rPr lang="en-US" altLang="ko-KR"/>
              <a:t>: SetActorLocation)</a:t>
            </a:r>
          </a:p>
          <a:p>
            <a:r>
              <a:rPr lang="ko-KR" altLang="en-US"/>
              <a:t>연산 노드</a:t>
            </a:r>
            <a:r>
              <a:rPr lang="en-US" altLang="ko-KR"/>
              <a:t>: </a:t>
            </a:r>
            <a:r>
              <a:rPr lang="ko-KR" altLang="en-US"/>
              <a:t>더하기</a:t>
            </a:r>
            <a:r>
              <a:rPr lang="en-US" altLang="ko-KR"/>
              <a:t>, </a:t>
            </a:r>
            <a:r>
              <a:rPr lang="ko-KR" altLang="en-US"/>
              <a:t>곱하기 등 계산 수행</a:t>
            </a:r>
          </a:p>
          <a:p>
            <a:r>
              <a:rPr lang="ko-KR" altLang="en-US"/>
              <a:t>분기 노드</a:t>
            </a:r>
            <a:r>
              <a:rPr lang="en-US" altLang="ko-KR"/>
              <a:t>: </a:t>
            </a:r>
            <a:r>
              <a:rPr lang="ko-KR" altLang="en-US"/>
              <a:t>노드의 실행 흐름 제어</a:t>
            </a:r>
            <a:r>
              <a:rPr lang="en-US" altLang="ko-KR"/>
              <a:t>(Branch, ForLoop)</a:t>
            </a:r>
          </a:p>
          <a:p>
            <a:r>
              <a:rPr lang="ko-KR" altLang="en-US"/>
              <a:t>변수 노드</a:t>
            </a:r>
            <a:r>
              <a:rPr lang="en-US" altLang="ko-KR"/>
              <a:t>: </a:t>
            </a:r>
            <a:r>
              <a:rPr lang="ko-KR" altLang="en-US"/>
              <a:t>변수값의 설정과 획득</a:t>
            </a:r>
            <a:r>
              <a:rPr lang="en-US" altLang="ko-KR"/>
              <a:t>(Get/Set)</a:t>
            </a:r>
          </a:p>
        </p:txBody>
      </p:sp>
      <p:pic>
        <p:nvPicPr>
          <p:cNvPr id="4" name="Picture 2">
            <a:extLst>
              <a:ext uri="{FF2B5EF4-FFF2-40B4-BE49-F238E27FC236}">
                <a16:creationId xmlns:a16="http://schemas.microsoft.com/office/drawing/2014/main" id="{C068B205-F599-1C7F-E1C0-B49AD238F0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9648" y="2470616"/>
            <a:ext cx="7091362" cy="2329568"/>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BDA2922-079D-4EC0-BCF5-8053049360E1}"/>
              </a:ext>
            </a:extLst>
          </p:cNvPr>
          <p:cNvSpPr>
            <a:spLocks noGrp="1"/>
          </p:cNvSpPr>
          <p:nvPr>
            <p:ph type="title"/>
          </p:nvPr>
        </p:nvSpPr>
        <p:spPr>
          <a:xfrm>
            <a:off x="55202" y="104895"/>
            <a:ext cx="8981294" cy="414343"/>
          </a:xfrm>
        </p:spPr>
        <p:txBody>
          <a:bodyPr wrap="square"/>
          <a:lstStyle/>
          <a:p>
            <a:r>
              <a:rPr lang="ko-KR" altLang="en-US"/>
              <a:t>블루프린트 그래프의 구성 요소 </a:t>
            </a:r>
            <a:r>
              <a:rPr lang="en-US" altLang="ko-KR"/>
              <a:t>- </a:t>
            </a:r>
            <a:r>
              <a:rPr lang="ko-KR" altLang="en-US"/>
              <a:t>핀</a:t>
            </a:r>
            <a:endParaRPr lang="ko-KR" altLang="en-US" dirty="0"/>
          </a:p>
        </p:txBody>
      </p:sp>
      <p:sp>
        <p:nvSpPr>
          <p:cNvPr id="3" name="내용 개체 틀 2">
            <a:extLst>
              <a:ext uri="{FF2B5EF4-FFF2-40B4-BE49-F238E27FC236}">
                <a16:creationId xmlns:a16="http://schemas.microsoft.com/office/drawing/2014/main" id="{79B0F421-0FE8-44AE-86B6-151D0625309C}"/>
              </a:ext>
            </a:extLst>
          </p:cNvPr>
          <p:cNvSpPr>
            <a:spLocks noGrp="1"/>
          </p:cNvSpPr>
          <p:nvPr>
            <p:ph idx="1"/>
          </p:nvPr>
        </p:nvSpPr>
        <p:spPr>
          <a:xfrm>
            <a:off x="55202" y="618982"/>
            <a:ext cx="8981294" cy="414343"/>
          </a:xfrm>
        </p:spPr>
        <p:txBody>
          <a:bodyPr wrap="square"/>
          <a:lstStyle/>
          <a:p>
            <a:r>
              <a:rPr lang="ko-KR" altLang="en-US"/>
              <a:t>실행 핀</a:t>
            </a:r>
            <a:r>
              <a:rPr lang="en-US" altLang="ko-KR"/>
              <a:t>: </a:t>
            </a:r>
            <a:r>
              <a:rPr lang="ko-KR" altLang="en-US"/>
              <a:t>흰색 오각형</a:t>
            </a:r>
            <a:r>
              <a:rPr lang="en-US" altLang="ko-KR"/>
              <a:t>, </a:t>
            </a:r>
            <a:r>
              <a:rPr lang="ko-KR" altLang="en-US"/>
              <a:t>노드 상단 좌우 위치</a:t>
            </a:r>
            <a:r>
              <a:rPr lang="en-US" altLang="ko-KR"/>
              <a:t>, </a:t>
            </a:r>
            <a:r>
              <a:rPr lang="ko-KR" altLang="en-US"/>
              <a:t>실행 순서</a:t>
            </a:r>
            <a:r>
              <a:rPr lang="en-US" altLang="ko-KR"/>
              <a:t>(</a:t>
            </a:r>
            <a:r>
              <a:rPr lang="ko-KR" altLang="en-US"/>
              <a:t>흐름</a:t>
            </a:r>
            <a:r>
              <a:rPr lang="en-US" altLang="ko-KR"/>
              <a:t>)</a:t>
            </a:r>
            <a:r>
              <a:rPr lang="ko-KR" altLang="en-US"/>
              <a:t>를 표현</a:t>
            </a:r>
            <a:endParaRPr lang="ko-KR" altLang="en-US" dirty="0"/>
          </a:p>
        </p:txBody>
      </p:sp>
      <p:pic>
        <p:nvPicPr>
          <p:cNvPr id="5" name="그림 4">
            <a:extLst>
              <a:ext uri="{FF2B5EF4-FFF2-40B4-BE49-F238E27FC236}">
                <a16:creationId xmlns:a16="http://schemas.microsoft.com/office/drawing/2014/main" id="{7F199E93-C9E0-B8EB-35D1-08CAEB5A4282}"/>
              </a:ext>
            </a:extLst>
          </p:cNvPr>
          <p:cNvPicPr>
            <a:picLocks noChangeAspect="1"/>
          </p:cNvPicPr>
          <p:nvPr/>
        </p:nvPicPr>
        <p:blipFill>
          <a:blip r:embed="rId3"/>
          <a:stretch>
            <a:fillRect/>
          </a:stretch>
        </p:blipFill>
        <p:spPr>
          <a:xfrm>
            <a:off x="2337121" y="1569567"/>
            <a:ext cx="3549924" cy="2415693"/>
          </a:xfrm>
          <a:prstGeom prst="rect">
            <a:avLst/>
          </a:prstGeom>
        </p:spPr>
      </p:pic>
      <p:sp>
        <p:nvSpPr>
          <p:cNvPr id="6" name="타원 5">
            <a:extLst>
              <a:ext uri="{FF2B5EF4-FFF2-40B4-BE49-F238E27FC236}">
                <a16:creationId xmlns:a16="http://schemas.microsoft.com/office/drawing/2014/main" id="{8F8BEC29-70F5-6598-6E24-8D9787E244DC}"/>
              </a:ext>
            </a:extLst>
          </p:cNvPr>
          <p:cNvSpPr/>
          <p:nvPr/>
        </p:nvSpPr>
        <p:spPr bwMode="auto">
          <a:xfrm>
            <a:off x="2435312" y="2114468"/>
            <a:ext cx="304154" cy="320697"/>
          </a:xfrm>
          <a:prstGeom prst="ellipse">
            <a:avLst/>
          </a:prstGeom>
          <a:noFill/>
          <a:ln w="28575" cap="rnd" cmpd="sng" algn="ctr">
            <a:solidFill>
              <a:srgbClr val="FFFF00"/>
            </a:solidFill>
            <a:prstDash val="sysDash"/>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defTabSz="685800" fontAlgn="base">
              <a:spcBef>
                <a:spcPct val="0"/>
              </a:spcBef>
              <a:spcAft>
                <a:spcPct val="0"/>
              </a:spcAft>
            </a:pPr>
            <a:endParaRPr kumimoji="1" lang="en-US" sz="1350">
              <a:latin typeface="Tahoma" pitchFamily="34" charset="0"/>
              <a:ea typeface="나눔고딕" pitchFamily="50" charset="-127"/>
              <a:cs typeface="조선일보명조"/>
            </a:endParaRPr>
          </a:p>
        </p:txBody>
      </p:sp>
      <p:sp>
        <p:nvSpPr>
          <p:cNvPr id="7" name="타원 6">
            <a:extLst>
              <a:ext uri="{FF2B5EF4-FFF2-40B4-BE49-F238E27FC236}">
                <a16:creationId xmlns:a16="http://schemas.microsoft.com/office/drawing/2014/main" id="{0EE4F391-81D3-E397-EFFD-442278FA82E8}"/>
              </a:ext>
            </a:extLst>
          </p:cNvPr>
          <p:cNvSpPr/>
          <p:nvPr/>
        </p:nvSpPr>
        <p:spPr bwMode="auto">
          <a:xfrm>
            <a:off x="5453450" y="2133395"/>
            <a:ext cx="304154" cy="320697"/>
          </a:xfrm>
          <a:prstGeom prst="ellipse">
            <a:avLst/>
          </a:prstGeom>
          <a:noFill/>
          <a:ln w="28575" cap="rnd" cmpd="sng" algn="ctr">
            <a:solidFill>
              <a:srgbClr val="FFFF00"/>
            </a:solidFill>
            <a:prstDash val="sysDash"/>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defTabSz="685800" fontAlgn="base">
              <a:spcBef>
                <a:spcPct val="0"/>
              </a:spcBef>
              <a:spcAft>
                <a:spcPct val="0"/>
              </a:spcAft>
            </a:pPr>
            <a:endParaRPr kumimoji="1" lang="en-US" sz="1350">
              <a:latin typeface="Tahoma" pitchFamily="34" charset="0"/>
              <a:ea typeface="나눔고딕" pitchFamily="50" charset="-127"/>
              <a:cs typeface="조선일보명조"/>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D3006A-1042-6CD3-9B7A-1241E3145FC8}"/>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31737B78-E784-70AE-D9C7-F6579127F524}"/>
              </a:ext>
            </a:extLst>
          </p:cNvPr>
          <p:cNvSpPr>
            <a:spLocks noGrp="1"/>
          </p:cNvSpPr>
          <p:nvPr>
            <p:ph type="title"/>
          </p:nvPr>
        </p:nvSpPr>
        <p:spPr>
          <a:xfrm>
            <a:off x="55202" y="104895"/>
            <a:ext cx="8981294" cy="414343"/>
          </a:xfrm>
        </p:spPr>
        <p:txBody>
          <a:bodyPr wrap="square"/>
          <a:lstStyle/>
          <a:p>
            <a:r>
              <a:rPr lang="ko-KR" altLang="en-US"/>
              <a:t>블루프린트 그래프의 구성 요소 </a:t>
            </a:r>
            <a:r>
              <a:rPr lang="en-US" altLang="ko-KR"/>
              <a:t>- </a:t>
            </a:r>
            <a:r>
              <a:rPr lang="ko-KR" altLang="en-US"/>
              <a:t>핀</a:t>
            </a:r>
            <a:endParaRPr lang="ko-KR" altLang="en-US" dirty="0"/>
          </a:p>
        </p:txBody>
      </p:sp>
      <p:sp>
        <p:nvSpPr>
          <p:cNvPr id="3" name="내용 개체 틀 2">
            <a:extLst>
              <a:ext uri="{FF2B5EF4-FFF2-40B4-BE49-F238E27FC236}">
                <a16:creationId xmlns:a16="http://schemas.microsoft.com/office/drawing/2014/main" id="{CDBFA8E1-85FB-692C-0B6F-2CFC825430FE}"/>
              </a:ext>
            </a:extLst>
          </p:cNvPr>
          <p:cNvSpPr>
            <a:spLocks noGrp="1"/>
          </p:cNvSpPr>
          <p:nvPr>
            <p:ph idx="1"/>
          </p:nvPr>
        </p:nvSpPr>
        <p:spPr>
          <a:xfrm>
            <a:off x="55202" y="618982"/>
            <a:ext cx="8981294" cy="1385078"/>
          </a:xfrm>
        </p:spPr>
        <p:txBody>
          <a:bodyPr wrap="square"/>
          <a:lstStyle/>
          <a:p>
            <a:r>
              <a:rPr lang="ko-KR" altLang="en-US"/>
              <a:t>데이터 핀</a:t>
            </a:r>
            <a:r>
              <a:rPr lang="en-US" altLang="ko-KR"/>
              <a:t>: </a:t>
            </a:r>
            <a:r>
              <a:rPr lang="ko-KR" altLang="en-US"/>
              <a:t>색깔이 있는 핀</a:t>
            </a:r>
            <a:r>
              <a:rPr lang="en-US" altLang="ko-KR"/>
              <a:t>, </a:t>
            </a:r>
            <a:r>
              <a:rPr lang="ko-KR" altLang="en-US"/>
              <a:t>입력 핀과 출력 핀으로 구분</a:t>
            </a:r>
          </a:p>
          <a:p>
            <a:pPr lvl="1"/>
            <a:r>
              <a:rPr lang="ko-KR" altLang="en-US"/>
              <a:t>왼쪽 핀은 입력</a:t>
            </a:r>
            <a:r>
              <a:rPr lang="en-US" altLang="ko-KR"/>
              <a:t>, </a:t>
            </a:r>
            <a:r>
              <a:rPr lang="ko-KR" altLang="en-US"/>
              <a:t>오른쪽 핀은 출력</a:t>
            </a:r>
          </a:p>
          <a:p>
            <a:pPr lvl="1"/>
            <a:r>
              <a:rPr lang="ko-KR" altLang="en-US"/>
              <a:t>핀의 색은 데이터 타입에 따라 다르게 표시</a:t>
            </a:r>
          </a:p>
        </p:txBody>
      </p:sp>
      <p:pic>
        <p:nvPicPr>
          <p:cNvPr id="4" name="그림 3">
            <a:extLst>
              <a:ext uri="{FF2B5EF4-FFF2-40B4-BE49-F238E27FC236}">
                <a16:creationId xmlns:a16="http://schemas.microsoft.com/office/drawing/2014/main" id="{FA9E8BBB-0A94-F817-7082-B33EC7625028}"/>
              </a:ext>
            </a:extLst>
          </p:cNvPr>
          <p:cNvPicPr>
            <a:picLocks noChangeAspect="1"/>
          </p:cNvPicPr>
          <p:nvPr/>
        </p:nvPicPr>
        <p:blipFill>
          <a:blip r:embed="rId3"/>
          <a:stretch>
            <a:fillRect/>
          </a:stretch>
        </p:blipFill>
        <p:spPr>
          <a:xfrm>
            <a:off x="1597980" y="1748637"/>
            <a:ext cx="4650581" cy="3164681"/>
          </a:xfrm>
          <a:prstGeom prst="rect">
            <a:avLst/>
          </a:prstGeom>
        </p:spPr>
      </p:pic>
      <p:sp>
        <p:nvSpPr>
          <p:cNvPr id="8" name="직사각형 7">
            <a:extLst>
              <a:ext uri="{FF2B5EF4-FFF2-40B4-BE49-F238E27FC236}">
                <a16:creationId xmlns:a16="http://schemas.microsoft.com/office/drawing/2014/main" id="{18601792-7627-97EE-1020-EC22C03ED6D1}"/>
              </a:ext>
            </a:extLst>
          </p:cNvPr>
          <p:cNvSpPr/>
          <p:nvPr/>
        </p:nvSpPr>
        <p:spPr bwMode="auto">
          <a:xfrm>
            <a:off x="1519881" y="2848233"/>
            <a:ext cx="1773195" cy="2065085"/>
          </a:xfrm>
          <a:prstGeom prst="rect">
            <a:avLst/>
          </a:prstGeom>
          <a:noFill/>
          <a:ln w="28575" cap="rnd" cmpd="sng" algn="ctr">
            <a:solidFill>
              <a:srgbClr val="FFFF00"/>
            </a:solidFill>
            <a:prstDash val="sysDash"/>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defTabSz="685800" fontAlgn="base">
              <a:spcBef>
                <a:spcPct val="0"/>
              </a:spcBef>
              <a:spcAft>
                <a:spcPct val="0"/>
              </a:spcAft>
            </a:pPr>
            <a:endParaRPr kumimoji="1" lang="en-US" sz="1350">
              <a:latin typeface="Tahoma" pitchFamily="34" charset="0"/>
              <a:ea typeface="나눔고딕" pitchFamily="50" charset="-127"/>
              <a:cs typeface="조선일보명조"/>
            </a:endParaRPr>
          </a:p>
        </p:txBody>
      </p:sp>
      <p:sp>
        <p:nvSpPr>
          <p:cNvPr id="9" name="직사각형 8">
            <a:extLst>
              <a:ext uri="{FF2B5EF4-FFF2-40B4-BE49-F238E27FC236}">
                <a16:creationId xmlns:a16="http://schemas.microsoft.com/office/drawing/2014/main" id="{280C097B-101E-7BD6-C47C-53B10580E6F4}"/>
              </a:ext>
            </a:extLst>
          </p:cNvPr>
          <p:cNvSpPr/>
          <p:nvPr/>
        </p:nvSpPr>
        <p:spPr bwMode="auto">
          <a:xfrm>
            <a:off x="4241457" y="2848232"/>
            <a:ext cx="2007104" cy="778477"/>
          </a:xfrm>
          <a:prstGeom prst="rect">
            <a:avLst/>
          </a:prstGeom>
          <a:noFill/>
          <a:ln w="28575" cap="rnd" cmpd="sng" algn="ctr">
            <a:solidFill>
              <a:srgbClr val="FFFF00"/>
            </a:solidFill>
            <a:prstDash val="sysDash"/>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defTabSz="685800" fontAlgn="base">
              <a:spcBef>
                <a:spcPct val="0"/>
              </a:spcBef>
              <a:spcAft>
                <a:spcPct val="0"/>
              </a:spcAft>
            </a:pPr>
            <a:endParaRPr kumimoji="1" lang="en-US" sz="1350">
              <a:latin typeface="Tahoma" pitchFamily="34" charset="0"/>
              <a:ea typeface="나눔고딕" pitchFamily="50" charset="-127"/>
              <a:cs typeface="조선일보명조"/>
            </a:endParaRPr>
          </a:p>
        </p:txBody>
      </p:sp>
      <p:sp>
        <p:nvSpPr>
          <p:cNvPr id="10" name="Content Placeholder 17">
            <a:extLst>
              <a:ext uri="{FF2B5EF4-FFF2-40B4-BE49-F238E27FC236}">
                <a16:creationId xmlns:a16="http://schemas.microsoft.com/office/drawing/2014/main" id="{E5872F71-C01F-8682-0FEE-5EAF3627F5B1}"/>
              </a:ext>
            </a:extLst>
          </p:cNvPr>
          <p:cNvSpPr txBox="1">
            <a:spLocks/>
          </p:cNvSpPr>
          <p:nvPr/>
        </p:nvSpPr>
        <p:spPr>
          <a:xfrm>
            <a:off x="171450" y="3098971"/>
            <a:ext cx="1582215" cy="276999"/>
          </a:xfrm>
          <a:prstGeom prst="rect">
            <a:avLst/>
          </a:prstGeom>
          <a:solidFill>
            <a:schemeClr val="bg1">
              <a:lumMod val="85000"/>
            </a:schemeClr>
          </a:solidFill>
          <a:ln w="28575">
            <a:solidFill>
              <a:srgbClr val="FF0000"/>
            </a:solidFill>
          </a:ln>
        </p:spPr>
        <p:txBody>
          <a:bodyPr vert="horz" wrap="square" lIns="68580" tIns="34290" rIns="68580" bIns="34290" rtlCol="0" anchor="ctr" anchorCtr="0">
            <a:sp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spcAft>
                <a:spcPts val="0"/>
              </a:spcAft>
              <a:buNone/>
            </a:pPr>
            <a:r>
              <a:rPr lang="ko-KR" altLang="en-US" sz="1350" b="1">
                <a:solidFill>
                  <a:srgbClr val="D24726"/>
                </a:solidFill>
                <a:latin typeface="+mn-ea"/>
              </a:rPr>
              <a:t>입력 데이터 핀</a:t>
            </a:r>
            <a:endParaRPr lang="en-US" altLang="ko-KR" sz="1350" b="1" dirty="0">
              <a:solidFill>
                <a:srgbClr val="D24726"/>
              </a:solidFill>
              <a:latin typeface="+mn-ea"/>
            </a:endParaRPr>
          </a:p>
        </p:txBody>
      </p:sp>
      <p:sp>
        <p:nvSpPr>
          <p:cNvPr id="11" name="Content Placeholder 17">
            <a:extLst>
              <a:ext uri="{FF2B5EF4-FFF2-40B4-BE49-F238E27FC236}">
                <a16:creationId xmlns:a16="http://schemas.microsoft.com/office/drawing/2014/main" id="{584590B7-7C9F-52EB-325F-56FD9304F130}"/>
              </a:ext>
            </a:extLst>
          </p:cNvPr>
          <p:cNvSpPr txBox="1">
            <a:spLocks/>
          </p:cNvSpPr>
          <p:nvPr/>
        </p:nvSpPr>
        <p:spPr>
          <a:xfrm>
            <a:off x="5989388" y="3192478"/>
            <a:ext cx="1582215" cy="276999"/>
          </a:xfrm>
          <a:prstGeom prst="rect">
            <a:avLst/>
          </a:prstGeom>
          <a:solidFill>
            <a:schemeClr val="bg1">
              <a:lumMod val="85000"/>
            </a:schemeClr>
          </a:solidFill>
          <a:ln w="28575">
            <a:solidFill>
              <a:srgbClr val="FF0000"/>
            </a:solidFill>
          </a:ln>
        </p:spPr>
        <p:txBody>
          <a:bodyPr vert="horz" wrap="square" lIns="68580" tIns="34290" rIns="68580" bIns="34290" rtlCol="0" anchor="ctr" anchorCtr="0">
            <a:sp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spcAft>
                <a:spcPts val="0"/>
              </a:spcAft>
              <a:buNone/>
            </a:pPr>
            <a:r>
              <a:rPr lang="ko-KR" altLang="en-US" sz="1350" b="1" dirty="0">
                <a:solidFill>
                  <a:srgbClr val="D24726"/>
                </a:solidFill>
                <a:latin typeface="+mn-ea"/>
              </a:rPr>
              <a:t>출력 데이터 핀</a:t>
            </a:r>
            <a:endParaRPr lang="en-US" altLang="ko-KR" sz="1350" b="1" dirty="0">
              <a:solidFill>
                <a:srgbClr val="D24726"/>
              </a:solidFill>
              <a:latin typeface="+mn-ea"/>
            </a:endParaRPr>
          </a:p>
        </p:txBody>
      </p:sp>
      <p:sp>
        <p:nvSpPr>
          <p:cNvPr id="12" name="Content Placeholder 17">
            <a:extLst>
              <a:ext uri="{FF2B5EF4-FFF2-40B4-BE49-F238E27FC236}">
                <a16:creationId xmlns:a16="http://schemas.microsoft.com/office/drawing/2014/main" id="{1BAF29AE-FDC1-D8FA-3431-6DC5C4325F9A}"/>
              </a:ext>
            </a:extLst>
          </p:cNvPr>
          <p:cNvSpPr txBox="1">
            <a:spLocks/>
          </p:cNvSpPr>
          <p:nvPr/>
        </p:nvSpPr>
        <p:spPr>
          <a:xfrm>
            <a:off x="2803193" y="2465356"/>
            <a:ext cx="2441816" cy="484748"/>
          </a:xfrm>
          <a:prstGeom prst="rect">
            <a:avLst/>
          </a:prstGeom>
          <a:solidFill>
            <a:schemeClr val="bg1">
              <a:lumMod val="85000"/>
            </a:schemeClr>
          </a:solidFill>
          <a:ln w="28575">
            <a:solidFill>
              <a:srgbClr val="FF0000"/>
            </a:solidFill>
          </a:ln>
        </p:spPr>
        <p:txBody>
          <a:bodyPr vert="horz" wrap="square" lIns="68580" tIns="34290" rIns="68580" bIns="34290" rtlCol="0" anchor="ctr" anchorCtr="0">
            <a:sp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spcAft>
                <a:spcPts val="0"/>
              </a:spcAft>
              <a:buNone/>
            </a:pPr>
            <a:r>
              <a:rPr lang="ko-KR" altLang="en-US" sz="1350" b="1" dirty="0">
                <a:solidFill>
                  <a:srgbClr val="D24726"/>
                </a:solidFill>
                <a:latin typeface="+mn-ea"/>
              </a:rPr>
              <a:t>데이터 핀 </a:t>
            </a:r>
            <a:r>
              <a:rPr lang="en-US" altLang="ko-KR" sz="1350" b="1" dirty="0">
                <a:solidFill>
                  <a:srgbClr val="D24726"/>
                </a:solidFill>
                <a:latin typeface="+mn-ea"/>
              </a:rPr>
              <a:t>:</a:t>
            </a:r>
            <a:r>
              <a:rPr lang="ko-KR" altLang="en-US" sz="1350" b="1" dirty="0">
                <a:solidFill>
                  <a:srgbClr val="D24726"/>
                </a:solidFill>
                <a:latin typeface="+mn-ea"/>
              </a:rPr>
              <a:t> 노드 사이에 데이터를 주고 받는 통로의 역할</a:t>
            </a:r>
            <a:endParaRPr lang="en-US" altLang="ko-KR" sz="1350" b="1" dirty="0">
              <a:solidFill>
                <a:srgbClr val="D24726"/>
              </a:solidFill>
              <a:latin typeface="+mn-ea"/>
            </a:endParaRPr>
          </a:p>
        </p:txBody>
      </p:sp>
    </p:spTree>
    <p:extLst>
      <p:ext uri="{BB962C8B-B14F-4D97-AF65-F5344CB8AC3E}">
        <p14:creationId xmlns:p14="http://schemas.microsoft.com/office/powerpoint/2010/main" val="15253130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BDA2922-079D-4EC0-BCF5-8053049360E1}"/>
              </a:ext>
            </a:extLst>
          </p:cNvPr>
          <p:cNvSpPr>
            <a:spLocks noGrp="1"/>
          </p:cNvSpPr>
          <p:nvPr>
            <p:ph type="title"/>
          </p:nvPr>
        </p:nvSpPr>
        <p:spPr>
          <a:xfrm>
            <a:off x="55202" y="104895"/>
            <a:ext cx="8981294" cy="414343"/>
          </a:xfrm>
        </p:spPr>
        <p:txBody>
          <a:bodyPr wrap="square"/>
          <a:lstStyle/>
          <a:p>
            <a:r>
              <a:rPr lang="ko-KR" altLang="en-US"/>
              <a:t>블루프린트 그래프의 구성 요소 </a:t>
            </a:r>
            <a:r>
              <a:rPr lang="en-US" altLang="ko-KR"/>
              <a:t>- </a:t>
            </a:r>
            <a:r>
              <a:rPr lang="ko-KR" altLang="en-US"/>
              <a:t>와이어</a:t>
            </a:r>
            <a:endParaRPr lang="ko-KR" altLang="en-US" dirty="0"/>
          </a:p>
        </p:txBody>
      </p:sp>
      <p:sp>
        <p:nvSpPr>
          <p:cNvPr id="3" name="내용 개체 틀 2">
            <a:extLst>
              <a:ext uri="{FF2B5EF4-FFF2-40B4-BE49-F238E27FC236}">
                <a16:creationId xmlns:a16="http://schemas.microsoft.com/office/drawing/2014/main" id="{79B0F421-0FE8-44AE-86B6-151D0625309C}"/>
              </a:ext>
            </a:extLst>
          </p:cNvPr>
          <p:cNvSpPr>
            <a:spLocks noGrp="1"/>
          </p:cNvSpPr>
          <p:nvPr>
            <p:ph idx="1"/>
          </p:nvPr>
        </p:nvSpPr>
        <p:spPr>
          <a:xfrm>
            <a:off x="55202" y="618982"/>
            <a:ext cx="8981294" cy="4275028"/>
          </a:xfrm>
        </p:spPr>
        <p:txBody>
          <a:bodyPr wrap="square"/>
          <a:lstStyle/>
          <a:p>
            <a:r>
              <a:rPr lang="ko-KR" altLang="en-US"/>
              <a:t>실행 흐름 와이어</a:t>
            </a:r>
            <a:r>
              <a:rPr lang="en-US" altLang="ko-KR"/>
              <a:t>: </a:t>
            </a:r>
            <a:r>
              <a:rPr lang="ko-KR" altLang="en-US"/>
              <a:t>흰색 선</a:t>
            </a:r>
            <a:r>
              <a:rPr lang="en-US" altLang="ko-KR"/>
              <a:t>, </a:t>
            </a:r>
            <a:r>
              <a:rPr lang="ko-KR" altLang="en-US"/>
              <a:t>노드의 실행 순서를 연결</a:t>
            </a:r>
            <a:endParaRPr lang="ko-KR" altLang="en-US" dirty="0"/>
          </a:p>
          <a:p>
            <a:r>
              <a:rPr lang="ko-KR" altLang="en-US"/>
              <a:t>데이터 흐름 와이어</a:t>
            </a:r>
            <a:r>
              <a:rPr lang="en-US" altLang="ko-KR"/>
              <a:t>: </a:t>
            </a:r>
            <a:r>
              <a:rPr lang="ko-KR" altLang="en-US"/>
              <a:t>색깔이 있는 선</a:t>
            </a:r>
            <a:r>
              <a:rPr lang="en-US" altLang="ko-KR"/>
              <a:t>, </a:t>
            </a:r>
            <a:r>
              <a:rPr lang="ko-KR" altLang="en-US"/>
              <a:t>값의 전달을 연결</a:t>
            </a:r>
          </a:p>
          <a:p>
            <a:r>
              <a:rPr lang="ko-KR" altLang="en-US"/>
              <a:t>와이어의 색은 데이터 타입에 따라 결정 </a:t>
            </a:r>
            <a:r>
              <a:rPr lang="en-US" altLang="ko-KR"/>
              <a:t>(</a:t>
            </a:r>
            <a:r>
              <a:rPr lang="ko-KR" altLang="en-US"/>
              <a:t>예</a:t>
            </a:r>
            <a:r>
              <a:rPr lang="en-US" altLang="ko-KR"/>
              <a:t>: </a:t>
            </a:r>
            <a:r>
              <a:rPr lang="ko-KR" altLang="en-US"/>
              <a:t>노란색 </a:t>
            </a:r>
            <a:r>
              <a:rPr lang="en-US" altLang="ko-KR"/>
              <a:t>= Float)</a:t>
            </a:r>
          </a:p>
          <a:p>
            <a:r>
              <a:rPr lang="ko-KR" altLang="en-US"/>
              <a:t>핀과 와이어로 실행 흐름과 데이터 입출력을 모두 표현</a:t>
            </a:r>
          </a:p>
        </p:txBody>
      </p:sp>
      <p:pic>
        <p:nvPicPr>
          <p:cNvPr id="4" name="그림 3">
            <a:extLst>
              <a:ext uri="{FF2B5EF4-FFF2-40B4-BE49-F238E27FC236}">
                <a16:creationId xmlns:a16="http://schemas.microsoft.com/office/drawing/2014/main" id="{F599FF25-7A23-DFC3-944E-796CE876A029}"/>
              </a:ext>
            </a:extLst>
          </p:cNvPr>
          <p:cNvPicPr>
            <a:picLocks noChangeAspect="1"/>
          </p:cNvPicPr>
          <p:nvPr/>
        </p:nvPicPr>
        <p:blipFill>
          <a:blip r:embed="rId3"/>
          <a:stretch>
            <a:fillRect/>
          </a:stretch>
        </p:blipFill>
        <p:spPr>
          <a:xfrm>
            <a:off x="278953" y="2213636"/>
            <a:ext cx="8272463" cy="258603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BDA2922-079D-4EC0-BCF5-8053049360E1}"/>
              </a:ext>
            </a:extLst>
          </p:cNvPr>
          <p:cNvSpPr>
            <a:spLocks noGrp="1"/>
          </p:cNvSpPr>
          <p:nvPr>
            <p:ph type="title"/>
          </p:nvPr>
        </p:nvSpPr>
        <p:spPr>
          <a:xfrm>
            <a:off x="55202" y="104895"/>
            <a:ext cx="8981294" cy="414343"/>
          </a:xfrm>
        </p:spPr>
        <p:txBody>
          <a:bodyPr wrap="square"/>
          <a:lstStyle/>
          <a:p>
            <a:r>
              <a:rPr lang="ko-KR" altLang="en-US"/>
              <a:t>게임 루프와 이벤트 틱</a:t>
            </a:r>
            <a:endParaRPr lang="ko-KR" altLang="en-US" dirty="0"/>
          </a:p>
        </p:txBody>
      </p:sp>
      <p:sp>
        <p:nvSpPr>
          <p:cNvPr id="3" name="내용 개체 틀 2">
            <a:extLst>
              <a:ext uri="{FF2B5EF4-FFF2-40B4-BE49-F238E27FC236}">
                <a16:creationId xmlns:a16="http://schemas.microsoft.com/office/drawing/2014/main" id="{79B0F421-0FE8-44AE-86B6-151D0625309C}"/>
              </a:ext>
            </a:extLst>
          </p:cNvPr>
          <p:cNvSpPr>
            <a:spLocks noGrp="1"/>
          </p:cNvSpPr>
          <p:nvPr>
            <p:ph idx="1"/>
          </p:nvPr>
        </p:nvSpPr>
        <p:spPr>
          <a:xfrm>
            <a:off x="55202" y="618982"/>
            <a:ext cx="8981294" cy="4275028"/>
          </a:xfrm>
        </p:spPr>
        <p:txBody>
          <a:bodyPr wrap="square"/>
          <a:lstStyle/>
          <a:p>
            <a:r>
              <a:rPr lang="ko-KR" altLang="en-US"/>
              <a:t>게임 루프</a:t>
            </a:r>
            <a:r>
              <a:rPr lang="en-US" altLang="ko-KR"/>
              <a:t>: </a:t>
            </a:r>
            <a:r>
              <a:rPr lang="ko-KR" altLang="en-US"/>
              <a:t>스톱모션 애니메이션</a:t>
            </a:r>
            <a:r>
              <a:rPr lang="en-US" altLang="ko-KR"/>
              <a:t>·</a:t>
            </a:r>
            <a:r>
              <a:rPr lang="ko-KR" altLang="en-US"/>
              <a:t>인형극과 같은 원리</a:t>
            </a:r>
            <a:endParaRPr lang="ko-KR" altLang="en-US" dirty="0"/>
          </a:p>
          <a:p>
            <a:r>
              <a:rPr lang="en-US" altLang="ko-KR"/>
              <a:t>BeginPlay: </a:t>
            </a:r>
            <a:r>
              <a:rPr lang="ko-KR" altLang="en-US"/>
              <a:t>게임 시작 시 한 번 실행되는 초기화 이벤트</a:t>
            </a:r>
          </a:p>
          <a:p>
            <a:r>
              <a:rPr lang="en-US" altLang="ko-KR"/>
              <a:t>Tick: </a:t>
            </a:r>
            <a:r>
              <a:rPr lang="ko-KR" altLang="en-US"/>
              <a:t>초당 평균 </a:t>
            </a:r>
            <a:r>
              <a:rPr lang="en-US" altLang="ko-KR"/>
              <a:t>60</a:t>
            </a:r>
            <a:r>
              <a:rPr lang="ko-KR" altLang="en-US"/>
              <a:t>회 이상 반복 실행되는 갱신 이벤트</a:t>
            </a:r>
          </a:p>
          <a:p>
            <a:r>
              <a:rPr lang="ko-KR" altLang="en-US"/>
              <a:t>액터 업데이트 후 엔진이 화면을 렌더링하는 과정을 반복</a:t>
            </a:r>
          </a:p>
        </p:txBody>
      </p:sp>
      <p:pic>
        <p:nvPicPr>
          <p:cNvPr id="21" name="그림 20">
            <a:extLst>
              <a:ext uri="{FF2B5EF4-FFF2-40B4-BE49-F238E27FC236}">
                <a16:creationId xmlns:a16="http://schemas.microsoft.com/office/drawing/2014/main" id="{EE1F4266-1FA5-8171-321C-B365A1B49EEF}"/>
              </a:ext>
            </a:extLst>
          </p:cNvPr>
          <p:cNvPicPr>
            <a:picLocks noChangeAspect="1"/>
          </p:cNvPicPr>
          <p:nvPr/>
        </p:nvPicPr>
        <p:blipFill>
          <a:blip r:embed="rId3"/>
          <a:stretch>
            <a:fillRect/>
          </a:stretch>
        </p:blipFill>
        <p:spPr>
          <a:xfrm>
            <a:off x="5158045" y="1971674"/>
            <a:ext cx="3671888" cy="4214813"/>
          </a:xfrm>
          <a:prstGeom prst="rect">
            <a:avLst/>
          </a:prstGeom>
          <a:solidFill>
            <a:srgbClr val="FFFF00"/>
          </a:solidFill>
        </p:spPr>
      </p:pic>
      <p:sp>
        <p:nvSpPr>
          <p:cNvPr id="22" name="모서리가 둥근 직사각형 4">
            <a:extLst>
              <a:ext uri="{FF2B5EF4-FFF2-40B4-BE49-F238E27FC236}">
                <a16:creationId xmlns:a16="http://schemas.microsoft.com/office/drawing/2014/main" id="{84C15FD9-0881-2077-82D1-1F4FFC66E3F7}"/>
              </a:ext>
            </a:extLst>
          </p:cNvPr>
          <p:cNvSpPr/>
          <p:nvPr/>
        </p:nvSpPr>
        <p:spPr bwMode="auto">
          <a:xfrm>
            <a:off x="3067028" y="2365766"/>
            <a:ext cx="1823422" cy="3547457"/>
          </a:xfrm>
          <a:prstGeom prst="roundRect">
            <a:avLst>
              <a:gd name="adj" fmla="val 6048"/>
            </a:avLst>
          </a:prstGeom>
          <a:solidFill>
            <a:schemeClr val="accent1"/>
          </a:solidFill>
          <a:ln w="12700" cap="rnd" cmpd="sng" algn="ctr">
            <a:solidFill>
              <a:schemeClr val="hlink"/>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defTabSz="685800" fontAlgn="base">
              <a:spcBef>
                <a:spcPct val="0"/>
              </a:spcBef>
              <a:spcAft>
                <a:spcPct val="0"/>
              </a:spcAft>
            </a:pPr>
            <a:endParaRPr kumimoji="1" lang="en-US" altLang="ko-KR" sz="1350" b="1" dirty="0">
              <a:latin typeface="+mn-ea"/>
              <a:cs typeface="조선일보명조"/>
            </a:endParaRPr>
          </a:p>
          <a:p>
            <a:pPr algn="ctr" defTabSz="685800" fontAlgn="base">
              <a:spcBef>
                <a:spcPct val="0"/>
              </a:spcBef>
              <a:spcAft>
                <a:spcPct val="0"/>
              </a:spcAft>
            </a:pPr>
            <a:endParaRPr kumimoji="1" lang="en-US" altLang="ko-KR" sz="1350" b="1" dirty="0">
              <a:latin typeface="+mn-ea"/>
              <a:cs typeface="조선일보명조"/>
            </a:endParaRPr>
          </a:p>
          <a:p>
            <a:pPr algn="ctr" defTabSz="685800" fontAlgn="base">
              <a:spcBef>
                <a:spcPct val="0"/>
              </a:spcBef>
              <a:spcAft>
                <a:spcPct val="0"/>
              </a:spcAft>
            </a:pPr>
            <a:endParaRPr kumimoji="1" lang="en-US" altLang="ko-KR" sz="1350" b="1" dirty="0">
              <a:latin typeface="+mn-ea"/>
              <a:cs typeface="조선일보명조"/>
            </a:endParaRPr>
          </a:p>
          <a:p>
            <a:pPr defTabSz="685800" fontAlgn="base">
              <a:spcBef>
                <a:spcPct val="0"/>
              </a:spcBef>
              <a:spcAft>
                <a:spcPct val="0"/>
              </a:spcAft>
            </a:pPr>
            <a:endParaRPr kumimoji="1" lang="en-US" altLang="ko-KR" sz="1350" b="1" dirty="0">
              <a:latin typeface="+mn-ea"/>
              <a:cs typeface="조선일보명조"/>
            </a:endParaRPr>
          </a:p>
          <a:p>
            <a:pPr defTabSz="685800" fontAlgn="base">
              <a:spcBef>
                <a:spcPct val="0"/>
              </a:spcBef>
              <a:spcAft>
                <a:spcPct val="0"/>
              </a:spcAft>
            </a:pPr>
            <a:r>
              <a:rPr kumimoji="1" lang="en-US" altLang="ko-KR" sz="1350" b="1" dirty="0">
                <a:latin typeface="+mn-ea"/>
                <a:cs typeface="조선일보명조"/>
              </a:rPr>
              <a:t>for each actor:</a:t>
            </a:r>
          </a:p>
          <a:p>
            <a:pPr defTabSz="685800" fontAlgn="base">
              <a:spcBef>
                <a:spcPct val="0"/>
              </a:spcBef>
              <a:spcAft>
                <a:spcPct val="0"/>
              </a:spcAft>
            </a:pPr>
            <a:r>
              <a:rPr kumimoji="1" lang="en-US" altLang="ko-KR" sz="1350" b="1" dirty="0">
                <a:latin typeface="+mn-ea"/>
                <a:cs typeface="조선일보명조"/>
              </a:rPr>
              <a:t>    actor-&gt;</a:t>
            </a:r>
            <a:r>
              <a:rPr kumimoji="1" lang="en-US" altLang="ko-KR" sz="1350" b="1" dirty="0" err="1">
                <a:latin typeface="+mn-ea"/>
                <a:cs typeface="조선일보명조"/>
              </a:rPr>
              <a:t>BeginPlay</a:t>
            </a:r>
            <a:r>
              <a:rPr kumimoji="1" lang="en-US" altLang="ko-KR" sz="1350" b="1" dirty="0">
                <a:latin typeface="+mn-ea"/>
                <a:cs typeface="조선일보명조"/>
              </a:rPr>
              <a:t>()</a:t>
            </a:r>
          </a:p>
          <a:p>
            <a:pPr defTabSz="685800" fontAlgn="base">
              <a:spcBef>
                <a:spcPct val="0"/>
              </a:spcBef>
              <a:spcAft>
                <a:spcPct val="0"/>
              </a:spcAft>
            </a:pPr>
            <a:endParaRPr kumimoji="1" lang="en-US" altLang="ko-KR" sz="1350" b="1" dirty="0">
              <a:latin typeface="+mn-ea"/>
              <a:cs typeface="조선일보명조"/>
            </a:endParaRPr>
          </a:p>
          <a:p>
            <a:pPr defTabSz="685800" fontAlgn="base">
              <a:spcBef>
                <a:spcPct val="0"/>
              </a:spcBef>
              <a:spcAft>
                <a:spcPct val="0"/>
              </a:spcAft>
            </a:pPr>
            <a:endParaRPr kumimoji="1" lang="en-US" altLang="ko-KR" sz="1350" b="1" dirty="0">
              <a:latin typeface="+mn-ea"/>
              <a:cs typeface="조선일보명조"/>
            </a:endParaRPr>
          </a:p>
          <a:p>
            <a:pPr defTabSz="685800" fontAlgn="base">
              <a:spcBef>
                <a:spcPct val="0"/>
              </a:spcBef>
              <a:spcAft>
                <a:spcPct val="0"/>
              </a:spcAft>
            </a:pPr>
            <a:r>
              <a:rPr kumimoji="1" lang="en-US" altLang="ko-KR" sz="1350" b="1" dirty="0">
                <a:latin typeface="+mn-ea"/>
                <a:cs typeface="조선일보명조"/>
              </a:rPr>
              <a:t>loop</a:t>
            </a:r>
          </a:p>
          <a:p>
            <a:pPr defTabSz="685800" fontAlgn="base">
              <a:spcBef>
                <a:spcPct val="0"/>
              </a:spcBef>
              <a:spcAft>
                <a:spcPct val="0"/>
              </a:spcAft>
            </a:pPr>
            <a:r>
              <a:rPr kumimoji="1" lang="en-US" altLang="ko-KR" sz="1350" b="1" dirty="0">
                <a:latin typeface="+mn-ea"/>
                <a:cs typeface="조선일보명조"/>
              </a:rPr>
              <a:t>{</a:t>
            </a:r>
          </a:p>
          <a:p>
            <a:pPr defTabSz="685800" fontAlgn="base">
              <a:spcBef>
                <a:spcPct val="0"/>
              </a:spcBef>
              <a:spcAft>
                <a:spcPct val="0"/>
              </a:spcAft>
            </a:pPr>
            <a:r>
              <a:rPr kumimoji="1" lang="en-US" altLang="ko-KR" sz="1350" b="1" dirty="0">
                <a:latin typeface="+mn-ea"/>
                <a:cs typeface="조선일보명조"/>
              </a:rPr>
              <a:t>    get inputs</a:t>
            </a:r>
          </a:p>
          <a:p>
            <a:pPr defTabSz="685800" fontAlgn="base">
              <a:spcBef>
                <a:spcPct val="0"/>
              </a:spcBef>
              <a:spcAft>
                <a:spcPct val="0"/>
              </a:spcAft>
            </a:pPr>
            <a:r>
              <a:rPr kumimoji="1" lang="en-US" altLang="ko-KR" sz="1350" b="1" dirty="0">
                <a:latin typeface="+mn-ea"/>
                <a:cs typeface="조선일보명조"/>
              </a:rPr>
              <a:t>    for each actor:</a:t>
            </a:r>
          </a:p>
          <a:p>
            <a:pPr defTabSz="685800" fontAlgn="base">
              <a:spcBef>
                <a:spcPct val="0"/>
              </a:spcBef>
              <a:spcAft>
                <a:spcPct val="0"/>
              </a:spcAft>
            </a:pPr>
            <a:r>
              <a:rPr kumimoji="1" lang="en-US" altLang="ko-KR" sz="1350" b="1" dirty="0">
                <a:latin typeface="+mn-ea"/>
                <a:cs typeface="조선일보명조"/>
              </a:rPr>
              <a:t>        actor-&gt;Tick()</a:t>
            </a:r>
          </a:p>
          <a:p>
            <a:pPr defTabSz="685800" fontAlgn="base">
              <a:spcBef>
                <a:spcPct val="0"/>
              </a:spcBef>
              <a:spcAft>
                <a:spcPct val="0"/>
              </a:spcAft>
            </a:pPr>
            <a:r>
              <a:rPr kumimoji="1" lang="en-US" altLang="ko-KR" sz="1350" b="1" dirty="0">
                <a:latin typeface="+mn-ea"/>
                <a:cs typeface="조선일보명조"/>
              </a:rPr>
              <a:t>    render()</a:t>
            </a:r>
          </a:p>
          <a:p>
            <a:pPr defTabSz="685800" fontAlgn="base">
              <a:spcBef>
                <a:spcPct val="0"/>
              </a:spcBef>
              <a:spcAft>
                <a:spcPct val="0"/>
              </a:spcAft>
            </a:pPr>
            <a:r>
              <a:rPr kumimoji="1" lang="en-US" altLang="ko-KR" sz="1350" b="1" dirty="0">
                <a:latin typeface="+mn-ea"/>
                <a:cs typeface="조선일보명조"/>
              </a:rPr>
              <a:t>}</a:t>
            </a:r>
            <a:endParaRPr kumimoji="1" lang="ko-KR" altLang="en-US" sz="1350" b="1" dirty="0">
              <a:latin typeface="+mn-ea"/>
              <a:cs typeface="조선일보명조"/>
            </a:endParaRPr>
          </a:p>
        </p:txBody>
      </p:sp>
      <p:sp>
        <p:nvSpPr>
          <p:cNvPr id="23" name="오른쪽 화살표 9">
            <a:extLst>
              <a:ext uri="{FF2B5EF4-FFF2-40B4-BE49-F238E27FC236}">
                <a16:creationId xmlns:a16="http://schemas.microsoft.com/office/drawing/2014/main" id="{13D6C73A-17AC-432D-117C-BA6944D2F47B}"/>
              </a:ext>
            </a:extLst>
          </p:cNvPr>
          <p:cNvSpPr/>
          <p:nvPr/>
        </p:nvSpPr>
        <p:spPr bwMode="auto">
          <a:xfrm>
            <a:off x="4841022" y="3358244"/>
            <a:ext cx="762896" cy="387275"/>
          </a:xfrm>
          <a:prstGeom prst="rightArrow">
            <a:avLst/>
          </a:prstGeom>
          <a:solidFill>
            <a:srgbClr val="FF3300"/>
          </a:solidFill>
          <a:ln w="12700" cap="rnd" cmpd="sng" algn="ctr">
            <a:solidFill>
              <a:schemeClr val="hlink"/>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defTabSz="685800" fontAlgn="base">
              <a:spcBef>
                <a:spcPct val="0"/>
              </a:spcBef>
              <a:spcAft>
                <a:spcPct val="0"/>
              </a:spcAft>
            </a:pPr>
            <a:endParaRPr kumimoji="1" lang="ko-KR" altLang="en-US" sz="1350">
              <a:latin typeface="Tahoma" pitchFamily="34" charset="0"/>
              <a:ea typeface="나눔고딕" pitchFamily="50" charset="-127"/>
              <a:cs typeface="조선일보명조"/>
            </a:endParaRPr>
          </a:p>
        </p:txBody>
      </p:sp>
      <p:sp>
        <p:nvSpPr>
          <p:cNvPr id="24" name="Content Placeholder 17">
            <a:extLst>
              <a:ext uri="{FF2B5EF4-FFF2-40B4-BE49-F238E27FC236}">
                <a16:creationId xmlns:a16="http://schemas.microsoft.com/office/drawing/2014/main" id="{FB8431DC-4B36-193F-2EBD-CAF177EA89F6}"/>
              </a:ext>
            </a:extLst>
          </p:cNvPr>
          <p:cNvSpPr txBox="1">
            <a:spLocks/>
          </p:cNvSpPr>
          <p:nvPr/>
        </p:nvSpPr>
        <p:spPr>
          <a:xfrm>
            <a:off x="5553327" y="3641645"/>
            <a:ext cx="2881325" cy="692497"/>
          </a:xfrm>
          <a:prstGeom prst="rect">
            <a:avLst/>
          </a:prstGeom>
          <a:solidFill>
            <a:schemeClr val="bg1">
              <a:lumMod val="85000"/>
            </a:schemeClr>
          </a:solidFill>
          <a:ln w="28575">
            <a:solidFill>
              <a:srgbClr val="FF0000"/>
            </a:solidFill>
          </a:ln>
        </p:spPr>
        <p:txBody>
          <a:bodyPr vert="horz" wrap="square" lIns="68580" tIns="34290" rIns="68580" bIns="34290" rtlCol="0" anchor="ctr" anchorCtr="0">
            <a:sp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spcAft>
                <a:spcPts val="0"/>
              </a:spcAft>
              <a:buNone/>
            </a:pPr>
            <a:r>
              <a:rPr lang="ko-KR" altLang="en-US" sz="1350" b="1" dirty="0">
                <a:solidFill>
                  <a:srgbClr val="D24726"/>
                </a:solidFill>
                <a:latin typeface="+mn-ea"/>
              </a:rPr>
              <a:t>각각의 </a:t>
            </a:r>
            <a:r>
              <a:rPr lang="ko-KR" altLang="en-US" sz="1350" b="1" dirty="0" err="1">
                <a:solidFill>
                  <a:srgbClr val="D24726"/>
                </a:solidFill>
                <a:latin typeface="+mn-ea"/>
              </a:rPr>
              <a:t>액터들에</a:t>
            </a:r>
            <a:r>
              <a:rPr lang="ko-KR" altLang="en-US" sz="1350" b="1" dirty="0">
                <a:solidFill>
                  <a:srgbClr val="D24726"/>
                </a:solidFill>
                <a:latin typeface="+mn-ea"/>
              </a:rPr>
              <a:t> 대해서</a:t>
            </a:r>
            <a:r>
              <a:rPr lang="en-US" altLang="ko-KR" sz="1350" b="1" dirty="0">
                <a:solidFill>
                  <a:srgbClr val="D24726"/>
                </a:solidFill>
                <a:latin typeface="+mn-ea"/>
              </a:rPr>
              <a:t>,</a:t>
            </a:r>
            <a:r>
              <a:rPr lang="ko-KR" altLang="en-US" sz="1350" b="1" dirty="0">
                <a:solidFill>
                  <a:srgbClr val="D24726"/>
                </a:solidFill>
                <a:latin typeface="+mn-ea"/>
              </a:rPr>
              <a:t> </a:t>
            </a:r>
            <a:r>
              <a:rPr lang="ko-KR" altLang="en-US" sz="1350" b="1" dirty="0" err="1">
                <a:solidFill>
                  <a:srgbClr val="D24726"/>
                </a:solidFill>
                <a:latin typeface="+mn-ea"/>
              </a:rPr>
              <a:t>액터의</a:t>
            </a:r>
            <a:r>
              <a:rPr lang="ko-KR" altLang="en-US" sz="1350" b="1" dirty="0">
                <a:solidFill>
                  <a:srgbClr val="D24726"/>
                </a:solidFill>
                <a:latin typeface="+mn-ea"/>
              </a:rPr>
              <a:t> 초기화를 하기 위해 </a:t>
            </a:r>
            <a:r>
              <a:rPr lang="en-US" altLang="ko-KR" sz="1350" b="1" dirty="0" err="1">
                <a:solidFill>
                  <a:srgbClr val="D24726"/>
                </a:solidFill>
                <a:latin typeface="+mn-ea"/>
              </a:rPr>
              <a:t>BeginPlay</a:t>
            </a:r>
            <a:r>
              <a:rPr lang="en-US" altLang="ko-KR" sz="1350" b="1" dirty="0">
                <a:solidFill>
                  <a:srgbClr val="D24726"/>
                </a:solidFill>
                <a:latin typeface="+mn-ea"/>
              </a:rPr>
              <a:t> Event</a:t>
            </a:r>
            <a:r>
              <a:rPr lang="ko-KR" altLang="en-US" sz="1350" b="1" dirty="0">
                <a:solidFill>
                  <a:srgbClr val="D24726"/>
                </a:solidFill>
                <a:latin typeface="+mn-ea"/>
              </a:rPr>
              <a:t>가 호출됨</a:t>
            </a:r>
            <a:r>
              <a:rPr lang="en-US" altLang="ko-KR" sz="1350" b="1" dirty="0">
                <a:solidFill>
                  <a:srgbClr val="D24726"/>
                </a:solidFill>
                <a:latin typeface="+mn-ea"/>
              </a:rPr>
              <a:t>.</a:t>
            </a:r>
          </a:p>
        </p:txBody>
      </p:sp>
      <p:sp>
        <p:nvSpPr>
          <p:cNvPr id="25" name="Content Placeholder 17">
            <a:extLst>
              <a:ext uri="{FF2B5EF4-FFF2-40B4-BE49-F238E27FC236}">
                <a16:creationId xmlns:a16="http://schemas.microsoft.com/office/drawing/2014/main" id="{9E263926-DAF2-31AE-D2AD-01AFA291F048}"/>
              </a:ext>
            </a:extLst>
          </p:cNvPr>
          <p:cNvSpPr txBox="1">
            <a:spLocks/>
          </p:cNvSpPr>
          <p:nvPr/>
        </p:nvSpPr>
        <p:spPr>
          <a:xfrm>
            <a:off x="5804787" y="5374719"/>
            <a:ext cx="2881325" cy="692497"/>
          </a:xfrm>
          <a:prstGeom prst="rect">
            <a:avLst/>
          </a:prstGeom>
          <a:solidFill>
            <a:schemeClr val="bg1">
              <a:lumMod val="85000"/>
            </a:schemeClr>
          </a:solidFill>
          <a:ln w="28575">
            <a:solidFill>
              <a:srgbClr val="FF0000"/>
            </a:solidFill>
          </a:ln>
        </p:spPr>
        <p:txBody>
          <a:bodyPr vert="horz" wrap="square" lIns="68580" tIns="34290" rIns="68580" bIns="34290" rtlCol="0" anchor="ctr" anchorCtr="0">
            <a:sp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spcAft>
                <a:spcPts val="0"/>
              </a:spcAft>
              <a:buNone/>
            </a:pPr>
            <a:r>
              <a:rPr lang="ko-KR" altLang="en-US" sz="1350" b="1" dirty="0">
                <a:solidFill>
                  <a:srgbClr val="D24726"/>
                </a:solidFill>
                <a:latin typeface="+mn-ea"/>
              </a:rPr>
              <a:t>메인 게임 루프가 반복되면서</a:t>
            </a:r>
            <a:r>
              <a:rPr lang="en-US" altLang="ko-KR" sz="1350" b="1" dirty="0">
                <a:solidFill>
                  <a:srgbClr val="D24726"/>
                </a:solidFill>
                <a:latin typeface="+mn-ea"/>
              </a:rPr>
              <a:t>,</a:t>
            </a:r>
            <a:r>
              <a:rPr lang="ko-KR" altLang="en-US" sz="1350" b="1" dirty="0">
                <a:solidFill>
                  <a:srgbClr val="D24726"/>
                </a:solidFill>
                <a:latin typeface="+mn-ea"/>
              </a:rPr>
              <a:t> 각각의 </a:t>
            </a:r>
            <a:r>
              <a:rPr lang="ko-KR" altLang="en-US" sz="1350" b="1" dirty="0" err="1">
                <a:solidFill>
                  <a:srgbClr val="D24726"/>
                </a:solidFill>
                <a:latin typeface="+mn-ea"/>
              </a:rPr>
              <a:t>액터들에</a:t>
            </a:r>
            <a:r>
              <a:rPr lang="ko-KR" altLang="en-US" sz="1350" b="1" dirty="0">
                <a:solidFill>
                  <a:srgbClr val="D24726"/>
                </a:solidFill>
                <a:latin typeface="+mn-ea"/>
              </a:rPr>
              <a:t> 대해서 </a:t>
            </a:r>
            <a:r>
              <a:rPr lang="en-US" altLang="ko-KR" sz="1350" b="1" dirty="0">
                <a:solidFill>
                  <a:srgbClr val="D24726"/>
                </a:solidFill>
                <a:latin typeface="+mn-ea"/>
              </a:rPr>
              <a:t>Tick Event</a:t>
            </a:r>
            <a:r>
              <a:rPr lang="ko-KR" altLang="en-US" sz="1350" b="1" dirty="0">
                <a:solidFill>
                  <a:srgbClr val="D24726"/>
                </a:solidFill>
                <a:latin typeface="+mn-ea"/>
              </a:rPr>
              <a:t>를 반복적으로 호출함</a:t>
            </a:r>
            <a:r>
              <a:rPr lang="en-US" altLang="ko-KR" sz="1350" b="1" dirty="0">
                <a:solidFill>
                  <a:srgbClr val="D24726"/>
                </a:solidFill>
                <a:latin typeface="+mn-ea"/>
              </a:rPr>
              <a:t>.</a:t>
            </a:r>
          </a:p>
        </p:txBody>
      </p:sp>
      <p:sp>
        <p:nvSpPr>
          <p:cNvPr id="26" name="오른쪽 화살표 11">
            <a:extLst>
              <a:ext uri="{FF2B5EF4-FFF2-40B4-BE49-F238E27FC236}">
                <a16:creationId xmlns:a16="http://schemas.microsoft.com/office/drawing/2014/main" id="{C45E8CED-DFFF-DEA8-8EC8-58AD7D33CC63}"/>
              </a:ext>
            </a:extLst>
          </p:cNvPr>
          <p:cNvSpPr/>
          <p:nvPr/>
        </p:nvSpPr>
        <p:spPr bwMode="auto">
          <a:xfrm>
            <a:off x="4609791" y="4788568"/>
            <a:ext cx="948347" cy="387275"/>
          </a:xfrm>
          <a:prstGeom prst="rightArrow">
            <a:avLst/>
          </a:prstGeom>
          <a:solidFill>
            <a:srgbClr val="FF3300"/>
          </a:solidFill>
          <a:ln w="12700" cap="rnd" cmpd="sng" algn="ctr">
            <a:solidFill>
              <a:schemeClr val="hlink"/>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defTabSz="685800" fontAlgn="base">
              <a:spcBef>
                <a:spcPct val="0"/>
              </a:spcBef>
              <a:spcAft>
                <a:spcPct val="0"/>
              </a:spcAft>
            </a:pPr>
            <a:endParaRPr kumimoji="1" lang="ko-KR" altLang="en-US" sz="1350">
              <a:latin typeface="Tahoma" pitchFamily="34" charset="0"/>
              <a:ea typeface="나눔고딕" pitchFamily="50" charset="-127"/>
              <a:cs typeface="조선일보명조"/>
            </a:endParaRPr>
          </a:p>
        </p:txBody>
      </p:sp>
      <p:sp>
        <p:nvSpPr>
          <p:cNvPr id="27" name="원형 화살표 14">
            <a:extLst>
              <a:ext uri="{FF2B5EF4-FFF2-40B4-BE49-F238E27FC236}">
                <a16:creationId xmlns:a16="http://schemas.microsoft.com/office/drawing/2014/main" id="{5FAAC60B-0A30-22E9-F5BF-E680B88B82C2}"/>
              </a:ext>
            </a:extLst>
          </p:cNvPr>
          <p:cNvSpPr/>
          <p:nvPr/>
        </p:nvSpPr>
        <p:spPr bwMode="auto">
          <a:xfrm>
            <a:off x="2613038" y="3776411"/>
            <a:ext cx="1656716" cy="1975448"/>
          </a:xfrm>
          <a:prstGeom prst="circularArrow">
            <a:avLst>
              <a:gd name="adj1" fmla="val 5546"/>
              <a:gd name="adj2" fmla="val 1142319"/>
              <a:gd name="adj3" fmla="val 19059780"/>
              <a:gd name="adj4" fmla="val 3031018"/>
              <a:gd name="adj5" fmla="val 12500"/>
            </a:avLst>
          </a:prstGeom>
          <a:solidFill>
            <a:srgbClr val="FFFF00"/>
          </a:solidFill>
          <a:ln w="12700" cap="rnd" cmpd="sng" algn="ctr">
            <a:solidFill>
              <a:schemeClr val="hlink"/>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defTabSz="685800" fontAlgn="base">
              <a:spcBef>
                <a:spcPct val="0"/>
              </a:spcBef>
              <a:spcAft>
                <a:spcPct val="0"/>
              </a:spcAft>
            </a:pPr>
            <a:endParaRPr kumimoji="1" lang="ko-KR" altLang="en-US" sz="1350">
              <a:latin typeface="Tahoma" pitchFamily="34" charset="0"/>
              <a:ea typeface="나눔고딕" pitchFamily="50" charset="-127"/>
              <a:cs typeface="조선일보명조"/>
            </a:endParaRPr>
          </a:p>
        </p:txBody>
      </p:sp>
      <p:sp>
        <p:nvSpPr>
          <p:cNvPr id="28" name="직사각형 27">
            <a:extLst>
              <a:ext uri="{FF2B5EF4-FFF2-40B4-BE49-F238E27FC236}">
                <a16:creationId xmlns:a16="http://schemas.microsoft.com/office/drawing/2014/main" id="{94716CCF-0022-A6E3-8D08-F1A8C0180EDD}"/>
              </a:ext>
            </a:extLst>
          </p:cNvPr>
          <p:cNvSpPr/>
          <p:nvPr/>
        </p:nvSpPr>
        <p:spPr bwMode="auto">
          <a:xfrm>
            <a:off x="6598522" y="1792700"/>
            <a:ext cx="1094280" cy="507831"/>
          </a:xfrm>
          <a:prstGeom prst="rect">
            <a:avLst/>
          </a:prstGeom>
          <a:noFill/>
          <a:ln w="38100" cap="rnd" cmpd="sng" algn="ctr">
            <a:no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68580" tIns="68580" rIns="68580" bIns="68580" numCol="1" rtlCol="0" anchor="t" anchorCtr="0" compatLnSpc="1">
            <a:prstTxWarp prst="textNoShape">
              <a:avLst/>
            </a:prstTxWarp>
            <a:spAutoFit/>
          </a:bodyPr>
          <a:lstStyle/>
          <a:p>
            <a:pPr defTabSz="685800" fontAlgn="base">
              <a:spcBef>
                <a:spcPct val="0"/>
              </a:spcBef>
              <a:spcAft>
                <a:spcPct val="0"/>
              </a:spcAft>
            </a:pPr>
            <a:r>
              <a:rPr kumimoji="1" lang="en-US" altLang="ko-KR" sz="2400" dirty="0">
                <a:solidFill>
                  <a:srgbClr val="E7E200"/>
                </a:solidFill>
                <a:effectLst>
                  <a:outerShdw blurRad="38100" dist="38100" dir="2700000" algn="tl">
                    <a:srgbClr val="000000">
                      <a:alpha val="43137"/>
                    </a:srgbClr>
                  </a:outerShdw>
                </a:effectLst>
                <a:latin typeface="나눔스퀘어 ExtraBold" panose="020B0600000101010101" pitchFamily="50" charset="-127"/>
                <a:ea typeface="나눔스퀘어 ExtraBold" panose="020B0600000101010101" pitchFamily="50" charset="-127"/>
                <a:cs typeface="조선일보명조"/>
              </a:rPr>
              <a:t>Actor</a:t>
            </a:r>
            <a:endParaRPr kumimoji="1" lang="ko-KR" altLang="en-US" sz="2400" dirty="0">
              <a:solidFill>
                <a:srgbClr val="E7E200"/>
              </a:solidFill>
              <a:effectLst>
                <a:outerShdw blurRad="38100" dist="38100" dir="2700000" algn="tl">
                  <a:srgbClr val="000000">
                    <a:alpha val="43137"/>
                  </a:srgbClr>
                </a:outerShdw>
              </a:effectLst>
              <a:latin typeface="나눔스퀘어 ExtraBold" panose="020B0600000101010101" pitchFamily="50" charset="-127"/>
              <a:ea typeface="나눔스퀘어 ExtraBold" panose="020B0600000101010101" pitchFamily="50" charset="-127"/>
              <a:cs typeface="조선일보명조"/>
            </a:endParaRPr>
          </a:p>
        </p:txBody>
      </p:sp>
      <p:sp>
        <p:nvSpPr>
          <p:cNvPr id="29" name="타원 28">
            <a:extLst>
              <a:ext uri="{FF2B5EF4-FFF2-40B4-BE49-F238E27FC236}">
                <a16:creationId xmlns:a16="http://schemas.microsoft.com/office/drawing/2014/main" id="{C055D65E-23F2-CF29-1B45-F62A8EBD770E}"/>
              </a:ext>
            </a:extLst>
          </p:cNvPr>
          <p:cNvSpPr/>
          <p:nvPr/>
        </p:nvSpPr>
        <p:spPr bwMode="auto">
          <a:xfrm>
            <a:off x="498261" y="2716026"/>
            <a:ext cx="588188" cy="613646"/>
          </a:xfrm>
          <a:prstGeom prst="ellipse">
            <a:avLst/>
          </a:prstGeom>
          <a:noFill/>
          <a:ln w="76200" cap="rnd" cmpd="sng" algn="ctr">
            <a:solidFill>
              <a:schemeClr val="bg1">
                <a:lumMod val="65000"/>
              </a:schemeClr>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0" tIns="0" rIns="0" bIns="0" numCol="1" rtlCol="0" anchor="ctr" anchorCtr="0" compatLnSpc="1">
            <a:prstTxWarp prst="textNoShape">
              <a:avLst/>
            </a:prstTxWarp>
          </a:bodyPr>
          <a:lstStyle/>
          <a:p>
            <a:pPr algn="ctr" defTabSz="685800" fontAlgn="base">
              <a:spcBef>
                <a:spcPct val="0"/>
              </a:spcBef>
              <a:spcAft>
                <a:spcPct val="0"/>
              </a:spcAft>
            </a:pPr>
            <a:r>
              <a:rPr kumimoji="1" lang="en-US" altLang="ko-KR" sz="1200" dirty="0">
                <a:solidFill>
                  <a:schemeClr val="tx1">
                    <a:lumMod val="65000"/>
                    <a:lumOff val="35000"/>
                  </a:schemeClr>
                </a:solidFill>
                <a:effectLst>
                  <a:outerShdw blurRad="38100" dist="38100" dir="2700000" algn="tl">
                    <a:srgbClr val="000000">
                      <a:alpha val="43137"/>
                    </a:srgbClr>
                  </a:outerShdw>
                </a:effectLst>
                <a:latin typeface="나눔스퀘어 ExtraBold" panose="020B0600000101010101" pitchFamily="50" charset="-127"/>
                <a:ea typeface="나눔스퀘어 ExtraBold" panose="020B0600000101010101" pitchFamily="50" charset="-127"/>
                <a:cs typeface="조선일보명조"/>
              </a:rPr>
              <a:t>Actor </a:t>
            </a:r>
            <a:endParaRPr kumimoji="1" lang="ko-KR" altLang="en-US" sz="1200" dirty="0">
              <a:solidFill>
                <a:schemeClr val="tx1">
                  <a:lumMod val="65000"/>
                  <a:lumOff val="35000"/>
                </a:schemeClr>
              </a:solidFill>
              <a:effectLst>
                <a:outerShdw blurRad="38100" dist="38100" dir="2700000" algn="tl">
                  <a:srgbClr val="000000">
                    <a:alpha val="43137"/>
                  </a:srgbClr>
                </a:outerShdw>
              </a:effectLst>
              <a:latin typeface="나눔스퀘어 ExtraBold" panose="020B0600000101010101" pitchFamily="50" charset="-127"/>
              <a:ea typeface="나눔스퀘어 ExtraBold" panose="020B0600000101010101" pitchFamily="50" charset="-127"/>
              <a:cs typeface="조선일보명조"/>
            </a:endParaRPr>
          </a:p>
        </p:txBody>
      </p:sp>
      <p:sp>
        <p:nvSpPr>
          <p:cNvPr id="30" name="타원 29">
            <a:extLst>
              <a:ext uri="{FF2B5EF4-FFF2-40B4-BE49-F238E27FC236}">
                <a16:creationId xmlns:a16="http://schemas.microsoft.com/office/drawing/2014/main" id="{4C7C92FC-0C82-5B59-D158-ED0071B73FEF}"/>
              </a:ext>
            </a:extLst>
          </p:cNvPr>
          <p:cNvSpPr/>
          <p:nvPr/>
        </p:nvSpPr>
        <p:spPr bwMode="auto">
          <a:xfrm>
            <a:off x="1320913" y="2848502"/>
            <a:ext cx="588188" cy="613646"/>
          </a:xfrm>
          <a:prstGeom prst="ellipse">
            <a:avLst/>
          </a:prstGeom>
          <a:noFill/>
          <a:ln w="76200" cap="rnd" cmpd="sng" algn="ctr">
            <a:solidFill>
              <a:schemeClr val="bg1">
                <a:lumMod val="65000"/>
              </a:schemeClr>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0" tIns="0" rIns="0" bIns="0" numCol="1" rtlCol="0" anchor="ctr" anchorCtr="0" compatLnSpc="1">
            <a:prstTxWarp prst="textNoShape">
              <a:avLst/>
            </a:prstTxWarp>
          </a:bodyPr>
          <a:lstStyle/>
          <a:p>
            <a:pPr algn="ctr" defTabSz="685800" fontAlgn="base">
              <a:spcBef>
                <a:spcPct val="0"/>
              </a:spcBef>
              <a:spcAft>
                <a:spcPct val="0"/>
              </a:spcAft>
            </a:pPr>
            <a:r>
              <a:rPr kumimoji="1" lang="en-US" altLang="ko-KR" sz="1200" dirty="0">
                <a:solidFill>
                  <a:schemeClr val="tx1">
                    <a:lumMod val="65000"/>
                    <a:lumOff val="35000"/>
                  </a:schemeClr>
                </a:solidFill>
                <a:effectLst>
                  <a:outerShdw blurRad="38100" dist="38100" dir="2700000" algn="tl">
                    <a:srgbClr val="000000">
                      <a:alpha val="43137"/>
                    </a:srgbClr>
                  </a:outerShdw>
                </a:effectLst>
                <a:latin typeface="나눔스퀘어 ExtraBold" panose="020B0600000101010101" pitchFamily="50" charset="-127"/>
                <a:ea typeface="나눔스퀘어 ExtraBold" panose="020B0600000101010101" pitchFamily="50" charset="-127"/>
                <a:cs typeface="조선일보명조"/>
              </a:rPr>
              <a:t>Actor </a:t>
            </a:r>
            <a:endParaRPr kumimoji="1" lang="ko-KR" altLang="en-US" sz="1200" dirty="0">
              <a:solidFill>
                <a:schemeClr val="tx1">
                  <a:lumMod val="65000"/>
                  <a:lumOff val="35000"/>
                </a:schemeClr>
              </a:solidFill>
              <a:effectLst>
                <a:outerShdw blurRad="38100" dist="38100" dir="2700000" algn="tl">
                  <a:srgbClr val="000000">
                    <a:alpha val="43137"/>
                  </a:srgbClr>
                </a:outerShdw>
              </a:effectLst>
              <a:latin typeface="나눔스퀘어 ExtraBold" panose="020B0600000101010101" pitchFamily="50" charset="-127"/>
              <a:ea typeface="나눔스퀘어 ExtraBold" panose="020B0600000101010101" pitchFamily="50" charset="-127"/>
              <a:cs typeface="조선일보명조"/>
            </a:endParaRPr>
          </a:p>
        </p:txBody>
      </p:sp>
      <p:sp>
        <p:nvSpPr>
          <p:cNvPr id="31" name="타원 30">
            <a:extLst>
              <a:ext uri="{FF2B5EF4-FFF2-40B4-BE49-F238E27FC236}">
                <a16:creationId xmlns:a16="http://schemas.microsoft.com/office/drawing/2014/main" id="{ADD89CCD-78E8-27A9-B372-66CA933D8E23}"/>
              </a:ext>
            </a:extLst>
          </p:cNvPr>
          <p:cNvSpPr/>
          <p:nvPr/>
        </p:nvSpPr>
        <p:spPr bwMode="auto">
          <a:xfrm>
            <a:off x="1004065" y="3570818"/>
            <a:ext cx="588188" cy="613646"/>
          </a:xfrm>
          <a:prstGeom prst="ellipse">
            <a:avLst/>
          </a:prstGeom>
          <a:noFill/>
          <a:ln w="76200" cap="rnd" cmpd="sng" algn="ctr">
            <a:solidFill>
              <a:schemeClr val="bg1">
                <a:lumMod val="65000"/>
              </a:schemeClr>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0" tIns="0" rIns="0" bIns="0" numCol="1" rtlCol="0" anchor="ctr" anchorCtr="0" compatLnSpc="1">
            <a:prstTxWarp prst="textNoShape">
              <a:avLst/>
            </a:prstTxWarp>
          </a:bodyPr>
          <a:lstStyle/>
          <a:p>
            <a:pPr algn="ctr" defTabSz="685800" fontAlgn="base">
              <a:spcBef>
                <a:spcPct val="0"/>
              </a:spcBef>
              <a:spcAft>
                <a:spcPct val="0"/>
              </a:spcAft>
            </a:pPr>
            <a:r>
              <a:rPr kumimoji="1" lang="en-US" altLang="ko-KR" sz="1200" dirty="0">
                <a:solidFill>
                  <a:schemeClr val="tx1">
                    <a:lumMod val="65000"/>
                    <a:lumOff val="35000"/>
                  </a:schemeClr>
                </a:solidFill>
                <a:effectLst>
                  <a:outerShdw blurRad="38100" dist="38100" dir="2700000" algn="tl">
                    <a:srgbClr val="000000">
                      <a:alpha val="43137"/>
                    </a:srgbClr>
                  </a:outerShdw>
                </a:effectLst>
                <a:latin typeface="나눔스퀘어 ExtraBold" panose="020B0600000101010101" pitchFamily="50" charset="-127"/>
                <a:ea typeface="나눔스퀘어 ExtraBold" panose="020B0600000101010101" pitchFamily="50" charset="-127"/>
                <a:cs typeface="조선일보명조"/>
              </a:rPr>
              <a:t>Actor </a:t>
            </a:r>
            <a:endParaRPr kumimoji="1" lang="ko-KR" altLang="en-US" sz="1200" dirty="0">
              <a:solidFill>
                <a:schemeClr val="tx1">
                  <a:lumMod val="65000"/>
                  <a:lumOff val="35000"/>
                </a:schemeClr>
              </a:solidFill>
              <a:effectLst>
                <a:outerShdw blurRad="38100" dist="38100" dir="2700000" algn="tl">
                  <a:srgbClr val="000000">
                    <a:alpha val="43137"/>
                  </a:srgbClr>
                </a:outerShdw>
              </a:effectLst>
              <a:latin typeface="나눔스퀘어 ExtraBold" panose="020B0600000101010101" pitchFamily="50" charset="-127"/>
              <a:ea typeface="나눔스퀘어 ExtraBold" panose="020B0600000101010101" pitchFamily="50" charset="-127"/>
              <a:cs typeface="조선일보명조"/>
            </a:endParaRPr>
          </a:p>
        </p:txBody>
      </p:sp>
      <p:sp>
        <p:nvSpPr>
          <p:cNvPr id="32" name="타원 31">
            <a:extLst>
              <a:ext uri="{FF2B5EF4-FFF2-40B4-BE49-F238E27FC236}">
                <a16:creationId xmlns:a16="http://schemas.microsoft.com/office/drawing/2014/main" id="{21AD32FB-1210-BF80-1182-9F6893E56348}"/>
              </a:ext>
            </a:extLst>
          </p:cNvPr>
          <p:cNvSpPr/>
          <p:nvPr/>
        </p:nvSpPr>
        <p:spPr bwMode="auto">
          <a:xfrm>
            <a:off x="1987105" y="3353730"/>
            <a:ext cx="588188" cy="613646"/>
          </a:xfrm>
          <a:prstGeom prst="ellipse">
            <a:avLst/>
          </a:prstGeom>
          <a:noFill/>
          <a:ln w="76200" cap="rnd" cmpd="sng" algn="ctr">
            <a:solidFill>
              <a:schemeClr val="bg1">
                <a:lumMod val="65000"/>
              </a:schemeClr>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0" tIns="0" rIns="0" bIns="0" numCol="1" rtlCol="0" anchor="ctr" anchorCtr="0" compatLnSpc="1">
            <a:prstTxWarp prst="textNoShape">
              <a:avLst/>
            </a:prstTxWarp>
          </a:bodyPr>
          <a:lstStyle/>
          <a:p>
            <a:pPr algn="ctr" defTabSz="685800" fontAlgn="base">
              <a:spcBef>
                <a:spcPct val="0"/>
              </a:spcBef>
              <a:spcAft>
                <a:spcPct val="0"/>
              </a:spcAft>
            </a:pPr>
            <a:r>
              <a:rPr kumimoji="1" lang="en-US" altLang="ko-KR" sz="1200" dirty="0">
                <a:solidFill>
                  <a:schemeClr val="tx1">
                    <a:lumMod val="65000"/>
                    <a:lumOff val="35000"/>
                  </a:schemeClr>
                </a:solidFill>
                <a:effectLst>
                  <a:outerShdw blurRad="38100" dist="38100" dir="2700000" algn="tl">
                    <a:srgbClr val="000000">
                      <a:alpha val="43137"/>
                    </a:srgbClr>
                  </a:outerShdw>
                </a:effectLst>
                <a:latin typeface="나눔스퀘어 ExtraBold" panose="020B0600000101010101" pitchFamily="50" charset="-127"/>
                <a:ea typeface="나눔스퀘어 ExtraBold" panose="020B0600000101010101" pitchFamily="50" charset="-127"/>
                <a:cs typeface="조선일보명조"/>
              </a:rPr>
              <a:t>Actor </a:t>
            </a:r>
            <a:endParaRPr kumimoji="1" lang="ko-KR" altLang="en-US" sz="1200" dirty="0">
              <a:solidFill>
                <a:schemeClr val="tx1">
                  <a:lumMod val="65000"/>
                  <a:lumOff val="35000"/>
                </a:schemeClr>
              </a:solidFill>
              <a:effectLst>
                <a:outerShdw blurRad="38100" dist="38100" dir="2700000" algn="tl">
                  <a:srgbClr val="000000">
                    <a:alpha val="43137"/>
                  </a:srgbClr>
                </a:outerShdw>
              </a:effectLst>
              <a:latin typeface="나눔스퀘어 ExtraBold" panose="020B0600000101010101" pitchFamily="50" charset="-127"/>
              <a:ea typeface="나눔스퀘어 ExtraBold" panose="020B0600000101010101" pitchFamily="50" charset="-127"/>
              <a:cs typeface="조선일보명조"/>
            </a:endParaRPr>
          </a:p>
        </p:txBody>
      </p:sp>
      <p:sp>
        <p:nvSpPr>
          <p:cNvPr id="33" name="타원 32">
            <a:extLst>
              <a:ext uri="{FF2B5EF4-FFF2-40B4-BE49-F238E27FC236}">
                <a16:creationId xmlns:a16="http://schemas.microsoft.com/office/drawing/2014/main" id="{3373051E-D397-E7CB-061F-8CB2AFC46602}"/>
              </a:ext>
            </a:extLst>
          </p:cNvPr>
          <p:cNvSpPr/>
          <p:nvPr/>
        </p:nvSpPr>
        <p:spPr bwMode="auto">
          <a:xfrm>
            <a:off x="1957752" y="2354440"/>
            <a:ext cx="588188" cy="613646"/>
          </a:xfrm>
          <a:prstGeom prst="ellipse">
            <a:avLst/>
          </a:prstGeom>
          <a:noFill/>
          <a:ln w="76200" cap="rnd" cmpd="sng" algn="ctr">
            <a:solidFill>
              <a:schemeClr val="bg1">
                <a:lumMod val="65000"/>
              </a:schemeClr>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0" tIns="0" rIns="0" bIns="0" numCol="1" rtlCol="0" anchor="ctr" anchorCtr="0" compatLnSpc="1">
            <a:prstTxWarp prst="textNoShape">
              <a:avLst/>
            </a:prstTxWarp>
          </a:bodyPr>
          <a:lstStyle/>
          <a:p>
            <a:pPr algn="ctr" defTabSz="685800" fontAlgn="base">
              <a:spcBef>
                <a:spcPct val="0"/>
              </a:spcBef>
              <a:spcAft>
                <a:spcPct val="0"/>
              </a:spcAft>
            </a:pPr>
            <a:r>
              <a:rPr kumimoji="1" lang="en-US" altLang="ko-KR" sz="1200" dirty="0">
                <a:solidFill>
                  <a:schemeClr val="tx1">
                    <a:lumMod val="65000"/>
                    <a:lumOff val="35000"/>
                  </a:schemeClr>
                </a:solidFill>
                <a:effectLst>
                  <a:outerShdw blurRad="38100" dist="38100" dir="2700000" algn="tl">
                    <a:srgbClr val="000000">
                      <a:alpha val="43137"/>
                    </a:srgbClr>
                  </a:outerShdw>
                </a:effectLst>
                <a:latin typeface="나눔스퀘어 ExtraBold" panose="020B0600000101010101" pitchFamily="50" charset="-127"/>
                <a:ea typeface="나눔스퀘어 ExtraBold" panose="020B0600000101010101" pitchFamily="50" charset="-127"/>
                <a:cs typeface="조선일보명조"/>
              </a:rPr>
              <a:t>Actor </a:t>
            </a:r>
            <a:endParaRPr kumimoji="1" lang="ko-KR" altLang="en-US" sz="1200" dirty="0">
              <a:solidFill>
                <a:schemeClr val="tx1">
                  <a:lumMod val="65000"/>
                  <a:lumOff val="35000"/>
                </a:schemeClr>
              </a:solidFill>
              <a:effectLst>
                <a:outerShdw blurRad="38100" dist="38100" dir="2700000" algn="tl">
                  <a:srgbClr val="000000">
                    <a:alpha val="43137"/>
                  </a:srgbClr>
                </a:outerShdw>
              </a:effectLst>
              <a:latin typeface="나눔스퀘어 ExtraBold" panose="020B0600000101010101" pitchFamily="50" charset="-127"/>
              <a:ea typeface="나눔스퀘어 ExtraBold" panose="020B0600000101010101" pitchFamily="50" charset="-127"/>
              <a:cs typeface="조선일보명조"/>
            </a:endParaRPr>
          </a:p>
        </p:txBody>
      </p:sp>
      <p:sp>
        <p:nvSpPr>
          <p:cNvPr id="34" name="직사각형 33">
            <a:extLst>
              <a:ext uri="{FF2B5EF4-FFF2-40B4-BE49-F238E27FC236}">
                <a16:creationId xmlns:a16="http://schemas.microsoft.com/office/drawing/2014/main" id="{96CCB907-CE39-61A7-C0D9-8AE450F1FE58}"/>
              </a:ext>
            </a:extLst>
          </p:cNvPr>
          <p:cNvSpPr/>
          <p:nvPr/>
        </p:nvSpPr>
        <p:spPr bwMode="auto">
          <a:xfrm>
            <a:off x="262735" y="2188381"/>
            <a:ext cx="2536697" cy="2168612"/>
          </a:xfrm>
          <a:prstGeom prst="rect">
            <a:avLst/>
          </a:prstGeom>
          <a:noFill/>
          <a:ln w="38100" cap="rnd" cmpd="sng" algn="ctr">
            <a:solidFill>
              <a:schemeClr val="bg1">
                <a:lumMod val="65000"/>
              </a:schemeClr>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68580" tIns="68580" rIns="68580" bIns="68580" numCol="1" rtlCol="0" anchor="ctr" anchorCtr="0" compatLnSpc="1">
            <a:prstTxWarp prst="textNoShape">
              <a:avLst/>
            </a:prstTxWarp>
            <a:noAutofit/>
          </a:bodyPr>
          <a:lstStyle/>
          <a:p>
            <a:pPr algn="ctr" defTabSz="685800" fontAlgn="base">
              <a:spcBef>
                <a:spcPct val="0"/>
              </a:spcBef>
              <a:spcAft>
                <a:spcPct val="0"/>
              </a:spcAft>
            </a:pPr>
            <a:endParaRPr kumimoji="1" lang="ko-KR" altLang="en-US" sz="2400" b="1" dirty="0">
              <a:solidFill>
                <a:srgbClr val="E7E200"/>
              </a:solidFill>
              <a:effectLst>
                <a:outerShdw blurRad="38100" dist="38100" dir="2700000" algn="tl">
                  <a:srgbClr val="000000">
                    <a:alpha val="43137"/>
                  </a:srgbClr>
                </a:outerShdw>
              </a:effectLst>
              <a:latin typeface="나눔스퀘어 ExtraBold" panose="020B0600000101010101" pitchFamily="50" charset="-127"/>
              <a:ea typeface="나눔스퀘어 ExtraBold" panose="020B0600000101010101" pitchFamily="50" charset="-127"/>
              <a:cs typeface="조선일보명조"/>
            </a:endParaRPr>
          </a:p>
        </p:txBody>
      </p:sp>
      <p:sp>
        <p:nvSpPr>
          <p:cNvPr id="35" name="직사각형 34">
            <a:extLst>
              <a:ext uri="{FF2B5EF4-FFF2-40B4-BE49-F238E27FC236}">
                <a16:creationId xmlns:a16="http://schemas.microsoft.com/office/drawing/2014/main" id="{776A99C6-C879-486C-65E1-25018DB5FB45}"/>
              </a:ext>
            </a:extLst>
          </p:cNvPr>
          <p:cNvSpPr/>
          <p:nvPr/>
        </p:nvSpPr>
        <p:spPr bwMode="auto">
          <a:xfrm>
            <a:off x="289560" y="2246492"/>
            <a:ext cx="1466850" cy="507831"/>
          </a:xfrm>
          <a:prstGeom prst="rect">
            <a:avLst/>
          </a:prstGeom>
          <a:noFill/>
          <a:ln w="38100" cap="rnd" cmpd="sng" algn="ctr">
            <a:no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68580" tIns="68580" rIns="68580" bIns="68580" numCol="1" rtlCol="0" anchor="t" anchorCtr="0" compatLnSpc="1">
            <a:prstTxWarp prst="textNoShape">
              <a:avLst/>
            </a:prstTxWarp>
            <a:spAutoFit/>
          </a:bodyPr>
          <a:lstStyle/>
          <a:p>
            <a:pPr defTabSz="685800" fontAlgn="base">
              <a:spcBef>
                <a:spcPct val="0"/>
              </a:spcBef>
              <a:spcAft>
                <a:spcPct val="0"/>
              </a:spcAft>
            </a:pPr>
            <a:r>
              <a:rPr kumimoji="1" lang="en-US" altLang="ko-KR" sz="2400" dirty="0">
                <a:solidFill>
                  <a:schemeClr val="tx1">
                    <a:lumMod val="65000"/>
                    <a:lumOff val="35000"/>
                  </a:schemeClr>
                </a:solidFill>
                <a:effectLst>
                  <a:outerShdw blurRad="38100" dist="38100" dir="2700000" algn="tl">
                    <a:srgbClr val="000000">
                      <a:alpha val="43137"/>
                    </a:srgbClr>
                  </a:outerShdw>
                </a:effectLst>
                <a:latin typeface="나눔스퀘어 ExtraBold" panose="020B0600000101010101" pitchFamily="50" charset="-127"/>
                <a:ea typeface="나눔스퀘어 ExtraBold" panose="020B0600000101010101" pitchFamily="50" charset="-127"/>
                <a:cs typeface="조선일보명조"/>
              </a:rPr>
              <a:t>Level</a:t>
            </a:r>
            <a:endParaRPr kumimoji="1" lang="ko-KR" altLang="en-US" sz="2400" dirty="0">
              <a:solidFill>
                <a:schemeClr val="tx1">
                  <a:lumMod val="65000"/>
                  <a:lumOff val="35000"/>
                </a:schemeClr>
              </a:solidFill>
              <a:effectLst>
                <a:outerShdw blurRad="38100" dist="38100" dir="2700000" algn="tl">
                  <a:srgbClr val="000000">
                    <a:alpha val="43137"/>
                  </a:srgbClr>
                </a:outerShdw>
              </a:effectLst>
              <a:latin typeface="나눔스퀘어 ExtraBold" panose="020B0600000101010101" pitchFamily="50" charset="-127"/>
              <a:ea typeface="나눔스퀘어 ExtraBold" panose="020B0600000101010101" pitchFamily="50" charset="-127"/>
              <a:cs typeface="조선일보명조"/>
            </a:endParaRPr>
          </a:p>
        </p:txBody>
      </p:sp>
      <p:sp>
        <p:nvSpPr>
          <p:cNvPr id="36" name="Content Placeholder 17">
            <a:extLst>
              <a:ext uri="{FF2B5EF4-FFF2-40B4-BE49-F238E27FC236}">
                <a16:creationId xmlns:a16="http://schemas.microsoft.com/office/drawing/2014/main" id="{3B8396BA-7E61-7D1C-7AFC-452335517FC1}"/>
              </a:ext>
            </a:extLst>
          </p:cNvPr>
          <p:cNvSpPr txBox="1">
            <a:spLocks/>
          </p:cNvSpPr>
          <p:nvPr/>
        </p:nvSpPr>
        <p:spPr>
          <a:xfrm>
            <a:off x="447059" y="4267801"/>
            <a:ext cx="2165980" cy="484748"/>
          </a:xfrm>
          <a:prstGeom prst="rect">
            <a:avLst/>
          </a:prstGeom>
          <a:solidFill>
            <a:schemeClr val="bg1">
              <a:lumMod val="85000"/>
            </a:schemeClr>
          </a:solidFill>
          <a:ln w="28575">
            <a:solidFill>
              <a:srgbClr val="FF0000"/>
            </a:solidFill>
          </a:ln>
        </p:spPr>
        <p:txBody>
          <a:bodyPr vert="horz" wrap="square" lIns="68580" tIns="34290" rIns="68580" bIns="34290" rtlCol="0" anchor="ctr" anchorCtr="0">
            <a:sp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spcAft>
                <a:spcPts val="0"/>
              </a:spcAft>
              <a:buNone/>
            </a:pPr>
            <a:r>
              <a:rPr lang="ko-KR" altLang="en-US" sz="1350" b="1" dirty="0">
                <a:solidFill>
                  <a:srgbClr val="D24726"/>
                </a:solidFill>
                <a:latin typeface="+mn-ea"/>
              </a:rPr>
              <a:t>레벨 상에 배치된 </a:t>
            </a:r>
            <a:r>
              <a:rPr lang="ko-KR" altLang="en-US" sz="1350" b="1" dirty="0" err="1">
                <a:solidFill>
                  <a:srgbClr val="D24726"/>
                </a:solidFill>
                <a:latin typeface="+mn-ea"/>
              </a:rPr>
              <a:t>액터들은</a:t>
            </a:r>
            <a:endParaRPr lang="en-US" altLang="ko-KR" sz="1350" b="1" dirty="0">
              <a:solidFill>
                <a:srgbClr val="D24726"/>
              </a:solidFill>
              <a:latin typeface="+mn-ea"/>
            </a:endParaRPr>
          </a:p>
          <a:p>
            <a:pPr marL="0" indent="0" algn="ctr">
              <a:lnSpc>
                <a:spcPct val="100000"/>
              </a:lnSpc>
              <a:spcBef>
                <a:spcPts val="0"/>
              </a:spcBef>
              <a:spcAft>
                <a:spcPts val="0"/>
              </a:spcAft>
              <a:buNone/>
            </a:pPr>
            <a:r>
              <a:rPr lang="ko-KR" altLang="en-US" sz="1350" b="1" dirty="0">
                <a:solidFill>
                  <a:srgbClr val="D24726"/>
                </a:solidFill>
                <a:latin typeface="+mn-ea"/>
              </a:rPr>
              <a:t>이미 생성된 상태임</a:t>
            </a:r>
            <a:r>
              <a:rPr lang="en-US" altLang="ko-KR" sz="1350" b="1" dirty="0">
                <a:solidFill>
                  <a:srgbClr val="D24726"/>
                </a:solidFill>
                <a:latin typeface="+mn-ea"/>
              </a:rPr>
              <a: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5361971-8052-55FE-438A-08159C2D066E}"/>
              </a:ext>
            </a:extLst>
          </p:cNvPr>
          <p:cNvSpPr>
            <a:spLocks noGrp="1"/>
          </p:cNvSpPr>
          <p:nvPr>
            <p:ph type="title"/>
          </p:nvPr>
        </p:nvSpPr>
        <p:spPr>
          <a:xfrm>
            <a:off x="55202" y="104895"/>
            <a:ext cx="8981294" cy="414343"/>
          </a:xfrm>
        </p:spPr>
        <p:txBody>
          <a:bodyPr wrap="square"/>
          <a:lstStyle/>
          <a:p>
            <a:r>
              <a:rPr lang="ko-KR" altLang="en-US"/>
              <a:t>실습 </a:t>
            </a:r>
            <a:r>
              <a:rPr lang="en-US" altLang="ko-KR"/>
              <a:t>1. </a:t>
            </a:r>
            <a:r>
              <a:rPr lang="ko-KR" altLang="en-US"/>
              <a:t>액터 이동</a:t>
            </a:r>
            <a:endParaRPr lang="ko-KR" altLang="en-US" dirty="0"/>
          </a:p>
        </p:txBody>
      </p:sp>
      <p:sp>
        <p:nvSpPr>
          <p:cNvPr id="3" name="내용 개체 틀 2">
            <a:extLst>
              <a:ext uri="{FF2B5EF4-FFF2-40B4-BE49-F238E27FC236}">
                <a16:creationId xmlns:a16="http://schemas.microsoft.com/office/drawing/2014/main" id="{42A0F3DB-D341-0B49-5FF7-A933BB57DE03}"/>
              </a:ext>
            </a:extLst>
          </p:cNvPr>
          <p:cNvSpPr>
            <a:spLocks noGrp="1"/>
          </p:cNvSpPr>
          <p:nvPr>
            <p:ph idx="1"/>
          </p:nvPr>
        </p:nvSpPr>
        <p:spPr>
          <a:xfrm>
            <a:off x="55202" y="618982"/>
            <a:ext cx="8981294" cy="752618"/>
          </a:xfrm>
        </p:spPr>
        <p:txBody>
          <a:bodyPr wrap="square"/>
          <a:lstStyle/>
          <a:p>
            <a:r>
              <a:rPr lang="ko-KR" altLang="en-US"/>
              <a:t>블루프린트의 생성과 편집</a:t>
            </a:r>
            <a:endParaRPr lang="en-US" altLang="ko-KR"/>
          </a:p>
          <a:p>
            <a:r>
              <a:rPr lang="ko-KR" altLang="en-US"/>
              <a:t>액터의 이동 구현</a:t>
            </a:r>
            <a:endParaRPr lang="en-US" altLang="ko-KR"/>
          </a:p>
        </p:txBody>
      </p:sp>
      <p:pic>
        <p:nvPicPr>
          <p:cNvPr id="4" name="Picture 4">
            <a:extLst>
              <a:ext uri="{FF2B5EF4-FFF2-40B4-BE49-F238E27FC236}">
                <a16:creationId xmlns:a16="http://schemas.microsoft.com/office/drawing/2014/main" id="{06D8DBE5-F1D5-44E2-1297-1838FF8AAF96}"/>
              </a:ext>
            </a:extLst>
          </p:cNvPr>
          <p:cNvPicPr>
            <a:picLocks noChangeAspect="1"/>
          </p:cNvPicPr>
          <p:nvPr/>
        </p:nvPicPr>
        <p:blipFill>
          <a:blip r:embed="rId3"/>
          <a:stretch>
            <a:fillRect/>
          </a:stretch>
        </p:blipFill>
        <p:spPr>
          <a:xfrm>
            <a:off x="3586309" y="1632493"/>
            <a:ext cx="1919079" cy="289202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0E51EF-6016-452F-0A31-CFA522F7504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3C22EF8D-C54E-D288-3FED-A6AAE2D70FE6}"/>
              </a:ext>
            </a:extLst>
          </p:cNvPr>
          <p:cNvSpPr>
            <a:spLocks noGrp="1"/>
          </p:cNvSpPr>
          <p:nvPr>
            <p:ph type="title"/>
          </p:nvPr>
        </p:nvSpPr>
        <p:spPr>
          <a:xfrm>
            <a:off x="55202" y="104895"/>
            <a:ext cx="8981294" cy="414343"/>
          </a:xfrm>
        </p:spPr>
        <p:txBody>
          <a:bodyPr wrap="square"/>
          <a:lstStyle/>
          <a:p>
            <a:r>
              <a:rPr lang="en-US" altLang="ko-KR"/>
              <a:t>2</a:t>
            </a:r>
            <a:r>
              <a:rPr lang="ko-KR" altLang="en-US"/>
              <a:t>차시</a:t>
            </a:r>
            <a:r>
              <a:rPr lang="en-US" altLang="ko-KR"/>
              <a:t>. </a:t>
            </a:r>
            <a:r>
              <a:rPr lang="ko-KR" altLang="en-US"/>
              <a:t>블루프린트</a:t>
            </a:r>
            <a:endParaRPr lang="ko-KR" altLang="en-US" dirty="0"/>
          </a:p>
        </p:txBody>
      </p:sp>
      <p:sp>
        <p:nvSpPr>
          <p:cNvPr id="3" name="내용 개체 틀 2">
            <a:extLst>
              <a:ext uri="{FF2B5EF4-FFF2-40B4-BE49-F238E27FC236}">
                <a16:creationId xmlns:a16="http://schemas.microsoft.com/office/drawing/2014/main" id="{2089E10E-08A4-CEA9-FCFD-315C1FB71CB1}"/>
              </a:ext>
            </a:extLst>
          </p:cNvPr>
          <p:cNvSpPr>
            <a:spLocks noGrp="1"/>
          </p:cNvSpPr>
          <p:nvPr>
            <p:ph idx="1"/>
          </p:nvPr>
        </p:nvSpPr>
        <p:spPr>
          <a:xfrm>
            <a:off x="55202" y="618982"/>
            <a:ext cx="8981294" cy="4275028"/>
          </a:xfrm>
        </p:spPr>
        <p:txBody>
          <a:bodyPr wrap="square"/>
          <a:lstStyle/>
          <a:p>
            <a:r>
              <a:rPr lang="ko-KR" altLang="en-US"/>
              <a:t>변수</a:t>
            </a:r>
          </a:p>
        </p:txBody>
      </p:sp>
    </p:spTree>
    <p:extLst>
      <p:ext uri="{BB962C8B-B14F-4D97-AF65-F5344CB8AC3E}">
        <p14:creationId xmlns:p14="http://schemas.microsoft.com/office/powerpoint/2010/main" val="35466487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변수</a:t>
            </a:r>
            <a:endParaRPr lang="en-US" dirty="0"/>
          </a:p>
        </p:txBody>
      </p:sp>
      <p:sp>
        <p:nvSpPr>
          <p:cNvPr id="3" name="내용 개체 틀 2"/>
          <p:cNvSpPr>
            <a:spLocks noGrp="1"/>
          </p:cNvSpPr>
          <p:nvPr>
            <p:ph idx="1"/>
          </p:nvPr>
        </p:nvSpPr>
        <p:spPr>
          <a:xfrm>
            <a:off x="55202" y="618982"/>
            <a:ext cx="8981294" cy="1541002"/>
          </a:xfrm>
        </p:spPr>
        <p:txBody>
          <a:bodyPr/>
          <a:lstStyle/>
          <a:p>
            <a:r>
              <a:rPr lang="ko-KR" altLang="en-US" b="0"/>
              <a:t>변수란</a:t>
            </a:r>
            <a:r>
              <a:rPr lang="en-US" altLang="ko-KR" b="0"/>
              <a:t>? </a:t>
            </a:r>
            <a:r>
              <a:rPr lang="ko-KR" altLang="en-US" b="0"/>
              <a:t>프로그래밍 언어와 동일한 개념 </a:t>
            </a:r>
            <a:r>
              <a:rPr lang="en-US" altLang="ko-KR" b="0"/>
              <a:t>— </a:t>
            </a:r>
            <a:r>
              <a:rPr lang="ko-KR" altLang="en-US" b="0"/>
              <a:t>값을 저장하고 사용하는 공간</a:t>
            </a:r>
            <a:endParaRPr lang="en-US" altLang="ko-KR" b="0"/>
          </a:p>
          <a:p>
            <a:r>
              <a:rPr lang="ko-KR" altLang="en-US" b="0"/>
              <a:t>변수 유형 지정 필수</a:t>
            </a:r>
            <a:r>
              <a:rPr lang="en-US" altLang="ko-KR" b="0"/>
              <a:t>: </a:t>
            </a:r>
            <a:r>
              <a:rPr lang="ko-KR" altLang="en-US" b="0"/>
              <a:t>변수는 다양한 을 가짐 </a:t>
            </a:r>
            <a:r>
              <a:rPr lang="en-US" altLang="ko-KR" b="0"/>
              <a:t>(</a:t>
            </a:r>
            <a:r>
              <a:rPr lang="ko-KR" altLang="en-US" b="0"/>
              <a:t>예</a:t>
            </a:r>
            <a:r>
              <a:rPr lang="en-US" altLang="ko-KR" b="0"/>
              <a:t>: Integer, Float, Boolean, String </a:t>
            </a:r>
            <a:r>
              <a:rPr lang="ko-KR" altLang="en-US" b="0"/>
              <a:t>등</a:t>
            </a:r>
            <a:r>
              <a:rPr lang="en-US" altLang="ko-KR" b="0"/>
              <a:t>)</a:t>
            </a:r>
          </a:p>
          <a:p>
            <a:r>
              <a:rPr lang="ko-KR" altLang="en-US" b="0"/>
              <a:t>블루프린트에서의 사용</a:t>
            </a:r>
            <a:endParaRPr lang="en-US" altLang="ko-KR" b="0"/>
          </a:p>
          <a:p>
            <a:pPr lvl="1"/>
            <a:r>
              <a:rPr lang="en-US" altLang="ko-KR" b="0"/>
              <a:t>Get: </a:t>
            </a:r>
            <a:r>
              <a:rPr lang="ko-KR" altLang="en-US" b="0"/>
              <a:t>변수에 저장된 값을 읽어올 때 사용</a:t>
            </a:r>
            <a:endParaRPr lang="en-US" altLang="ko-KR" b="0"/>
          </a:p>
          <a:p>
            <a:pPr lvl="1"/>
            <a:r>
              <a:rPr lang="en-US" altLang="ko-KR" b="0"/>
              <a:t>Set: </a:t>
            </a:r>
            <a:r>
              <a:rPr lang="ko-KR" altLang="en-US" b="0"/>
              <a:t>변수에 새로운 값을 저장</a:t>
            </a:r>
            <a:r>
              <a:rPr lang="en-US" altLang="ko-KR" b="0"/>
              <a:t>(</a:t>
            </a:r>
            <a:r>
              <a:rPr lang="ko-KR" altLang="en-US" b="0"/>
              <a:t>쓰기</a:t>
            </a:r>
            <a:r>
              <a:rPr lang="en-US" altLang="ko-KR" b="0"/>
              <a:t>)</a:t>
            </a:r>
            <a:r>
              <a:rPr lang="ko-KR" altLang="en-US" b="0"/>
              <a:t>할 때 사용</a:t>
            </a:r>
            <a:endParaRPr lang="en-US" dirty="0"/>
          </a:p>
        </p:txBody>
      </p:sp>
    </p:spTree>
    <p:extLst>
      <p:ext uri="{BB962C8B-B14F-4D97-AF65-F5344CB8AC3E}">
        <p14:creationId xmlns:p14="http://schemas.microsoft.com/office/powerpoint/2010/main" val="33685619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5361971-8052-55FE-438A-08159C2D066E}"/>
              </a:ext>
            </a:extLst>
          </p:cNvPr>
          <p:cNvSpPr>
            <a:spLocks noGrp="1"/>
          </p:cNvSpPr>
          <p:nvPr>
            <p:ph type="title"/>
          </p:nvPr>
        </p:nvSpPr>
        <p:spPr>
          <a:xfrm>
            <a:off x="55202" y="104895"/>
            <a:ext cx="8981294" cy="414343"/>
          </a:xfrm>
        </p:spPr>
        <p:txBody>
          <a:bodyPr wrap="square"/>
          <a:lstStyle/>
          <a:p>
            <a:r>
              <a:rPr lang="ko-KR" altLang="en-US"/>
              <a:t>실습 </a:t>
            </a:r>
            <a:r>
              <a:rPr lang="en-US" altLang="ko-KR"/>
              <a:t>2. </a:t>
            </a:r>
            <a:r>
              <a:rPr lang="ko-KR" altLang="en-US"/>
              <a:t>위아래로 출렁이는 트로피 만들기</a:t>
            </a:r>
            <a:endParaRPr lang="ko-KR" altLang="en-US" dirty="0"/>
          </a:p>
        </p:txBody>
      </p:sp>
      <p:sp>
        <p:nvSpPr>
          <p:cNvPr id="3" name="내용 개체 틀 2">
            <a:extLst>
              <a:ext uri="{FF2B5EF4-FFF2-40B4-BE49-F238E27FC236}">
                <a16:creationId xmlns:a16="http://schemas.microsoft.com/office/drawing/2014/main" id="{42A0F3DB-D341-0B49-5FF7-A933BB57DE03}"/>
              </a:ext>
            </a:extLst>
          </p:cNvPr>
          <p:cNvSpPr>
            <a:spLocks noGrp="1"/>
          </p:cNvSpPr>
          <p:nvPr>
            <p:ph idx="1"/>
          </p:nvPr>
        </p:nvSpPr>
        <p:spPr>
          <a:xfrm>
            <a:off x="55202" y="618982"/>
            <a:ext cx="8981294" cy="859298"/>
          </a:xfrm>
        </p:spPr>
        <p:txBody>
          <a:bodyPr wrap="square"/>
          <a:lstStyle/>
          <a:p>
            <a:r>
              <a:rPr lang="en-US" altLang="ko-KR"/>
              <a:t>BeginPlay </a:t>
            </a:r>
            <a:r>
              <a:rPr lang="ko-KR" altLang="en-US"/>
              <a:t>이벤트에서 시작 위치를 변수에 저장할 수 있다</a:t>
            </a:r>
            <a:r>
              <a:rPr lang="en-US" altLang="ko-KR"/>
              <a:t>.</a:t>
            </a:r>
          </a:p>
          <a:p>
            <a:r>
              <a:rPr lang="en-US" altLang="ko-KR"/>
              <a:t>Sin </a:t>
            </a:r>
            <a:r>
              <a:rPr lang="ko-KR" altLang="en-US"/>
              <a:t>함수와 </a:t>
            </a:r>
            <a:r>
              <a:rPr lang="en-US" altLang="ko-KR"/>
              <a:t>GetTimeSeconds</a:t>
            </a:r>
            <a:r>
              <a:rPr lang="ko-KR" altLang="en-US"/>
              <a:t>를 이용해 시간에 따라 반복되는 움직임을 만들 수 있다</a:t>
            </a:r>
            <a:r>
              <a:rPr lang="en-US" altLang="ko-KR"/>
              <a: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FAE75FE-EED8-6AF1-AA22-85E39D35FF26}"/>
              </a:ext>
            </a:extLst>
          </p:cNvPr>
          <p:cNvSpPr>
            <a:spLocks noGrp="1"/>
          </p:cNvSpPr>
          <p:nvPr>
            <p:ph type="title"/>
          </p:nvPr>
        </p:nvSpPr>
        <p:spPr/>
        <p:txBody>
          <a:bodyPr/>
          <a:lstStyle/>
          <a:p>
            <a:endParaRPr lang="ko-KR" altLang="en-US"/>
          </a:p>
        </p:txBody>
      </p:sp>
    </p:spTree>
    <p:extLst>
      <p:ext uri="{BB962C8B-B14F-4D97-AF65-F5344CB8AC3E}">
        <p14:creationId xmlns:p14="http://schemas.microsoft.com/office/powerpoint/2010/main" val="39899263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8DAEB60-55D1-4CD5-AE6F-0EFAF662AF99}"/>
              </a:ext>
            </a:extLst>
          </p:cNvPr>
          <p:cNvSpPr>
            <a:spLocks noGrp="1"/>
          </p:cNvSpPr>
          <p:nvPr>
            <p:ph type="title"/>
          </p:nvPr>
        </p:nvSpPr>
        <p:spPr/>
        <p:txBody>
          <a:bodyPr/>
          <a:lstStyle/>
          <a:p>
            <a:endParaRPr lang="ko-KR" altLang="en-US"/>
          </a:p>
        </p:txBody>
      </p:sp>
    </p:spTree>
    <p:extLst>
      <p:ext uri="{BB962C8B-B14F-4D97-AF65-F5344CB8AC3E}">
        <p14:creationId xmlns:p14="http://schemas.microsoft.com/office/powerpoint/2010/main" val="11138192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CAB1EA4-83AA-53ED-4BC4-EA7064EC67A1}"/>
              </a:ext>
            </a:extLst>
          </p:cNvPr>
          <p:cNvSpPr>
            <a:spLocks noGrp="1"/>
          </p:cNvSpPr>
          <p:nvPr>
            <p:ph type="title"/>
          </p:nvPr>
        </p:nvSpPr>
        <p:spPr>
          <a:xfrm>
            <a:off x="55202" y="104895"/>
            <a:ext cx="8981294" cy="414343"/>
          </a:xfrm>
        </p:spPr>
        <p:txBody>
          <a:bodyPr wrap="square"/>
          <a:lstStyle/>
          <a:p>
            <a:r>
              <a:rPr lang="en-US" altLang="ko-KR"/>
              <a:t>3</a:t>
            </a:r>
            <a:r>
              <a:rPr lang="ko-KR" altLang="en-US"/>
              <a:t>차시</a:t>
            </a:r>
            <a:r>
              <a:rPr lang="en-US" altLang="ko-KR"/>
              <a:t>. </a:t>
            </a:r>
            <a:r>
              <a:rPr lang="ko-KR" altLang="en-US"/>
              <a:t>이벤트 기반 프로그래밍과 레벨 구성</a:t>
            </a:r>
            <a:endParaRPr lang="ko-KR" altLang="en-US" dirty="0"/>
          </a:p>
        </p:txBody>
      </p:sp>
      <p:sp>
        <p:nvSpPr>
          <p:cNvPr id="3" name="내용 개체 틀 2">
            <a:extLst>
              <a:ext uri="{FF2B5EF4-FFF2-40B4-BE49-F238E27FC236}">
                <a16:creationId xmlns:a16="http://schemas.microsoft.com/office/drawing/2014/main" id="{8B811AA4-9DEF-9B13-DD3C-9CE8658E2345}"/>
              </a:ext>
            </a:extLst>
          </p:cNvPr>
          <p:cNvSpPr>
            <a:spLocks noGrp="1"/>
          </p:cNvSpPr>
          <p:nvPr>
            <p:ph idx="1"/>
          </p:nvPr>
        </p:nvSpPr>
        <p:spPr>
          <a:xfrm>
            <a:off x="55202" y="618982"/>
            <a:ext cx="8981294" cy="4275028"/>
          </a:xfrm>
        </p:spPr>
        <p:txBody>
          <a:bodyPr wrap="square"/>
          <a:lstStyle/>
          <a:p>
            <a:r>
              <a:rPr lang="ko-KR" altLang="en-US"/>
              <a:t>이벤트 기반 프로그래밍의 개념</a:t>
            </a:r>
          </a:p>
          <a:p>
            <a:r>
              <a:rPr lang="ko-KR" altLang="en-US"/>
              <a:t>충돌 이벤트를 이용한 아이템 획득 연출</a:t>
            </a:r>
          </a:p>
          <a:p>
            <a:r>
              <a:rPr lang="ko-KR" altLang="en-US"/>
              <a:t>팩트 레벨 액터와 레벨 인스턴스를 이용한 레벨 그룹화</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BDA2922-079D-4EC0-BCF5-8053049360E1}"/>
              </a:ext>
            </a:extLst>
          </p:cNvPr>
          <p:cNvSpPr>
            <a:spLocks noGrp="1"/>
          </p:cNvSpPr>
          <p:nvPr>
            <p:ph type="title"/>
          </p:nvPr>
        </p:nvSpPr>
        <p:spPr>
          <a:xfrm>
            <a:off x="55202" y="104895"/>
            <a:ext cx="8981294" cy="414343"/>
          </a:xfrm>
        </p:spPr>
        <p:txBody>
          <a:bodyPr wrap="square"/>
          <a:lstStyle/>
          <a:p>
            <a:r>
              <a:rPr lang="ko-KR" altLang="en-US"/>
              <a:t>블루프린트 클래스</a:t>
            </a:r>
            <a:endParaRPr lang="ko-KR" altLang="en-US" dirty="0"/>
          </a:p>
        </p:txBody>
      </p:sp>
      <p:sp>
        <p:nvSpPr>
          <p:cNvPr id="3" name="내용 개체 틀 2">
            <a:extLst>
              <a:ext uri="{FF2B5EF4-FFF2-40B4-BE49-F238E27FC236}">
                <a16:creationId xmlns:a16="http://schemas.microsoft.com/office/drawing/2014/main" id="{79B0F421-0FE8-44AE-86B6-151D0625309C}"/>
              </a:ext>
            </a:extLst>
          </p:cNvPr>
          <p:cNvSpPr>
            <a:spLocks noGrp="1"/>
          </p:cNvSpPr>
          <p:nvPr>
            <p:ph idx="1"/>
          </p:nvPr>
        </p:nvSpPr>
        <p:spPr>
          <a:xfrm>
            <a:off x="55202" y="618982"/>
            <a:ext cx="8981294" cy="1659398"/>
          </a:xfrm>
        </p:spPr>
        <p:txBody>
          <a:bodyPr wrap="square"/>
          <a:lstStyle/>
          <a:p>
            <a:r>
              <a:rPr lang="ko-KR" altLang="en-US"/>
              <a:t>가장 핵심적인 블루프린트 유형</a:t>
            </a:r>
            <a:r>
              <a:rPr lang="en-US" altLang="ko-KR"/>
              <a:t>. </a:t>
            </a:r>
            <a:r>
              <a:rPr lang="ko-KR" altLang="en-US"/>
              <a:t>그냥 블루프린트라고도 부름</a:t>
            </a:r>
            <a:r>
              <a:rPr lang="en-US" altLang="ko-KR"/>
              <a:t>.</a:t>
            </a:r>
          </a:p>
          <a:p>
            <a:r>
              <a:rPr lang="ko-KR" altLang="en-US"/>
              <a:t>클래스는 객체를 만들기 위한 설계도 </a:t>
            </a:r>
            <a:r>
              <a:rPr lang="en-US" altLang="ko-KR"/>
              <a:t>(</a:t>
            </a:r>
            <a:r>
              <a:rPr lang="ko-KR" altLang="en-US"/>
              <a:t>붕어빵 틀 비유</a:t>
            </a:r>
            <a:r>
              <a:rPr lang="en-US" altLang="ko-KR"/>
              <a:t>)</a:t>
            </a:r>
            <a:endParaRPr lang="ko-KR" altLang="en-US" dirty="0"/>
          </a:p>
          <a:p>
            <a:r>
              <a:rPr lang="ko-KR" altLang="en-US"/>
              <a:t>액터를 선택해 블루프린트 생성 버튼을 누르면 새 클래스가 만들어짐</a:t>
            </a:r>
          </a:p>
          <a:p>
            <a:r>
              <a:rPr lang="ko-KR" altLang="en-US"/>
              <a:t>완성된 클래스는 콘텐츠 브라우저에서 재사용 가능</a:t>
            </a:r>
          </a:p>
          <a:p>
            <a:r>
              <a:rPr lang="ko-KR" altLang="en-US"/>
              <a:t>클래스를 레벨로 드래그하는 행위 </a:t>
            </a:r>
            <a:r>
              <a:rPr lang="en-US" altLang="ko-KR"/>
              <a:t>= </a:t>
            </a:r>
            <a:r>
              <a:rPr lang="ko-KR" altLang="en-US"/>
              <a:t>객체</a:t>
            </a:r>
            <a:r>
              <a:rPr lang="en-US" altLang="ko-KR"/>
              <a:t>(</a:t>
            </a:r>
            <a:r>
              <a:rPr lang="ko-KR" altLang="en-US"/>
              <a:t>인스턴스</a:t>
            </a:r>
            <a:r>
              <a:rPr lang="en-US" altLang="ko-KR"/>
              <a:t>)</a:t>
            </a:r>
            <a:r>
              <a:rPr lang="ko-KR" altLang="en-US"/>
              <a:t>를 찍어내는 작업</a:t>
            </a:r>
          </a:p>
        </p:txBody>
      </p:sp>
      <p:pic>
        <p:nvPicPr>
          <p:cNvPr id="4" name="Picture 2" descr="Image result for ë¶ì´ë¹µí">
            <a:extLst>
              <a:ext uri="{FF2B5EF4-FFF2-40B4-BE49-F238E27FC236}">
                <a16:creationId xmlns:a16="http://schemas.microsoft.com/office/drawing/2014/main" id="{698674C5-C879-1D10-4C5D-1FBB44E9A03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7708" y="2684279"/>
            <a:ext cx="1476375" cy="154362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Related image">
            <a:extLst>
              <a:ext uri="{FF2B5EF4-FFF2-40B4-BE49-F238E27FC236}">
                <a16:creationId xmlns:a16="http://schemas.microsoft.com/office/drawing/2014/main" id="{3E3C7C19-DEF8-E2EC-08E4-AD28F7F3282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57964" y="2363493"/>
            <a:ext cx="4143375" cy="2328863"/>
          </a:xfrm>
          <a:prstGeom prst="rect">
            <a:avLst/>
          </a:prstGeom>
          <a:noFill/>
          <a:extLst>
            <a:ext uri="{909E8E84-426E-40DD-AFC4-6F175D3DCCD1}">
              <a14:hiddenFill xmlns:a14="http://schemas.microsoft.com/office/drawing/2010/main">
                <a:solidFill>
                  <a:srgbClr val="FFFFFF"/>
                </a:solidFill>
              </a14:hiddenFill>
            </a:ext>
          </a:extLst>
        </p:spPr>
      </p:pic>
      <p:sp>
        <p:nvSpPr>
          <p:cNvPr id="6" name="직사각형 5">
            <a:extLst>
              <a:ext uri="{FF2B5EF4-FFF2-40B4-BE49-F238E27FC236}">
                <a16:creationId xmlns:a16="http://schemas.microsoft.com/office/drawing/2014/main" id="{56BEC55D-0054-9854-75F2-4C9CECFD887F}"/>
              </a:ext>
            </a:extLst>
          </p:cNvPr>
          <p:cNvSpPr/>
          <p:nvPr/>
        </p:nvSpPr>
        <p:spPr bwMode="auto">
          <a:xfrm>
            <a:off x="233838" y="4227908"/>
            <a:ext cx="2314576" cy="346249"/>
          </a:xfrm>
          <a:prstGeom prst="rect">
            <a:avLst/>
          </a:prstGeom>
          <a:noFill/>
          <a:ln w="38100" cap="rnd" cmpd="sng" algn="ctr">
            <a:no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68580" tIns="68580" rIns="68580" bIns="68580" numCol="1" rtlCol="0" anchor="t" anchorCtr="0" compatLnSpc="1">
            <a:prstTxWarp prst="textNoShape">
              <a:avLst/>
            </a:prstTxWarp>
            <a:spAutoFit/>
          </a:bodyPr>
          <a:lstStyle/>
          <a:p>
            <a:pPr algn="ctr" defTabSz="685800" fontAlgn="base">
              <a:spcBef>
                <a:spcPct val="0"/>
              </a:spcBef>
              <a:spcAft>
                <a:spcPct val="0"/>
              </a:spcAft>
            </a:pPr>
            <a:r>
              <a:rPr kumimoji="1" lang="ko-KR" altLang="en-US" sz="1350" dirty="0">
                <a:solidFill>
                  <a:schemeClr val="tx1">
                    <a:lumMod val="65000"/>
                    <a:lumOff val="35000"/>
                  </a:schemeClr>
                </a:solidFill>
                <a:latin typeface="나눔스퀘어 ExtraBold" panose="020B0600000101010101" pitchFamily="50" charset="-127"/>
                <a:ea typeface="나눔스퀘어 ExtraBold" panose="020B0600000101010101" pitchFamily="50" charset="-127"/>
                <a:cs typeface="조선일보명조"/>
              </a:rPr>
              <a:t>붕어 </a:t>
            </a:r>
            <a:r>
              <a:rPr kumimoji="1" lang="en-US" altLang="ko-KR" sz="1350" dirty="0">
                <a:solidFill>
                  <a:schemeClr val="tx1">
                    <a:lumMod val="65000"/>
                    <a:lumOff val="35000"/>
                  </a:schemeClr>
                </a:solidFill>
                <a:latin typeface="나눔스퀘어 ExtraBold" panose="020B0600000101010101" pitchFamily="50" charset="-127"/>
                <a:ea typeface="나눔스퀘어 ExtraBold" panose="020B0600000101010101" pitchFamily="50" charset="-127"/>
                <a:cs typeface="조선일보명조"/>
              </a:rPr>
              <a:t>Blueprint Class</a:t>
            </a:r>
            <a:endParaRPr kumimoji="1" lang="ko-KR" altLang="en-US" sz="1350" dirty="0">
              <a:solidFill>
                <a:schemeClr val="tx1">
                  <a:lumMod val="65000"/>
                  <a:lumOff val="35000"/>
                </a:schemeClr>
              </a:solidFill>
              <a:latin typeface="나눔스퀘어 ExtraBold" panose="020B0600000101010101" pitchFamily="50" charset="-127"/>
              <a:ea typeface="나눔스퀘어 ExtraBold" panose="020B0600000101010101" pitchFamily="50" charset="-127"/>
              <a:cs typeface="조선일보명조"/>
            </a:endParaRPr>
          </a:p>
        </p:txBody>
      </p:sp>
      <p:sp>
        <p:nvSpPr>
          <p:cNvPr id="7" name="직사각형 6">
            <a:extLst>
              <a:ext uri="{FF2B5EF4-FFF2-40B4-BE49-F238E27FC236}">
                <a16:creationId xmlns:a16="http://schemas.microsoft.com/office/drawing/2014/main" id="{B374A178-7089-BE61-D501-42B3F9F00D07}"/>
              </a:ext>
            </a:extLst>
          </p:cNvPr>
          <p:cNvSpPr/>
          <p:nvPr/>
        </p:nvSpPr>
        <p:spPr bwMode="auto">
          <a:xfrm>
            <a:off x="3727132" y="4692356"/>
            <a:ext cx="2314576" cy="346249"/>
          </a:xfrm>
          <a:prstGeom prst="rect">
            <a:avLst/>
          </a:prstGeom>
          <a:noFill/>
          <a:ln w="38100" cap="rnd" cmpd="sng" algn="ctr">
            <a:no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68580" tIns="68580" rIns="68580" bIns="68580" numCol="1" rtlCol="0" anchor="t" anchorCtr="0" compatLnSpc="1">
            <a:prstTxWarp prst="textNoShape">
              <a:avLst/>
            </a:prstTxWarp>
            <a:spAutoFit/>
          </a:bodyPr>
          <a:lstStyle/>
          <a:p>
            <a:pPr algn="ctr" defTabSz="685800" fontAlgn="base">
              <a:spcBef>
                <a:spcPct val="0"/>
              </a:spcBef>
              <a:spcAft>
                <a:spcPct val="0"/>
              </a:spcAft>
            </a:pPr>
            <a:r>
              <a:rPr kumimoji="1" lang="ko-KR" altLang="en-US" sz="1350" dirty="0">
                <a:solidFill>
                  <a:schemeClr val="tx1">
                    <a:lumMod val="65000"/>
                    <a:lumOff val="35000"/>
                  </a:schemeClr>
                </a:solidFill>
                <a:latin typeface="나눔스퀘어 ExtraBold" panose="020B0600000101010101" pitchFamily="50" charset="-127"/>
                <a:ea typeface="나눔스퀘어 ExtraBold" panose="020B0600000101010101" pitchFamily="50" charset="-127"/>
                <a:cs typeface="조선일보명조"/>
              </a:rPr>
              <a:t>붕어 </a:t>
            </a:r>
            <a:r>
              <a:rPr kumimoji="1" lang="en-US" altLang="ko-KR" sz="1350" dirty="0">
                <a:solidFill>
                  <a:schemeClr val="tx1">
                    <a:lumMod val="65000"/>
                    <a:lumOff val="35000"/>
                  </a:schemeClr>
                </a:solidFill>
                <a:latin typeface="나눔스퀘어 ExtraBold" panose="020B0600000101010101" pitchFamily="50" charset="-127"/>
                <a:ea typeface="나눔스퀘어 ExtraBold" panose="020B0600000101010101" pitchFamily="50" charset="-127"/>
                <a:cs typeface="조선일보명조"/>
              </a:rPr>
              <a:t>Actor </a:t>
            </a:r>
            <a:r>
              <a:rPr kumimoji="1" lang="ko-KR" altLang="en-US" sz="1350" dirty="0">
                <a:solidFill>
                  <a:schemeClr val="tx1">
                    <a:lumMod val="65000"/>
                    <a:lumOff val="35000"/>
                  </a:schemeClr>
                </a:solidFill>
                <a:latin typeface="나눔스퀘어 ExtraBold" panose="020B0600000101010101" pitchFamily="50" charset="-127"/>
                <a:ea typeface="나눔스퀘어 ExtraBold" panose="020B0600000101010101" pitchFamily="50" charset="-127"/>
                <a:cs typeface="조선일보명조"/>
              </a:rPr>
              <a:t>들</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BDA2922-079D-4EC0-BCF5-8053049360E1}"/>
              </a:ext>
            </a:extLst>
          </p:cNvPr>
          <p:cNvSpPr>
            <a:spLocks noGrp="1"/>
          </p:cNvSpPr>
          <p:nvPr>
            <p:ph type="title"/>
          </p:nvPr>
        </p:nvSpPr>
        <p:spPr>
          <a:xfrm>
            <a:off x="55202" y="104895"/>
            <a:ext cx="8981294" cy="414343"/>
          </a:xfrm>
        </p:spPr>
        <p:txBody>
          <a:bodyPr wrap="square"/>
          <a:lstStyle/>
          <a:p>
            <a:r>
              <a:rPr lang="ko-KR" altLang="en-US"/>
              <a:t>이벤트 기반 프로그래밍</a:t>
            </a:r>
            <a:endParaRPr lang="ko-KR" altLang="en-US" dirty="0"/>
          </a:p>
        </p:txBody>
      </p:sp>
      <p:sp>
        <p:nvSpPr>
          <p:cNvPr id="3" name="내용 개체 틀 2">
            <a:extLst>
              <a:ext uri="{FF2B5EF4-FFF2-40B4-BE49-F238E27FC236}">
                <a16:creationId xmlns:a16="http://schemas.microsoft.com/office/drawing/2014/main" id="{79B0F421-0FE8-44AE-86B6-151D0625309C}"/>
              </a:ext>
            </a:extLst>
          </p:cNvPr>
          <p:cNvSpPr>
            <a:spLocks noGrp="1"/>
          </p:cNvSpPr>
          <p:nvPr>
            <p:ph idx="1"/>
          </p:nvPr>
        </p:nvSpPr>
        <p:spPr>
          <a:xfrm>
            <a:off x="55202" y="618982"/>
            <a:ext cx="8981294" cy="1514618"/>
          </a:xfrm>
        </p:spPr>
        <p:txBody>
          <a:bodyPr wrap="square"/>
          <a:lstStyle/>
          <a:p>
            <a:r>
              <a:rPr lang="ko-KR" altLang="en-US"/>
              <a:t>엔진이 게임 월드의 사건을 관찰하다가 발생 시 관련 액터에게 알려주는 방식</a:t>
            </a:r>
            <a:endParaRPr lang="ko-KR" altLang="en-US" dirty="0"/>
          </a:p>
          <a:p>
            <a:r>
              <a:rPr lang="ko-KR" altLang="en-US"/>
              <a:t>예</a:t>
            </a:r>
            <a:r>
              <a:rPr lang="en-US" altLang="ko-KR"/>
              <a:t>: </a:t>
            </a:r>
            <a:r>
              <a:rPr lang="ko-KR" altLang="en-US"/>
              <a:t>플레이어와 트로피의 충돌 이벤트 발생 시 양쪽 액터 모두에게 통지</a:t>
            </a:r>
          </a:p>
          <a:p>
            <a:r>
              <a:rPr lang="ko-KR" altLang="en-US"/>
              <a:t>이벤트 노드가 이후 처리 로직의 진입점 역할</a:t>
            </a:r>
          </a:p>
          <a:p>
            <a:r>
              <a:rPr lang="en-US" altLang="ko-KR"/>
              <a:t>BeginPlay, Tick </a:t>
            </a:r>
            <a:r>
              <a:rPr lang="ko-KR" altLang="en-US"/>
              <a:t>외에도 충돌</a:t>
            </a:r>
            <a:r>
              <a:rPr lang="en-US" altLang="ko-KR"/>
              <a:t>·</a:t>
            </a:r>
            <a:r>
              <a:rPr lang="ko-KR" altLang="en-US"/>
              <a:t>오버랩</a:t>
            </a:r>
            <a:r>
              <a:rPr lang="en-US" altLang="ko-KR"/>
              <a:t>·</a:t>
            </a:r>
            <a:r>
              <a:rPr lang="ko-KR" altLang="en-US"/>
              <a:t>피격 등 다양한 이벤트 제공</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BDA2922-079D-4EC0-BCF5-8053049360E1}"/>
              </a:ext>
            </a:extLst>
          </p:cNvPr>
          <p:cNvSpPr>
            <a:spLocks noGrp="1"/>
          </p:cNvSpPr>
          <p:nvPr>
            <p:ph type="title"/>
          </p:nvPr>
        </p:nvSpPr>
        <p:spPr>
          <a:xfrm>
            <a:off x="55202" y="104895"/>
            <a:ext cx="8981294" cy="414343"/>
          </a:xfrm>
        </p:spPr>
        <p:txBody>
          <a:bodyPr wrap="square"/>
          <a:lstStyle/>
          <a:p>
            <a:r>
              <a:rPr lang="ko-KR" altLang="en-US"/>
              <a:t>이벤트 노드를 이용한 충돌 감지</a:t>
            </a:r>
            <a:endParaRPr lang="ko-KR" altLang="en-US" dirty="0"/>
          </a:p>
        </p:txBody>
      </p:sp>
      <p:sp>
        <p:nvSpPr>
          <p:cNvPr id="3" name="내용 개체 틀 2">
            <a:extLst>
              <a:ext uri="{FF2B5EF4-FFF2-40B4-BE49-F238E27FC236}">
                <a16:creationId xmlns:a16="http://schemas.microsoft.com/office/drawing/2014/main" id="{79B0F421-0FE8-44AE-86B6-151D0625309C}"/>
              </a:ext>
            </a:extLst>
          </p:cNvPr>
          <p:cNvSpPr>
            <a:spLocks noGrp="1"/>
          </p:cNvSpPr>
          <p:nvPr>
            <p:ph idx="1"/>
          </p:nvPr>
        </p:nvSpPr>
        <p:spPr>
          <a:xfrm>
            <a:off x="55202" y="618982"/>
            <a:ext cx="8981294" cy="1327928"/>
          </a:xfrm>
        </p:spPr>
        <p:txBody>
          <a:bodyPr wrap="square"/>
          <a:lstStyle/>
          <a:p>
            <a:r>
              <a:rPr lang="ko-KR" altLang="en-US"/>
              <a:t>컴포넌트에 </a:t>
            </a:r>
            <a:r>
              <a:rPr lang="en-US" altLang="ko-KR"/>
              <a:t>On Component Hit </a:t>
            </a:r>
            <a:r>
              <a:rPr lang="ko-KR" altLang="en-US"/>
              <a:t>이벤트를 추가해 충돌 감지</a:t>
            </a:r>
            <a:endParaRPr lang="ko-KR" altLang="en-US" dirty="0"/>
          </a:p>
          <a:p>
            <a:r>
              <a:rPr lang="ko-KR" altLang="en-US"/>
              <a:t>스태틱 메쉬 컴포넌트가 다른 대상과 부딪히면 자동 호출</a:t>
            </a:r>
          </a:p>
          <a:p>
            <a:r>
              <a:rPr lang="ko-KR" altLang="en-US"/>
              <a:t>상황별로 다양한 이벤트 노드가 존재 </a:t>
            </a:r>
            <a:r>
              <a:rPr lang="en-US" altLang="ko-KR"/>
              <a:t>(</a:t>
            </a:r>
            <a:r>
              <a:rPr lang="ko-KR" altLang="en-US"/>
              <a:t>충돌</a:t>
            </a:r>
            <a:r>
              <a:rPr lang="en-US" altLang="ko-KR"/>
              <a:t>, </a:t>
            </a:r>
            <a:r>
              <a:rPr lang="ko-KR" altLang="en-US"/>
              <a:t>오버랩</a:t>
            </a:r>
            <a:r>
              <a:rPr lang="en-US" altLang="ko-KR"/>
              <a:t>, </a:t>
            </a:r>
            <a:r>
              <a:rPr lang="ko-KR" altLang="en-US"/>
              <a:t>피격 등</a:t>
            </a:r>
            <a:r>
              <a:rPr lang="en-US" altLang="ko-KR"/>
              <a:t>)</a:t>
            </a:r>
          </a:p>
        </p:txBody>
      </p:sp>
      <p:pic>
        <p:nvPicPr>
          <p:cNvPr id="4" name="Picture 3">
            <a:extLst>
              <a:ext uri="{FF2B5EF4-FFF2-40B4-BE49-F238E27FC236}">
                <a16:creationId xmlns:a16="http://schemas.microsoft.com/office/drawing/2014/main" id="{A057BBC2-B9FC-AC51-3126-5260C5486538}"/>
              </a:ext>
            </a:extLst>
          </p:cNvPr>
          <p:cNvPicPr>
            <a:picLocks noChangeAspect="1"/>
          </p:cNvPicPr>
          <p:nvPr/>
        </p:nvPicPr>
        <p:blipFill>
          <a:blip r:embed="rId3"/>
          <a:stretch>
            <a:fillRect/>
          </a:stretch>
        </p:blipFill>
        <p:spPr>
          <a:xfrm>
            <a:off x="807720" y="1878612"/>
            <a:ext cx="7010400" cy="2539643"/>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BDA2922-079D-4EC0-BCF5-8053049360E1}"/>
              </a:ext>
            </a:extLst>
          </p:cNvPr>
          <p:cNvSpPr>
            <a:spLocks noGrp="1"/>
          </p:cNvSpPr>
          <p:nvPr>
            <p:ph type="title"/>
          </p:nvPr>
        </p:nvSpPr>
        <p:spPr>
          <a:xfrm>
            <a:off x="55202" y="104895"/>
            <a:ext cx="8981294" cy="414343"/>
          </a:xfrm>
        </p:spPr>
        <p:txBody>
          <a:bodyPr wrap="square"/>
          <a:lstStyle/>
          <a:p>
            <a:r>
              <a:rPr lang="ko-KR" altLang="en-US"/>
              <a:t>연출 효과와 액터 제거 함수</a:t>
            </a:r>
            <a:endParaRPr lang="ko-KR" altLang="en-US" dirty="0"/>
          </a:p>
        </p:txBody>
      </p:sp>
      <p:sp>
        <p:nvSpPr>
          <p:cNvPr id="3" name="내용 개체 틀 2">
            <a:extLst>
              <a:ext uri="{FF2B5EF4-FFF2-40B4-BE49-F238E27FC236}">
                <a16:creationId xmlns:a16="http://schemas.microsoft.com/office/drawing/2014/main" id="{79B0F421-0FE8-44AE-86B6-151D0625309C}"/>
              </a:ext>
            </a:extLst>
          </p:cNvPr>
          <p:cNvSpPr>
            <a:spLocks noGrp="1"/>
          </p:cNvSpPr>
          <p:nvPr>
            <p:ph idx="1"/>
          </p:nvPr>
        </p:nvSpPr>
        <p:spPr>
          <a:xfrm>
            <a:off x="55202" y="618982"/>
            <a:ext cx="8981294" cy="4275028"/>
          </a:xfrm>
        </p:spPr>
        <p:txBody>
          <a:bodyPr wrap="square"/>
          <a:lstStyle/>
          <a:p>
            <a:r>
              <a:rPr lang="en-US" altLang="ko-KR"/>
              <a:t>DestroyActor: </a:t>
            </a:r>
            <a:r>
              <a:rPr lang="ko-KR" altLang="en-US"/>
              <a:t>액터가 스스로 자신을 삭제하는 함수</a:t>
            </a:r>
            <a:endParaRPr lang="ko-KR" altLang="en-US" dirty="0"/>
          </a:p>
          <a:p>
            <a:r>
              <a:rPr lang="en-US" altLang="ko-KR"/>
              <a:t>SpawnEmitterAtLocation: </a:t>
            </a:r>
            <a:r>
              <a:rPr lang="ko-KR" altLang="en-US"/>
              <a:t>지정 위치에 파티클</a:t>
            </a:r>
            <a:r>
              <a:rPr lang="en-US" altLang="ko-KR"/>
              <a:t>(</a:t>
            </a:r>
            <a:r>
              <a:rPr lang="ko-KR" altLang="en-US"/>
              <a:t>폭파</a:t>
            </a:r>
            <a:r>
              <a:rPr lang="en-US" altLang="ko-KR"/>
              <a:t>) </a:t>
            </a:r>
            <a:r>
              <a:rPr lang="ko-KR" altLang="en-US"/>
              <a:t>효과 재생</a:t>
            </a:r>
          </a:p>
          <a:p>
            <a:r>
              <a:rPr lang="en-US" altLang="ko-KR"/>
              <a:t>PlaySoundAtLocation: </a:t>
            </a:r>
            <a:r>
              <a:rPr lang="ko-KR" altLang="en-US"/>
              <a:t>지정 위치에서 사운드 재생</a:t>
            </a:r>
          </a:p>
          <a:p>
            <a:r>
              <a:rPr lang="ko-KR" altLang="en-US"/>
              <a:t>실행 순서</a:t>
            </a:r>
            <a:r>
              <a:rPr lang="en-US" altLang="ko-KR"/>
              <a:t>: </a:t>
            </a:r>
            <a:r>
              <a:rPr lang="ko-KR" altLang="en-US"/>
              <a:t>폭파 효과 → 사운드 재생 → 액터 삭제</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5361971-8052-55FE-438A-08159C2D066E}"/>
              </a:ext>
            </a:extLst>
          </p:cNvPr>
          <p:cNvSpPr>
            <a:spLocks noGrp="1"/>
          </p:cNvSpPr>
          <p:nvPr>
            <p:ph type="title"/>
          </p:nvPr>
        </p:nvSpPr>
        <p:spPr>
          <a:xfrm>
            <a:off x="55202" y="104895"/>
            <a:ext cx="8981294" cy="414343"/>
          </a:xfrm>
        </p:spPr>
        <p:txBody>
          <a:bodyPr wrap="square"/>
          <a:lstStyle/>
          <a:p>
            <a:r>
              <a:rPr lang="ko-KR" altLang="en-US"/>
              <a:t>실습 </a:t>
            </a:r>
            <a:r>
              <a:rPr lang="en-US" altLang="ko-KR"/>
              <a:t>3. </a:t>
            </a:r>
            <a:r>
              <a:rPr lang="ko-KR" altLang="en-US"/>
              <a:t>진폭과 주파수 조절하기</a:t>
            </a:r>
            <a:endParaRPr lang="ko-KR" altLang="en-US" dirty="0"/>
          </a:p>
        </p:txBody>
      </p:sp>
      <p:sp>
        <p:nvSpPr>
          <p:cNvPr id="3" name="내용 개체 틀 2">
            <a:extLst>
              <a:ext uri="{FF2B5EF4-FFF2-40B4-BE49-F238E27FC236}">
                <a16:creationId xmlns:a16="http://schemas.microsoft.com/office/drawing/2014/main" id="{42A0F3DB-D341-0B49-5FF7-A933BB57DE03}"/>
              </a:ext>
            </a:extLst>
          </p:cNvPr>
          <p:cNvSpPr>
            <a:spLocks noGrp="1"/>
          </p:cNvSpPr>
          <p:nvPr>
            <p:ph idx="1"/>
          </p:nvPr>
        </p:nvSpPr>
        <p:spPr>
          <a:xfrm>
            <a:off x="55202" y="618982"/>
            <a:ext cx="8981294" cy="4275028"/>
          </a:xfrm>
        </p:spPr>
        <p:txBody>
          <a:bodyPr wrap="square"/>
          <a:lstStyle/>
          <a:p>
            <a:r>
              <a:rPr lang="ko-KR" altLang="en-US"/>
              <a:t>값을 변수로 승격</a:t>
            </a:r>
            <a:r>
              <a:rPr lang="en-US" altLang="ko-KR"/>
              <a:t>(Promote to Variable)</a:t>
            </a:r>
            <a:r>
              <a:rPr lang="ko-KR" altLang="en-US"/>
              <a:t>하고 이름을 지정할 수 있다</a:t>
            </a:r>
            <a:r>
              <a:rPr lang="en-US" altLang="ko-KR"/>
              <a:t>.</a:t>
            </a:r>
          </a:p>
          <a:p>
            <a:r>
              <a:rPr lang="ko-KR" altLang="en-US"/>
              <a:t>인스턴스 에디터블 옵션으로 변수를 레벨 에디터에 노출할 수 있다</a:t>
            </a:r>
            <a:r>
              <a:rPr lang="en-US" altLang="ko-KR"/>
              <a:t>.</a:t>
            </a:r>
          </a:p>
          <a:p>
            <a:r>
              <a:rPr lang="ko-KR" altLang="en-US"/>
              <a:t>배치된 인스턴스마다 다른 값을 지정해 서로 다른 움직임을 만들 수 있다</a:t>
            </a:r>
            <a:r>
              <a:rPr lang="en-US" altLang="ko-KR"/>
              <a: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5361971-8052-55FE-438A-08159C2D066E}"/>
              </a:ext>
            </a:extLst>
          </p:cNvPr>
          <p:cNvSpPr>
            <a:spLocks noGrp="1"/>
          </p:cNvSpPr>
          <p:nvPr>
            <p:ph type="title"/>
          </p:nvPr>
        </p:nvSpPr>
        <p:spPr>
          <a:xfrm>
            <a:off x="55202" y="104895"/>
            <a:ext cx="8981294" cy="414343"/>
          </a:xfrm>
        </p:spPr>
        <p:txBody>
          <a:bodyPr wrap="square"/>
          <a:lstStyle/>
          <a:p>
            <a:r>
              <a:rPr lang="ko-KR" altLang="en-US"/>
              <a:t>실습 </a:t>
            </a:r>
            <a:r>
              <a:rPr lang="en-US" altLang="ko-KR"/>
              <a:t>4. </a:t>
            </a:r>
            <a:r>
              <a:rPr lang="ko-KR" altLang="en-US"/>
              <a:t>골드 트로피 획득 연출 만들기 </a:t>
            </a:r>
            <a:r>
              <a:rPr lang="en-US" altLang="ko-KR"/>
              <a:t>(</a:t>
            </a:r>
            <a:r>
              <a:rPr lang="ko-KR" altLang="en-US"/>
              <a:t>충돌</a:t>
            </a:r>
            <a:r>
              <a:rPr lang="en-US" altLang="ko-KR"/>
              <a:t>·</a:t>
            </a:r>
            <a:r>
              <a:rPr lang="ko-KR" altLang="en-US"/>
              <a:t>폭파</a:t>
            </a:r>
            <a:r>
              <a:rPr lang="en-US" altLang="ko-KR"/>
              <a:t>·</a:t>
            </a:r>
            <a:r>
              <a:rPr lang="ko-KR" altLang="en-US"/>
              <a:t>사운드</a:t>
            </a:r>
            <a:r>
              <a:rPr lang="en-US" altLang="ko-KR"/>
              <a:t>)</a:t>
            </a:r>
            <a:endParaRPr lang="ko-KR" altLang="en-US" dirty="0"/>
          </a:p>
        </p:txBody>
      </p:sp>
      <p:sp>
        <p:nvSpPr>
          <p:cNvPr id="3" name="내용 개체 틀 2">
            <a:extLst>
              <a:ext uri="{FF2B5EF4-FFF2-40B4-BE49-F238E27FC236}">
                <a16:creationId xmlns:a16="http://schemas.microsoft.com/office/drawing/2014/main" id="{42A0F3DB-D341-0B49-5FF7-A933BB57DE03}"/>
              </a:ext>
            </a:extLst>
          </p:cNvPr>
          <p:cNvSpPr>
            <a:spLocks noGrp="1"/>
          </p:cNvSpPr>
          <p:nvPr>
            <p:ph idx="1"/>
          </p:nvPr>
        </p:nvSpPr>
        <p:spPr>
          <a:xfrm>
            <a:off x="55202" y="618982"/>
            <a:ext cx="8981294" cy="872361"/>
          </a:xfrm>
        </p:spPr>
        <p:txBody>
          <a:bodyPr wrap="square"/>
          <a:lstStyle/>
          <a:p>
            <a:r>
              <a:rPr lang="en-US" altLang="ko-KR"/>
              <a:t>On Component Hit </a:t>
            </a:r>
            <a:r>
              <a:rPr lang="ko-KR" altLang="en-US"/>
              <a:t>이벤트로 충돌을 감지할 수 있다</a:t>
            </a:r>
            <a:r>
              <a:rPr lang="en-US" altLang="ko-KR"/>
              <a:t>.</a:t>
            </a:r>
          </a:p>
          <a:p>
            <a:r>
              <a:rPr lang="en-US" altLang="ko-KR"/>
              <a:t>SpawnEmitterAtLocation</a:t>
            </a:r>
            <a:r>
              <a:rPr lang="ko-KR" altLang="en-US"/>
              <a:t>과 </a:t>
            </a:r>
            <a:r>
              <a:rPr lang="en-US" altLang="ko-KR"/>
              <a:t>PlaySoundAtLocation</a:t>
            </a:r>
            <a:r>
              <a:rPr lang="ko-KR" altLang="en-US"/>
              <a:t>으로 폭파</a:t>
            </a:r>
            <a:r>
              <a:rPr lang="en-US" altLang="ko-KR"/>
              <a:t>·</a:t>
            </a:r>
            <a:r>
              <a:rPr lang="ko-KR" altLang="en-US"/>
              <a:t>사운드 연출을 추가할 수 있다</a:t>
            </a:r>
            <a:endParaRPr lang="en-US" altLang="ko-K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191CF2D-AEA8-27B8-7A86-6E4D901FC567}"/>
              </a:ext>
            </a:extLst>
          </p:cNvPr>
          <p:cNvSpPr>
            <a:spLocks noGrp="1"/>
          </p:cNvSpPr>
          <p:nvPr>
            <p:ph type="title"/>
          </p:nvPr>
        </p:nvSpPr>
        <p:spPr/>
        <p:txBody>
          <a:bodyPr/>
          <a:lstStyle/>
          <a:p>
            <a:endParaRPr lang="ko-KR" altLang="en-US"/>
          </a:p>
        </p:txBody>
      </p:sp>
    </p:spTree>
    <p:extLst>
      <p:ext uri="{BB962C8B-B14F-4D97-AF65-F5344CB8AC3E}">
        <p14:creationId xmlns:p14="http://schemas.microsoft.com/office/powerpoint/2010/main" val="4034809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EFC8BB9-873D-DC72-946E-FEA54150986F}"/>
              </a:ext>
            </a:extLst>
          </p:cNvPr>
          <p:cNvSpPr>
            <a:spLocks noGrp="1"/>
          </p:cNvSpPr>
          <p:nvPr>
            <p:ph type="title"/>
          </p:nvPr>
        </p:nvSpPr>
        <p:spPr/>
        <p:txBody>
          <a:bodyPr/>
          <a:lstStyle/>
          <a:p>
            <a:endParaRPr lang="ko-KR" altLang="en-US"/>
          </a:p>
        </p:txBody>
      </p:sp>
    </p:spTree>
    <p:extLst>
      <p:ext uri="{BB962C8B-B14F-4D97-AF65-F5344CB8AC3E}">
        <p14:creationId xmlns:p14="http://schemas.microsoft.com/office/powerpoint/2010/main" val="4069319503"/>
      </p:ext>
    </p:extLst>
  </p:cSld>
  <p:clrMapOvr>
    <a:masterClrMapping/>
  </p:clrMapOvr>
</p:sld>
</file>

<file path=ppt/theme/theme1.xml><?xml version="1.0" encoding="utf-8"?>
<a:theme xmlns:a="http://schemas.openxmlformats.org/drawingml/2006/main" name="1_모자이크">
  <a:themeElements>
    <a:clrScheme name="1_모자이크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fontScheme name="사용자 지정 1">
      <a:majorFont>
        <a:latin typeface="나눔스퀘어 Bold"/>
        <a:ea typeface="나눔스퀘어 Bold"/>
        <a:cs typeface=""/>
      </a:majorFont>
      <a:minorFont>
        <a:latin typeface="나눔스퀘어 Bold"/>
        <a:ea typeface="나눔스퀘어 Bold"/>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rnd" cmpd="sng" algn="ctr">
          <a:solidFill>
            <a:schemeClr val="hlink"/>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1" hangingPunct="1">
          <a:lnSpc>
            <a:spcPct val="100000"/>
          </a:lnSpc>
          <a:spcBef>
            <a:spcPct val="0"/>
          </a:spcBef>
          <a:spcAft>
            <a:spcPct val="0"/>
          </a:spcAft>
          <a:buClrTx/>
          <a:buSzTx/>
          <a:buFontTx/>
          <a:buNone/>
          <a:tabLst/>
          <a:defRPr kumimoji="1" lang="ko-KR" sz="1800" b="0" i="0" u="none" strike="noStrike" cap="none" normalizeH="0" baseline="0" smtClean="0">
            <a:ln>
              <a:noFill/>
            </a:ln>
            <a:solidFill>
              <a:schemeClr val="tx1"/>
            </a:solidFill>
            <a:effectLst/>
            <a:latin typeface="Tahoma" pitchFamily="34" charset="0"/>
            <a:ea typeface="나눔고딕" pitchFamily="50" charset="-127"/>
            <a:cs typeface="조선일보명조"/>
          </a:defRPr>
        </a:defPPr>
      </a:lstStyle>
    </a:spDef>
    <a:lnDef>
      <a:spPr bwMode="auto">
        <a:xfrm>
          <a:off x="0" y="0"/>
          <a:ext cx="1" cy="1"/>
        </a:xfrm>
        <a:custGeom>
          <a:avLst/>
          <a:gdLst/>
          <a:ahLst/>
          <a:cxnLst/>
          <a:rect l="0" t="0" r="0" b="0"/>
          <a:pathLst/>
        </a:custGeom>
        <a:solidFill>
          <a:schemeClr val="accent1"/>
        </a:solidFill>
        <a:ln w="12700" cap="rnd" cmpd="sng" algn="ctr">
          <a:solidFill>
            <a:schemeClr val="hlink"/>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1" hangingPunct="1">
          <a:lnSpc>
            <a:spcPct val="100000"/>
          </a:lnSpc>
          <a:spcBef>
            <a:spcPct val="0"/>
          </a:spcBef>
          <a:spcAft>
            <a:spcPct val="0"/>
          </a:spcAft>
          <a:buClrTx/>
          <a:buSzTx/>
          <a:buFontTx/>
          <a:buNone/>
          <a:tabLst/>
          <a:defRPr kumimoji="1" lang="ko-KR" sz="1800" b="0" i="0" u="none" strike="noStrike" cap="none" normalizeH="0" baseline="0" smtClean="0">
            <a:ln>
              <a:noFill/>
            </a:ln>
            <a:solidFill>
              <a:schemeClr val="tx1"/>
            </a:solidFill>
            <a:effectLst/>
            <a:latin typeface="Tahoma" pitchFamily="34" charset="0"/>
            <a:ea typeface="나눔고딕" pitchFamily="50" charset="-127"/>
            <a:cs typeface="조선일보명조"/>
          </a:defRPr>
        </a:defPPr>
      </a:lstStyle>
    </a:lnDef>
  </a:objectDefaults>
  <a:extraClrSchemeLst>
    <a:extraClrScheme>
      <a:clrScheme name="1_모자이크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1_모자이크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1_모자이크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1_모자이크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1_모자이크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1_모자이크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1_모자이크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1_모자이크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1_모자이크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1_모자이크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1_모자이크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1_모자이크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6034</TotalTime>
  <Words>3529</Words>
  <Application>Microsoft Office PowerPoint</Application>
  <PresentationFormat>화면 슬라이드 쇼(16:9)</PresentationFormat>
  <Paragraphs>202</Paragraphs>
  <Slides>27</Slides>
  <Notes>23</Notes>
  <HiddenSlides>0</HiddenSlides>
  <MMClips>0</MMClips>
  <ScaleCrop>false</ScaleCrop>
  <HeadingPairs>
    <vt:vector size="6" baseType="variant">
      <vt:variant>
        <vt:lpstr>사용한 글꼴</vt:lpstr>
      </vt:variant>
      <vt:variant>
        <vt:i4>9</vt:i4>
      </vt:variant>
      <vt:variant>
        <vt:lpstr>테마</vt:lpstr>
      </vt:variant>
      <vt:variant>
        <vt:i4>1</vt:i4>
      </vt:variant>
      <vt:variant>
        <vt:lpstr>슬라이드 제목</vt:lpstr>
      </vt:variant>
      <vt:variant>
        <vt:i4>27</vt:i4>
      </vt:variant>
    </vt:vector>
  </HeadingPairs>
  <TitlesOfParts>
    <vt:vector size="37" baseType="lpstr">
      <vt:lpstr>나눔고딕</vt:lpstr>
      <vt:lpstr>나눔스퀘어</vt:lpstr>
      <vt:lpstr>나눔스퀘어 Bold</vt:lpstr>
      <vt:lpstr>나눔스퀘어 ExtraBold</vt:lpstr>
      <vt:lpstr>맑은 고딕</vt:lpstr>
      <vt:lpstr>Arial</vt:lpstr>
      <vt:lpstr>Consolas</vt:lpstr>
      <vt:lpstr>Tahoma</vt:lpstr>
      <vt:lpstr>Wingdings</vt:lpstr>
      <vt:lpstr>1_모자이크</vt:lpstr>
      <vt:lpstr>학습 목표</vt:lpstr>
      <vt:lpstr>1차시. 블루프린트 기초</vt:lpstr>
      <vt:lpstr>액터 움직이기</vt:lpstr>
      <vt:lpstr>블루프린트란?</vt:lpstr>
      <vt:lpstr>블루프린트의 특징 - 비주얼 언어</vt:lpstr>
      <vt:lpstr>블루프린트의 특징 - 스크립팅(인터프리터) 언어</vt:lpstr>
      <vt:lpstr>블루프린트의 장점과 단점</vt:lpstr>
      <vt:lpstr>블루프린트 그래프의 구성 요소 - 노드</vt:lpstr>
      <vt:lpstr>블루프린트 그래프의 구성 요소 - 핀</vt:lpstr>
      <vt:lpstr>블루프린트 그래프의 구성 요소 - 핀</vt:lpstr>
      <vt:lpstr>블루프린트 그래프의 구성 요소 - 와이어</vt:lpstr>
      <vt:lpstr>게임 루프와 이벤트 틱</vt:lpstr>
      <vt:lpstr>실습 1. 액터 이동</vt:lpstr>
      <vt:lpstr>2차시. 블루프린트</vt:lpstr>
      <vt:lpstr>변수</vt:lpstr>
      <vt:lpstr>실습 2. 위아래로 출렁이는 트로피 만들기</vt:lpstr>
      <vt:lpstr>PowerPoint 프레젠테이션</vt:lpstr>
      <vt:lpstr>PowerPoint 프레젠테이션</vt:lpstr>
      <vt:lpstr>3차시. 이벤트 기반 프로그래밍과 레벨 구성</vt:lpstr>
      <vt:lpstr>블루프린트 클래스</vt:lpstr>
      <vt:lpstr>이벤트 기반 프로그래밍</vt:lpstr>
      <vt:lpstr>이벤트 노드를 이용한 충돌 감지</vt:lpstr>
      <vt:lpstr>연출 효과와 액터 제거 함수</vt:lpstr>
      <vt:lpstr>실습 3. 진폭과 주파수 조절하기</vt:lpstr>
      <vt:lpstr>실습 4. 골드 트로피 획득 연출 만들기 (충돌·폭파·사운드)</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Dae-Hyun Lee</dc:creator>
  <cp:lastModifiedBy>이대현(A0125)</cp:lastModifiedBy>
  <cp:revision>890</cp:revision>
  <dcterms:created xsi:type="dcterms:W3CDTF">2017-12-17T05:40:28Z</dcterms:created>
  <dcterms:modified xsi:type="dcterms:W3CDTF">2026-07-13T02:40:41Z</dcterms:modified>
</cp:coreProperties>
</file>