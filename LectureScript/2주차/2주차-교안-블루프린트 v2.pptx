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Lst>
  <p:notesMasterIdLst>
    <p:notesMasterId r:id="rId35"/>
  </p:notesMasterIdLst>
  <p:handoutMasterIdLst>
    <p:handoutMasterId r:id="rId36"/>
  </p:handoutMasterIdLst>
  <p:sldIdLst>
    <p:sldId id="1093" r:id="rId2"/>
    <p:sldId id="1129" r:id="rId3"/>
    <p:sldId id="1094" r:id="rId4"/>
    <p:sldId id="774" r:id="rId5"/>
    <p:sldId id="1095" r:id="rId6"/>
    <p:sldId id="1096" r:id="rId7"/>
    <p:sldId id="1097" r:id="rId8"/>
    <p:sldId id="1098" r:id="rId9"/>
    <p:sldId id="1099" r:id="rId10"/>
    <p:sldId id="1100" r:id="rId11"/>
    <p:sldId id="1122" r:id="rId12"/>
    <p:sldId id="1101" r:id="rId13"/>
    <p:sldId id="1102" r:id="rId14"/>
    <p:sldId id="1104" r:id="rId15"/>
    <p:sldId id="1130" r:id="rId16"/>
    <p:sldId id="1123" r:id="rId17"/>
    <p:sldId id="715" r:id="rId18"/>
    <p:sldId id="878" r:id="rId19"/>
    <p:sldId id="1058" r:id="rId20"/>
    <p:sldId id="716" r:id="rId21"/>
    <p:sldId id="802" r:id="rId22"/>
    <p:sldId id="1132" r:id="rId23"/>
    <p:sldId id="1105" r:id="rId24"/>
    <p:sldId id="1106" r:id="rId25"/>
    <p:sldId id="1131" r:id="rId26"/>
    <p:sldId id="1107" r:id="rId27"/>
    <p:sldId id="1108" r:id="rId28"/>
    <p:sldId id="1109" r:id="rId29"/>
    <p:sldId id="1133" r:id="rId30"/>
    <p:sldId id="1134" r:id="rId31"/>
    <p:sldId id="1112" r:id="rId32"/>
    <p:sldId id="1124" r:id="rId33"/>
    <p:sldId id="1125" r:id="rId34"/>
  </p:sldIdLst>
  <p:sldSz cx="9144000" cy="5143500" type="screen16x9"/>
  <p:notesSz cx="6858000" cy="9144000"/>
  <p:defaultTextStyle>
    <a:defPPr>
      <a:defRPr lang="ko-KR"/>
    </a:defPPr>
    <a:lvl1pPr marL="0" algn="l" defTabSz="914290" rtl="0" eaLnBrk="1" latinLnBrk="1" hangingPunct="1">
      <a:defRPr sz="1800" kern="1200">
        <a:solidFill>
          <a:schemeClr val="tx1"/>
        </a:solidFill>
        <a:latin typeface="+mn-lt"/>
        <a:ea typeface="+mn-ea"/>
        <a:cs typeface="+mn-cs"/>
      </a:defRPr>
    </a:lvl1pPr>
    <a:lvl2pPr marL="457145" algn="l" defTabSz="914290" rtl="0" eaLnBrk="1" latinLnBrk="1" hangingPunct="1">
      <a:defRPr sz="1800" kern="1200">
        <a:solidFill>
          <a:schemeClr val="tx1"/>
        </a:solidFill>
        <a:latin typeface="+mn-lt"/>
        <a:ea typeface="+mn-ea"/>
        <a:cs typeface="+mn-cs"/>
      </a:defRPr>
    </a:lvl2pPr>
    <a:lvl3pPr marL="914290" algn="l" defTabSz="914290" rtl="0" eaLnBrk="1" latinLnBrk="1" hangingPunct="1">
      <a:defRPr sz="1800" kern="1200">
        <a:solidFill>
          <a:schemeClr val="tx1"/>
        </a:solidFill>
        <a:latin typeface="+mn-lt"/>
        <a:ea typeface="+mn-ea"/>
        <a:cs typeface="+mn-cs"/>
      </a:defRPr>
    </a:lvl3pPr>
    <a:lvl4pPr marL="1371435" algn="l" defTabSz="914290" rtl="0" eaLnBrk="1" latinLnBrk="1" hangingPunct="1">
      <a:defRPr sz="1800" kern="1200">
        <a:solidFill>
          <a:schemeClr val="tx1"/>
        </a:solidFill>
        <a:latin typeface="+mn-lt"/>
        <a:ea typeface="+mn-ea"/>
        <a:cs typeface="+mn-cs"/>
      </a:defRPr>
    </a:lvl4pPr>
    <a:lvl5pPr marL="1828581" algn="l" defTabSz="914290" rtl="0" eaLnBrk="1" latinLnBrk="1" hangingPunct="1">
      <a:defRPr sz="1800" kern="1200">
        <a:solidFill>
          <a:schemeClr val="tx1"/>
        </a:solidFill>
        <a:latin typeface="+mn-lt"/>
        <a:ea typeface="+mn-ea"/>
        <a:cs typeface="+mn-cs"/>
      </a:defRPr>
    </a:lvl5pPr>
    <a:lvl6pPr marL="2285726" algn="l" defTabSz="914290" rtl="0" eaLnBrk="1" latinLnBrk="1" hangingPunct="1">
      <a:defRPr sz="1800" kern="1200">
        <a:solidFill>
          <a:schemeClr val="tx1"/>
        </a:solidFill>
        <a:latin typeface="+mn-lt"/>
        <a:ea typeface="+mn-ea"/>
        <a:cs typeface="+mn-cs"/>
      </a:defRPr>
    </a:lvl6pPr>
    <a:lvl7pPr marL="2742871" algn="l" defTabSz="914290" rtl="0" eaLnBrk="1" latinLnBrk="1" hangingPunct="1">
      <a:defRPr sz="1800" kern="1200">
        <a:solidFill>
          <a:schemeClr val="tx1"/>
        </a:solidFill>
        <a:latin typeface="+mn-lt"/>
        <a:ea typeface="+mn-ea"/>
        <a:cs typeface="+mn-cs"/>
      </a:defRPr>
    </a:lvl7pPr>
    <a:lvl8pPr marL="3200016" algn="l" defTabSz="914290" rtl="0" eaLnBrk="1" latinLnBrk="1" hangingPunct="1">
      <a:defRPr sz="1800" kern="1200">
        <a:solidFill>
          <a:schemeClr val="tx1"/>
        </a:solidFill>
        <a:latin typeface="+mn-lt"/>
        <a:ea typeface="+mn-ea"/>
        <a:cs typeface="+mn-cs"/>
      </a:defRPr>
    </a:lvl8pPr>
    <a:lvl9pPr marL="3657161" algn="l" defTabSz="91429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658A8"/>
    <a:srgbClr val="89ABD8"/>
    <a:srgbClr val="048ED3"/>
    <a:srgbClr val="044CA2"/>
    <a:srgbClr val="01B2CC"/>
    <a:srgbClr val="3399FF"/>
    <a:srgbClr val="99CCFF"/>
    <a:srgbClr val="66CCFF"/>
    <a:srgbClr val="FF6600"/>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69" autoAdjust="0"/>
    <p:restoredTop sz="68220" autoAdjust="0"/>
  </p:normalViewPr>
  <p:slideViewPr>
    <p:cSldViewPr snapToGrid="0">
      <p:cViewPr>
        <p:scale>
          <a:sx n="100" d="100"/>
          <a:sy n="100" d="100"/>
        </p:scale>
        <p:origin x="1704" y="1716"/>
      </p:cViewPr>
      <p:guideLst/>
    </p:cSldViewPr>
  </p:slideViewPr>
  <p:notesTextViewPr>
    <p:cViewPr>
      <p:scale>
        <a:sx n="147" d="100"/>
        <a:sy n="147" d="100"/>
      </p:scale>
      <p:origin x="0" y="0"/>
    </p:cViewPr>
  </p:notesTextViewPr>
  <p:notesViewPr>
    <p:cSldViewPr snapToGrid="0">
      <p:cViewPr varScale="1">
        <p:scale>
          <a:sx n="86" d="100"/>
          <a:sy n="86" d="100"/>
        </p:scale>
        <p:origin x="251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3762B07-010A-4736-9DFA-BB8F01696DB9}" type="datetimeFigureOut">
              <a:rPr lang="ko-KR" altLang="en-US" smtClean="0"/>
              <a:t>2026-07-14</a:t>
            </a:fld>
            <a:endParaRPr lang="ko-KR" altLang="en-US"/>
          </a:p>
        </p:txBody>
      </p:sp>
      <p:sp>
        <p:nvSpPr>
          <p:cNvPr id="4" name="바닥글 개체 틀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5" name="슬라이드 번호 개체 틀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32C9138-B0E2-461F-B8E2-5CB27C64500A}" type="slidenum">
              <a:rPr lang="ko-KR" altLang="en-US" smtClean="0"/>
              <a:t>‹#›</a:t>
            </a:fld>
            <a:endParaRPr lang="ko-KR" altLang="en-US"/>
          </a:p>
        </p:txBody>
      </p:sp>
    </p:spTree>
    <p:extLst>
      <p:ext uri="{BB962C8B-B14F-4D97-AF65-F5344CB8AC3E}">
        <p14:creationId xmlns:p14="http://schemas.microsoft.com/office/powerpoint/2010/main" val="325345005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6BB2639-E251-4B91-B04E-F4A39D6657D0}" type="datetimeFigureOut">
              <a:rPr lang="ko-KR" altLang="en-US" smtClean="0"/>
              <a:t>2026-07-14</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E58B9CC-458F-4497-8737-CAF2F390B8C0}" type="slidenum">
              <a:rPr lang="ko-KR" altLang="en-US" smtClean="0"/>
              <a:t>‹#›</a:t>
            </a:fld>
            <a:endParaRPr lang="ko-KR" altLang="en-US"/>
          </a:p>
        </p:txBody>
      </p:sp>
    </p:spTree>
    <p:extLst>
      <p:ext uri="{BB962C8B-B14F-4D97-AF65-F5344CB8AC3E}">
        <p14:creationId xmlns:p14="http://schemas.microsoft.com/office/powerpoint/2010/main" val="237104949"/>
      </p:ext>
    </p:extLst>
  </p:cSld>
  <p:clrMap bg1="lt1" tx1="dk1" bg2="lt2" tx2="dk2" accent1="accent1" accent2="accent2" accent3="accent3" accent4="accent4" accent5="accent5" accent6="accent6" hlink="hlink" folHlink="folHlink"/>
  <p:notesStyle>
    <a:lvl1pPr marL="0" algn="l" defTabSz="914290" rtl="0" eaLnBrk="1" latinLnBrk="1" hangingPunct="1">
      <a:defRPr sz="1200" kern="1200">
        <a:solidFill>
          <a:schemeClr val="tx1"/>
        </a:solidFill>
        <a:latin typeface="+mn-lt"/>
        <a:ea typeface="+mn-ea"/>
        <a:cs typeface="+mn-cs"/>
      </a:defRPr>
    </a:lvl1pPr>
    <a:lvl2pPr marL="457145" algn="l" defTabSz="914290" rtl="0" eaLnBrk="1" latinLnBrk="1" hangingPunct="1">
      <a:defRPr sz="1200" kern="1200">
        <a:solidFill>
          <a:schemeClr val="tx1"/>
        </a:solidFill>
        <a:latin typeface="+mn-lt"/>
        <a:ea typeface="+mn-ea"/>
        <a:cs typeface="+mn-cs"/>
      </a:defRPr>
    </a:lvl2pPr>
    <a:lvl3pPr marL="914290" algn="l" defTabSz="914290" rtl="0" eaLnBrk="1" latinLnBrk="1" hangingPunct="1">
      <a:defRPr sz="1200" kern="1200">
        <a:solidFill>
          <a:schemeClr val="tx1"/>
        </a:solidFill>
        <a:latin typeface="+mn-lt"/>
        <a:ea typeface="+mn-ea"/>
        <a:cs typeface="+mn-cs"/>
      </a:defRPr>
    </a:lvl3pPr>
    <a:lvl4pPr marL="1371435" algn="l" defTabSz="914290" rtl="0" eaLnBrk="1" latinLnBrk="1" hangingPunct="1">
      <a:defRPr sz="1200" kern="1200">
        <a:solidFill>
          <a:schemeClr val="tx1"/>
        </a:solidFill>
        <a:latin typeface="+mn-lt"/>
        <a:ea typeface="+mn-ea"/>
        <a:cs typeface="+mn-cs"/>
      </a:defRPr>
    </a:lvl4pPr>
    <a:lvl5pPr marL="1828581" algn="l" defTabSz="914290" rtl="0" eaLnBrk="1" latinLnBrk="1" hangingPunct="1">
      <a:defRPr sz="1200" kern="1200">
        <a:solidFill>
          <a:schemeClr val="tx1"/>
        </a:solidFill>
        <a:latin typeface="+mn-lt"/>
        <a:ea typeface="+mn-ea"/>
        <a:cs typeface="+mn-cs"/>
      </a:defRPr>
    </a:lvl5pPr>
    <a:lvl6pPr marL="2285726" algn="l" defTabSz="914290" rtl="0" eaLnBrk="1" latinLnBrk="1" hangingPunct="1">
      <a:defRPr sz="1200" kern="1200">
        <a:solidFill>
          <a:schemeClr val="tx1"/>
        </a:solidFill>
        <a:latin typeface="+mn-lt"/>
        <a:ea typeface="+mn-ea"/>
        <a:cs typeface="+mn-cs"/>
      </a:defRPr>
    </a:lvl6pPr>
    <a:lvl7pPr marL="2742871" algn="l" defTabSz="914290" rtl="0" eaLnBrk="1" latinLnBrk="1" hangingPunct="1">
      <a:defRPr sz="1200" kern="1200">
        <a:solidFill>
          <a:schemeClr val="tx1"/>
        </a:solidFill>
        <a:latin typeface="+mn-lt"/>
        <a:ea typeface="+mn-ea"/>
        <a:cs typeface="+mn-cs"/>
      </a:defRPr>
    </a:lvl7pPr>
    <a:lvl8pPr marL="3200016" algn="l" defTabSz="914290" rtl="0" eaLnBrk="1" latinLnBrk="1" hangingPunct="1">
      <a:defRPr sz="1200" kern="1200">
        <a:solidFill>
          <a:schemeClr val="tx1"/>
        </a:solidFill>
        <a:latin typeface="+mn-lt"/>
        <a:ea typeface="+mn-ea"/>
        <a:cs typeface="+mn-cs"/>
      </a:defRPr>
    </a:lvl8pPr>
    <a:lvl9pPr marL="3657161" algn="l" defTabSz="91429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1차시에서는 블루프린트가 무엇인지, 어떤 특징을 가진 언어인지 살펴보고, 블루프린트 그래프를 구성하는 노드·핀·와이어의 구조를 학습합니다. 이어서 실습을 통해 게임 아이템인 골드 트로피 액터를 직접 만들고, </a:t>
            </a:r>
            <a:r>
              <a:rPr lang="ko-KR" altLang="en-US"/>
              <a:t>운동을 시켜봅니다</a:t>
            </a:r>
            <a:r>
              <a:rPr lang="en-US" altLang="ko-KR"/>
              <a:t>.</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ko-KR" altLang="en-US"/>
              <a:t>만약 레벨 안에 어떤 정육면체 액터가 있다고 생각해 봅시다</a:t>
            </a:r>
            <a:r>
              <a:rPr lang="en-US" altLang="ko-KR"/>
              <a:t>.</a:t>
            </a:r>
            <a:r>
              <a:rPr lang="ko-KR" altLang="en-US"/>
              <a:t>이 액터가 위아래로 둥둥 떠 있는 모습을 구현한다고 하면 여러분은 어떻게 하시겠습니까</a:t>
            </a:r>
            <a:r>
              <a:rPr lang="en-US" altLang="ko-KR"/>
              <a:t>.</a:t>
            </a:r>
            <a:r>
              <a:rPr lang="ko-KR" altLang="en-US"/>
              <a:t>실력이 있는 분이라면 아마 다음과 같은 스타일로 코딩을 할 것입니다</a:t>
            </a:r>
            <a:r>
              <a:rPr lang="en-US" altLang="ko-KR"/>
              <a:t>.</a:t>
            </a:r>
            <a:r>
              <a:rPr lang="ko-KR" altLang="en-US"/>
              <a:t>이 액터의 위치를 계속 변경해야 하니</a:t>
            </a:r>
            <a:r>
              <a:rPr lang="en-US" altLang="ko-KR"/>
              <a:t>, </a:t>
            </a:r>
            <a:r>
              <a:rPr lang="ko-KR" altLang="en-US"/>
              <a:t>초기 위치값에 사인값을 더해 줍니다</a:t>
            </a:r>
            <a:r>
              <a:rPr lang="en-US" altLang="ko-KR"/>
              <a:t>.</a:t>
            </a:r>
            <a:r>
              <a:rPr lang="ko-KR" altLang="en-US"/>
              <a:t>사인값을 더하면 시간의 흐름에 따라 값이 출렁거리게 됩니다</a:t>
            </a:r>
            <a:r>
              <a:rPr lang="en-US" altLang="ko-KR"/>
              <a:t>.</a:t>
            </a:r>
            <a:r>
              <a:rPr lang="ko-KR" altLang="en-US"/>
              <a:t>그렇게 계산한 새로운 위치값으로 액터의 위치를 맞춰 주면 됩니다</a:t>
            </a:r>
            <a:r>
              <a:rPr lang="en-US" altLang="ko-KR"/>
              <a:t>. </a:t>
            </a:r>
            <a:r>
              <a:rPr lang="ko-KR" altLang="en-US"/>
              <a:t>언리얼 엔진에서도 </a:t>
            </a:r>
            <a:r>
              <a:rPr lang="en-US" altLang="ko-KR"/>
              <a:t>C++</a:t>
            </a:r>
            <a:r>
              <a:rPr lang="ko-KR" altLang="en-US"/>
              <a:t>를 이용하면 이런 방식으로 코딩할 수 있습니다</a:t>
            </a:r>
            <a:r>
              <a:rPr lang="en-US" altLang="ko-KR"/>
              <a:t>. </a:t>
            </a:r>
            <a:r>
              <a:rPr lang="ko-KR" altLang="en-US"/>
              <a:t>그런데 언리얼 엔진은 </a:t>
            </a:r>
            <a:r>
              <a:rPr lang="en-US" altLang="ko-KR"/>
              <a:t>C++ </a:t>
            </a:r>
            <a:r>
              <a:rPr lang="ko-KR" altLang="en-US"/>
              <a:t>외에도 블루프린트라는 배우기 쉽고 개발에 효과적인 스크립팅 언어를 제공하고 있습니다</a:t>
            </a:r>
            <a:r>
              <a:rPr lang="en-US" altLang="ko-KR"/>
              <a:t>. </a:t>
            </a:r>
            <a:r>
              <a:rPr lang="ko-KR" altLang="en-US"/>
              <a:t>따라서 본 강의에서는 블루프린트를 이용하여 강의를 진행할 예정입니다</a:t>
            </a:r>
            <a:r>
              <a:rPr lang="en-US" altLang="ko-KR"/>
              <a:t>.</a:t>
            </a:r>
            <a:r>
              <a:rPr lang="ko-KR" altLang="en-US"/>
              <a:t> 그럼 이제 블루프린트를 자세히 살펴보겠습니다</a:t>
            </a:r>
            <a:r>
              <a:rPr lang="en-US" altLang="ko-KR"/>
              <a:t>.</a:t>
            </a:r>
            <a:endParaRPr lang="ko-KR" altLang="en-US"/>
          </a:p>
        </p:txBody>
      </p:sp>
      <p:sp>
        <p:nvSpPr>
          <p:cNvPr id="4" name="슬라이드 번호 개체 틀 3"/>
          <p:cNvSpPr>
            <a:spLocks noGrp="1"/>
          </p:cNvSpPr>
          <p:nvPr>
            <p:ph type="sldNum" sz="quarter" idx="5"/>
          </p:nvPr>
        </p:nvSpPr>
        <p:spPr/>
        <p:txBody>
          <a:bodyPr/>
          <a:lstStyle/>
          <a:p>
            <a:fld id="{AE58B9CC-458F-4497-8737-CAF2F390B8C0}" type="slidenum">
              <a:rPr lang="ko-KR" altLang="en-US" smtClean="0"/>
              <a:t>4</a:t>
            </a:fld>
            <a:endParaRPr lang="ko-KR" altLang="en-US"/>
          </a:p>
        </p:txBody>
      </p:sp>
    </p:spTree>
    <p:extLst>
      <p:ext uri="{BB962C8B-B14F-4D97-AF65-F5344CB8AC3E}">
        <p14:creationId xmlns:p14="http://schemas.microsoft.com/office/powerpoint/2010/main" val="75223146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블루프린트(Blueprint)는 언리얼 엔진이 제공하는 비주얼 스크립팅 시스템으로, 코드를 직접 타이핑하지 않고 노드 기반의 그래프를 이용해 게임플레이 요소를 만들 수 있는 기능입니다. 언리얼 엔진 공식 문서에서도 블루프린트를 노드 기반 인터페이스로 에디터 안에서 게임플레이 요소를 완성할 수 있는 완전한 스크립팅 시스템이라고 설명합니다. 처음에는 프로그래머가 아닌 기획자나 디자이너도 통합 개발 환경 안에서 직접 게임 로직을 만들 수 있도록 하기 위해 도입되었지만, 기능이 계속 확장되면서 지금은 게임 개발 전반에서 폭넓게 활용됩니다. 그래서 언리얼 엔진은 성능이 특히 중요한 부분은 C++로 작성하고, 기획자나 아티스트와의 협업이 필요하거나 성능 부담이 크지 않은 부분은 블루프린트로 작성하는 하이브리드 개발 방식을 권장합니다. 결국 언리얼 엔진을 제대로 다루기 위해서는 블루프린트에 대한 이해가 반드시 필요합니다.</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블루프린트의 첫 번째 특징은 비주얼 언어라는 점입니다. C++이나 파이썬 같은 일반적인 프로그래밍 언어는 텍스트 에디터에 코드를 작성한 다음 실행하거나 컴파일하는 텍스트 기반 언어입니다. 반면 블루프린트는 사각형으로 표시되는 노드(Node)와, 노드와 노드를 연결하는 선인 와이어(Wire)라는 두 가지 시각 요소만으로 그림을 그리듯 로직을 구성하는 언어입니다. 이렇게 노드와 와이어로 이루어진 작업 공간을 언리얼 엔진에서는 블루프린트 그래프(Blueprint Graph)라고 부릅니다. 언리얼 엔진 공식 문서 역시 블루프린트를 노드 기반 인터페이스를 사용해 코드를 작성하지 않고도 게임플레이 기능을 만드는 비주얼 스크립팅 언어로 정의하고 있습니다. 그래프 형태로 로직이 표현되기 때문에 복잡한 로직도 비교적 쉽게 만들 수 있고, 와이어를 따라 실행 흐름이 어떻게 진행되는지 눈으로 직접 확인할 수 있어 문제가 생겼을 때 원인을 찾는 디버깅 작업도 한결 수월해집니다.</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블루프린트의 두 번째 특징은 스크립팅 언어, 즉 인터프리터 방식으로 동작한다는 점입니다. C++처럼 컴파일러 기반의 언어는 코드를 작성한 뒤 반드시 컴파일 과정을 거쳐야 실행할 수 있고, 프로젝트 규모가 커질수록 빌드에 걸리는 시간도 길어집니다. 반면 인터프리터 방식은 코드를 작성하는 즉시 실행되는 구조로, 파이썬이 대표적인 예이며 블루프린트도 이와 같은 방식으로 동작합니다. 블루프린트 그래프를 수정해도 별도의 빌드 과정 없이 곧바로 결과를 확인할 수 있어 반복적인 실험과 수정이 매우 빠르게 이루어집니다. 다만 블루프린트 에디터에도 컴파일 버튼이 존재하는데, 이는 C++의 컴파일과는 다른 개념으로, 그림으로 그려진 그래프를 엔진 내부에서 빠르게 처리할 수 있는 형태로 변환하는 과정입니다. 이 과정은 매우 짧은 시간에 끝나지만, 그래프를 수정한 내용을 실제로 반영하려면 반드시 저장과 컴파일을 함께 진행해야 한다는 점을 기억해야 합니다.</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블루프린트는 여러 장점과 함께 명확한 단점도 가지고 있습니다. 가장 큰 단점은 성능입니다. 블루프린트는 내부적으로 가상 머신을 기반으로 실행되기 때문에 C++에 비해 속도가 느리며, 적게는 5배에서 많게는 30배까지 차이가 난다고 알려져 있습니다. 또한 언리얼 엔진이 제공하는 모든 기능을 블루프린트만으로 사용할 수 있는 것은 아니며, 일부 저수준 기능은 C++로만 접근할 수 있습니다. 그럼에도 블루프린트는 계속 발전해 오면서 활용할 수 있는 기능의 폭이 매우 넓어졌고, 블루프린트로 작성한 로직을 C++ 코드로 변환하는 방법도 존재해 성능 문제를 보완할 수 있습니다. 특히 게임을 빠르게 프로토타입 해야 하는 상황이나, 캐주얼한 스타일의 게임을 개발할 때는 블루프린트만으로도 충분히 상용화 수준의 결과물을 만들 수 있습니다. 이런 이유로 언리얼 엔진 공식 문서에서도 블루프린트를 프로그래머가 만든 C++ 기반 시스템을 기획자가 손쉽게 확장할 수 있는 강력한 도구로 소개하고 있습니다.</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블루프린트 그래프를 이루는 기본 요소는 노드(Node)와 와이어(Wire)입니다. 노드는 사각형으로 표시되며 이벤트, 함수, 연산, 분기, 변수 등 다양한 동작을 나타냅니다. </a:t>
            </a:r>
            <a:r>
              <a:rPr lang="ko-KR" altLang="en-US"/>
              <a:t>여러 종류의 노드가 있는데</a:t>
            </a:r>
            <a:r>
              <a:rPr lang="en-US" altLang="ko-KR"/>
              <a:t>, </a:t>
            </a:r>
            <a:r>
              <a:rPr lang="ko-KR" altLang="en-US"/>
              <a:t>간단히 살펴보죠</a:t>
            </a:r>
            <a:r>
              <a:rPr lang="en-US" altLang="ko-KR"/>
              <a:t>. </a:t>
            </a:r>
            <a:r>
              <a:t>이벤트 노드는 피격이나 충돌, 제한 시간 종료처럼 특정 사건이 발생했음을 알려주는 노드</a:t>
            </a:r>
            <a:r>
              <a:rPr lang="ko-KR" altLang="en-US"/>
              <a:t>입니다</a:t>
            </a:r>
            <a:r>
              <a:rPr lang="en-US" altLang="ko-KR"/>
              <a:t>. </a:t>
            </a:r>
            <a:r>
              <a:t>함수 노드는 입력된 데이터를 처리해 결과를 반환하는 노드로, 예를 들어 SetActorLocation 노드는 액터의 위치를 설정하는 함수입니다. 연산 노드는 더하기나 곱하기 같은 계산을 수행</a:t>
            </a:r>
            <a:r>
              <a:rPr lang="ko-KR" altLang="en-US"/>
              <a:t>합니다</a:t>
            </a:r>
            <a:r>
              <a:rPr lang="en-US" altLang="ko-KR"/>
              <a:t>.</a:t>
            </a:r>
            <a:r>
              <a:t> 분기 노드는 프로그래밍의 if문이나 for문에 해당하는 Branch, ForLoop 같은 노드로 실행 흐름을 제어합니다. 마지막으로 변수 노드는 변수 값을 가져오는 Get 노드와 변수 값을 설정하는 Set 노드로 나뉩니다. 이렇게 프로그래밍 언어의 여러 문법 요소가 모두 노드의 형태로 표현되어 있는 것이 특징입니다.</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핀(Pin)은 노드의 좌우에 위치한 연결점으로, 크게 실행 핀과 데이터 핀 두 종류로 나뉩니다. 실행 핀은 흰색 오각형으로 표시되며 노드 상단의 좌우에 위치해, 노드와 노드를 연결하면서 프로그램이 진행되는 흐름, 즉 실행 순서를 나타냅니다. 일반적인 텍스트 기반 언어는 코드가 위에서 아래로 순서대로 실행되지만, 블루프린트에서는 노드의 왼쪽에서 시작해 오른쪽으로 실행 흐름이 이어지는 경우가 대부분입니다. </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C1C71-5C5C-215D-9EE5-8AB5BC78D1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F6A2E4-2139-1D32-EA09-05BB03BC97E4}"/>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33DD6542-334C-364F-6AF8-7B4457A1F1A1}"/>
              </a:ext>
            </a:extLst>
          </p:cNvPr>
          <p:cNvSpPr>
            <a:spLocks noGrp="1"/>
          </p:cNvSpPr>
          <p:nvPr>
            <p:ph type="body" sz="quarter" idx="3"/>
          </p:nvPr>
        </p:nvSpPr>
        <p:spPr/>
        <p:txBody>
          <a:bodyPr/>
          <a:lstStyle/>
          <a:p>
            <a:r>
              <a:t>실행 핀 아래쪽에 위치한 색깔이 있는 핀은 데이터 핀으로, 입력 핀과 출력 핀으로 구분됩니다. 함수를 예로 들면 함수에 들어가는 입력은 파라미터에 해당하고 함수에서 나오는 출력은 결과값에 해당하는데, 노드의 왼쪽 핀은 입력 데이터를, 오른쪽 핀은 출력 데이터를 나타냅니다. 데이터 핀의 색은 정수, 실수, 불리언, 벡터 등 데이터 타입에 따라 다르게 표시되어, 색깔만 보고도 어떤 종류의 값이 오가는지 쉽게 구분할 수 있도록 설계되어 있습니다.</a:t>
            </a:r>
          </a:p>
        </p:txBody>
      </p:sp>
      <p:sp>
        <p:nvSpPr>
          <p:cNvPr id="4" name="Slide Number Placeholder 3">
            <a:extLst>
              <a:ext uri="{FF2B5EF4-FFF2-40B4-BE49-F238E27FC236}">
                <a16:creationId xmlns:a16="http://schemas.microsoft.com/office/drawing/2014/main" id="{231C9BC4-C52A-2A0F-B753-E5A8140DA392}"/>
              </a:ext>
            </a:extLst>
          </p:cNvPr>
          <p:cNvSpPr>
            <a:spLocks noGrp="1"/>
          </p:cNvSpPr>
          <p:nvPr>
            <p:ph type="sldNum" sz="quarter" idx="5"/>
          </p:nvPr>
        </p:nvSpPr>
        <p:spPr/>
      </p:sp>
    </p:spTree>
    <p:extLst>
      <p:ext uri="{BB962C8B-B14F-4D97-AF65-F5344CB8AC3E}">
        <p14:creationId xmlns:p14="http://schemas.microsoft.com/office/powerpoint/2010/main" val="104578099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와이어(Wire)는 핀과 핀을 연결해 노드와 노드를 이어주는 선으로, 실행 흐름을 나타내는 와이어와 데이터 흐름을 나타내는 와이어 두 종류가 있습니다. 실행 흐름을 나타내는 와이어는 흰색 선으로 표시되며, 예를 들어 이벤트 틱(Event Tick) 노드에서 뻗어 나온 흰색 와이어를 따라 프로그램의 실행 흐름이 다음 함수 노드로 전달됩니다. 반면 색깔이 있는 와이어는 데이터의 흐름을 나타내며, 어떤 노드의 출력값이 다른 노드의 입력값으로 전달될 때 사용됩니다. 와이어의 색깔은 연결된 데이터 핀의 타입에 따라 결정되는데, 예를 들어 노란색 와이어는 단일 부동소수점 값인 Float(스칼라) 타입을 나타냅니다. 이렇게 핀과 와이어라는 단순한 시각 요소만으로도 실행 순서와 데이터의 입출력을 모두 명확하게 표현할 수 있다는 점이 블루프린트 그래프의 큰 장점이며, 이 덕분에 복잡한 로직도 한눈에 흐름을 파악하기 쉬워집니다.</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언리얼 엔진에서 물체를 움직이는 가장 기본적인 방법은 게임 루프(Game Loop) 구조를 따르는 것입니다. 이는 마치 스톱모션 애니메이션이나 인형극처럼, 물체를 아주 조금씩 움직이고 그 상태를 계속 촬영해 이어 붙이는 방식과 같습니다. 게임이 시작되면 언리얼 엔진은 레벨에 존재하는 모든 액터에게 가장 먼저 초기화를 위한 이벤트인 BeginPlay(이벤트 비긴 플레이)를 보내 시작 준비를 하게 합니다. 초기화가 끝난 뒤부터는 엔진이 초당 평균 60회 이상 각 액터에게 Tick(이벤트 틱)을 보내고, 액터는 이 틱 이벤트를 받을 때마다 스스로 상태를 업데이트합니다. 모든 액터가 상태를 갱신하고 나면 엔진은 그 결과를 기준으로 화면을 렌더링하며, 이 BeginPlay와 Tick의 반복 구조가 바로 게임 루프입니다. 이러한 구조를 이해하면 액터의 위치를 갱신하는 GetActorLocation, SetActorLocation 같은 함수를 왜 Tick 이벤트에 연결해야 하는지 자연스럽게 이해할 수 있습니다.</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Step 1. 콘텐츠 폴더 아래에 렉처03 폴더를 새로 만든다.</a:t>
            </a:r>
          </a:p>
          <a:p>
            <a:r>
              <a:t>Step 2. 기존 브릭하우스 맵을 복사해 렉처03 폴더에 저장하고, 복사된 레벨을 연다.</a:t>
            </a:r>
          </a:p>
          <a:p>
            <a:r>
              <a:t>Step 3. 스타터 콘텐츠 프롭스 폴더의 SM_Structure 스태틱 메쉬를 레벨 위로 드래그해서 배치한다.</a:t>
            </a:r>
          </a:p>
          <a:p>
            <a:r>
              <a:t>Step 4. 머티리얼 폴더에서 골드 머티리얼을 찾아 오브젝트에 드래그해 적용한다.</a:t>
            </a:r>
          </a:p>
          <a:p>
            <a:r>
              <a:t>Step 5. 트로피를 선택하고 디테일 패널의 블루프린트 생성 버튼을 클릭한다.</a:t>
            </a:r>
          </a:p>
          <a:p>
            <a:r>
              <a:t>Step 6. 블루프린트 이름을 BP_GoldTrophy로 정하고, 렉처03 폴더에 저장한다.</a:t>
            </a:r>
          </a:p>
          <a:p>
            <a:r>
              <a:t>Step 7. 블루프린트 에디터 탭을 메인 창에 도킹시키고 Ctrl+S로 저장한다.</a:t>
            </a:r>
          </a:p>
          <a:p>
            <a:r>
              <a:t>Step 8. 이벤트 그래프 탭으로 이동해 기본으로 놓인 Event Tick 노드를 확인한다.</a:t>
            </a:r>
          </a:p>
          <a:p>
            <a:r>
              <a:t>Step 9. 빈 공간에서 마우스 오른쪽 버튼을 눌러 SetActorLocation 노드를 검색해 추가한다.</a:t>
            </a:r>
          </a:p>
          <a:p>
            <a:r>
              <a:t>Step 10. Event Tick의 실행 핀을 SetActorLocation의 실행 핀에 연결한다.</a:t>
            </a:r>
          </a:p>
          <a:p>
            <a:r>
              <a:t>Step 11. GetActorLocation 노드를 추가해 현재 위치(Vector)를 가져온다.</a:t>
            </a:r>
          </a:p>
          <a:p>
            <a:r>
              <a:t>Step 12. GetActorLocation의 리턴 값을 드래그해 Add 노드를 만들고, Z 값에 1을 입력한다.</a:t>
            </a:r>
          </a:p>
          <a:p>
            <a:r>
              <a:t>Step 13. Add 노드의 결과를 SetActorLocation의 New Location 입력에 연결한다.</a:t>
            </a:r>
          </a:p>
          <a:p>
            <a:r>
              <a:t>Step 14. 저장 후 컴파일 버튼을 눌러 그래프를 반영한다.</a:t>
            </a:r>
          </a:p>
          <a:p>
            <a:r>
              <a:t>Step 15. 레벨에서 플레이해 보면 트로피가 움직이지 않고 에러 메시지가 나오는 것을 확인한다.</a:t>
            </a:r>
          </a:p>
          <a:p>
            <a:r>
              <a:t>Step 16. 트로피의 디테일 패널에서 Mobility 속성을 Static에서 Movable로 변경한다.</a:t>
            </a:r>
          </a:p>
          <a:p>
            <a:r>
              <a:t>Step 17. 다시 플레이해서 트로피가 위로 계속 올라가는 것을 확인한다.</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F9F369-0F5C-8F37-0C2E-5720CE604D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2D14A6-1317-5EB1-7CBC-38ABA9464539}"/>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38CB032-95E0-4D86-FF6A-03FA23EB35C0}"/>
              </a:ext>
            </a:extLst>
          </p:cNvPr>
          <p:cNvSpPr>
            <a:spLocks noGrp="1"/>
          </p:cNvSpPr>
          <p:nvPr>
            <p:ph type="body" sz="quarter" idx="3"/>
          </p:nvPr>
        </p:nvSpPr>
        <p:spPr/>
        <p:txBody>
          <a:bodyPr/>
          <a:lstStyle/>
          <a:p>
            <a:endParaRPr/>
          </a:p>
        </p:txBody>
      </p:sp>
      <p:sp>
        <p:nvSpPr>
          <p:cNvPr id="4" name="Slide Number Placeholder 3">
            <a:extLst>
              <a:ext uri="{FF2B5EF4-FFF2-40B4-BE49-F238E27FC236}">
                <a16:creationId xmlns:a16="http://schemas.microsoft.com/office/drawing/2014/main" id="{C9CE5548-19EE-7BC0-E80D-DA1C5E7A3452}"/>
              </a:ext>
            </a:extLst>
          </p:cNvPr>
          <p:cNvSpPr>
            <a:spLocks noGrp="1"/>
          </p:cNvSpPr>
          <p:nvPr>
            <p:ph type="sldNum" sz="quarter" idx="5"/>
          </p:nvPr>
        </p:nvSpPr>
        <p:spPr/>
      </p:sp>
    </p:spTree>
    <p:extLst>
      <p:ext uri="{BB962C8B-B14F-4D97-AF65-F5344CB8AC3E}">
        <p14:creationId xmlns:p14="http://schemas.microsoft.com/office/powerpoint/2010/main" val="16322920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pPr rtl="0"/>
            <a:r>
              <a:rPr lang="ko-KR" altLang="en-US" sz="1200" kern="1200">
                <a:solidFill>
                  <a:schemeClr val="tx1"/>
                </a:solidFill>
                <a:effectLst/>
                <a:latin typeface="+mn-lt"/>
                <a:ea typeface="+mn-ea"/>
                <a:cs typeface="+mn-cs"/>
              </a:rPr>
              <a:t>언리얼 엔진의 핵심 중 하나인 블루프린트 클래스</a:t>
            </a:r>
            <a:r>
              <a:rPr lang="en-US" altLang="ko-KR" sz="1200" kern="1200">
                <a:solidFill>
                  <a:schemeClr val="tx1"/>
                </a:solidFill>
                <a:effectLst/>
                <a:latin typeface="+mn-lt"/>
                <a:ea typeface="+mn-ea"/>
                <a:cs typeface="+mn-cs"/>
              </a:rPr>
              <a:t>(Blueprint Class)</a:t>
            </a:r>
            <a:r>
              <a:rPr lang="ko-KR" altLang="en-US" sz="1200" kern="1200">
                <a:solidFill>
                  <a:schemeClr val="tx1"/>
                </a:solidFill>
                <a:effectLst/>
                <a:latin typeface="+mn-lt"/>
                <a:ea typeface="+mn-ea"/>
                <a:cs typeface="+mn-cs"/>
              </a:rPr>
              <a:t>에 대해 알아보겠습니다</a:t>
            </a:r>
            <a:r>
              <a:rPr lang="en-US" altLang="ko-KR" sz="1200" kern="1200">
                <a:solidFill>
                  <a:schemeClr val="tx1"/>
                </a:solidFill>
                <a:effectLst/>
                <a:latin typeface="+mn-lt"/>
                <a:ea typeface="+mn-ea"/>
                <a:cs typeface="+mn-cs"/>
              </a:rPr>
              <a:t>.</a:t>
            </a:r>
          </a:p>
          <a:p>
            <a:pPr rtl="0"/>
            <a:r>
              <a:rPr lang="ko-KR" altLang="en-US" sz="1200" kern="1200">
                <a:solidFill>
                  <a:schemeClr val="tx1"/>
                </a:solidFill>
                <a:effectLst/>
                <a:latin typeface="+mn-lt"/>
                <a:ea typeface="+mn-ea"/>
                <a:cs typeface="+mn-cs"/>
              </a:rPr>
              <a:t>언리얼 엔진에서 </a:t>
            </a:r>
            <a:r>
              <a:rPr lang="en-US" altLang="ko-KR" sz="1200" kern="1200">
                <a:solidFill>
                  <a:schemeClr val="tx1"/>
                </a:solidFill>
                <a:effectLst/>
                <a:latin typeface="+mn-lt"/>
                <a:ea typeface="+mn-ea"/>
                <a:cs typeface="+mn-cs"/>
              </a:rPr>
              <a:t>'</a:t>
            </a:r>
            <a:r>
              <a:rPr lang="ko-KR" altLang="en-US" sz="1200" kern="1200">
                <a:solidFill>
                  <a:schemeClr val="tx1"/>
                </a:solidFill>
                <a:effectLst/>
                <a:latin typeface="+mn-lt"/>
                <a:ea typeface="+mn-ea"/>
                <a:cs typeface="+mn-cs"/>
              </a:rPr>
              <a:t>블루프린트</a:t>
            </a:r>
            <a:r>
              <a:rPr lang="en-US" altLang="ko-KR" sz="1200" kern="1200">
                <a:solidFill>
                  <a:schemeClr val="tx1"/>
                </a:solidFill>
                <a:effectLst/>
                <a:latin typeface="+mn-lt"/>
                <a:ea typeface="+mn-ea"/>
                <a:cs typeface="+mn-cs"/>
              </a:rPr>
              <a:t>'</a:t>
            </a:r>
            <a:r>
              <a:rPr lang="ko-KR" altLang="en-US" sz="1200" kern="1200">
                <a:solidFill>
                  <a:schemeClr val="tx1"/>
                </a:solidFill>
                <a:effectLst/>
                <a:latin typeface="+mn-lt"/>
                <a:ea typeface="+mn-ea"/>
                <a:cs typeface="+mn-cs"/>
              </a:rPr>
              <a:t>는 사실 굉장히 다양한 용도로 사용되며</a:t>
            </a:r>
            <a:r>
              <a:rPr lang="en-US" altLang="ko-KR" sz="1200" kern="1200">
                <a:solidFill>
                  <a:schemeClr val="tx1"/>
                </a:solidFill>
                <a:effectLst/>
                <a:latin typeface="+mn-lt"/>
                <a:ea typeface="+mn-ea"/>
                <a:cs typeface="+mn-cs"/>
              </a:rPr>
              <a:t>, </a:t>
            </a:r>
            <a:r>
              <a:rPr lang="ko-KR" altLang="en-US" sz="1200" kern="1200">
                <a:solidFill>
                  <a:schemeClr val="tx1"/>
                </a:solidFill>
                <a:effectLst/>
                <a:latin typeface="+mn-lt"/>
                <a:ea typeface="+mn-ea"/>
                <a:cs typeface="+mn-cs"/>
              </a:rPr>
              <a:t>그 타입 또한 여러 가지가 존재합니다</a:t>
            </a:r>
            <a:r>
              <a:rPr lang="en-US" altLang="ko-KR" sz="1200" kern="1200">
                <a:solidFill>
                  <a:schemeClr val="tx1"/>
                </a:solidFill>
                <a:effectLst/>
                <a:latin typeface="+mn-lt"/>
                <a:ea typeface="+mn-ea"/>
                <a:cs typeface="+mn-cs"/>
              </a:rPr>
              <a:t>. </a:t>
            </a:r>
            <a:r>
              <a:rPr lang="ko-KR" altLang="en-US" sz="1200" kern="1200">
                <a:solidFill>
                  <a:schemeClr val="tx1"/>
                </a:solidFill>
                <a:effectLst/>
                <a:latin typeface="+mn-lt"/>
                <a:ea typeface="+mn-ea"/>
                <a:cs typeface="+mn-cs"/>
              </a:rPr>
              <a:t>하지만 그중에서도 블루프린트 클래스가 가장 핵심적이고 기초가 되는 유형입니다</a:t>
            </a:r>
            <a:r>
              <a:rPr lang="en-US" altLang="ko-KR" sz="1200" kern="1200">
                <a:solidFill>
                  <a:schemeClr val="tx1"/>
                </a:solidFill>
                <a:effectLst/>
                <a:latin typeface="+mn-lt"/>
                <a:ea typeface="+mn-ea"/>
                <a:cs typeface="+mn-cs"/>
              </a:rPr>
              <a:t>. </a:t>
            </a:r>
            <a:r>
              <a:rPr lang="ko-KR" altLang="en-US" sz="1200" kern="1200">
                <a:solidFill>
                  <a:schemeClr val="tx1"/>
                </a:solidFill>
                <a:effectLst/>
                <a:latin typeface="+mn-lt"/>
                <a:ea typeface="+mn-ea"/>
                <a:cs typeface="+mn-cs"/>
              </a:rPr>
              <a:t>그렇기 때문에 실무나 학습 과정에서 흔히 </a:t>
            </a:r>
            <a:r>
              <a:rPr lang="en-US" altLang="ko-KR" sz="1200" kern="1200">
                <a:solidFill>
                  <a:schemeClr val="tx1"/>
                </a:solidFill>
                <a:effectLst/>
                <a:latin typeface="+mn-lt"/>
                <a:ea typeface="+mn-ea"/>
                <a:cs typeface="+mn-cs"/>
              </a:rPr>
              <a:t>"</a:t>
            </a:r>
            <a:r>
              <a:rPr lang="ko-KR" altLang="en-US" sz="1200" kern="1200">
                <a:solidFill>
                  <a:schemeClr val="tx1"/>
                </a:solidFill>
                <a:effectLst/>
                <a:latin typeface="+mn-lt"/>
                <a:ea typeface="+mn-ea"/>
                <a:cs typeface="+mn-cs"/>
              </a:rPr>
              <a:t>블루프린트</a:t>
            </a:r>
            <a:r>
              <a:rPr lang="en-US" altLang="ko-KR" sz="1200" kern="1200">
                <a:solidFill>
                  <a:schemeClr val="tx1"/>
                </a:solidFill>
                <a:effectLst/>
                <a:latin typeface="+mn-lt"/>
                <a:ea typeface="+mn-ea"/>
                <a:cs typeface="+mn-cs"/>
              </a:rPr>
              <a:t>"</a:t>
            </a:r>
            <a:r>
              <a:rPr lang="ko-KR" altLang="en-US" sz="1200" kern="1200">
                <a:solidFill>
                  <a:schemeClr val="tx1"/>
                </a:solidFill>
                <a:effectLst/>
                <a:latin typeface="+mn-lt"/>
                <a:ea typeface="+mn-ea"/>
                <a:cs typeface="+mn-cs"/>
              </a:rPr>
              <a:t>라고 줄여서 부를 때는</a:t>
            </a:r>
            <a:r>
              <a:rPr lang="en-US" altLang="ko-KR" sz="1200" kern="1200">
                <a:solidFill>
                  <a:schemeClr val="tx1"/>
                </a:solidFill>
                <a:effectLst/>
                <a:latin typeface="+mn-lt"/>
                <a:ea typeface="+mn-ea"/>
                <a:cs typeface="+mn-cs"/>
              </a:rPr>
              <a:t>, </a:t>
            </a:r>
            <a:r>
              <a:rPr lang="ko-KR" altLang="en-US" sz="1200" kern="1200">
                <a:solidFill>
                  <a:schemeClr val="tx1"/>
                </a:solidFill>
                <a:effectLst/>
                <a:latin typeface="+mn-lt"/>
                <a:ea typeface="+mn-ea"/>
                <a:cs typeface="+mn-cs"/>
              </a:rPr>
              <a:t>일반적으로 이 </a:t>
            </a:r>
            <a:r>
              <a:rPr lang="en-US" altLang="ko-KR" sz="1200" kern="1200">
                <a:solidFill>
                  <a:schemeClr val="tx1"/>
                </a:solidFill>
                <a:effectLst/>
                <a:latin typeface="+mn-lt"/>
                <a:ea typeface="+mn-ea"/>
                <a:cs typeface="+mn-cs"/>
              </a:rPr>
              <a:t>'</a:t>
            </a:r>
            <a:r>
              <a:rPr lang="ko-KR" altLang="en-US" sz="1200" kern="1200">
                <a:solidFill>
                  <a:schemeClr val="tx1"/>
                </a:solidFill>
                <a:effectLst/>
                <a:latin typeface="+mn-lt"/>
                <a:ea typeface="+mn-ea"/>
                <a:cs typeface="+mn-cs"/>
              </a:rPr>
              <a:t>블루프린트 클래스</a:t>
            </a:r>
            <a:r>
              <a:rPr lang="en-US" altLang="ko-KR" sz="1200" kern="1200">
                <a:solidFill>
                  <a:schemeClr val="tx1"/>
                </a:solidFill>
                <a:effectLst/>
                <a:latin typeface="+mn-lt"/>
                <a:ea typeface="+mn-ea"/>
                <a:cs typeface="+mn-cs"/>
              </a:rPr>
              <a:t>'</a:t>
            </a:r>
            <a:r>
              <a:rPr lang="ko-KR" altLang="en-US" sz="1200" kern="1200">
                <a:solidFill>
                  <a:schemeClr val="tx1"/>
                </a:solidFill>
                <a:effectLst/>
                <a:latin typeface="+mn-lt"/>
                <a:ea typeface="+mn-ea"/>
                <a:cs typeface="+mn-cs"/>
              </a:rPr>
              <a:t>를 가리킨다고 이해하시면 되겠습니다</a:t>
            </a:r>
            <a:r>
              <a:rPr lang="en-US" altLang="ko-KR" sz="1200" kern="1200">
                <a:solidFill>
                  <a:schemeClr val="tx1"/>
                </a:solidFill>
                <a:effectLst/>
                <a:latin typeface="+mn-lt"/>
                <a:ea typeface="+mn-ea"/>
                <a:cs typeface="+mn-cs"/>
              </a:rPr>
              <a:t>. </a:t>
            </a:r>
            <a:r>
              <a:rPr lang="ko-KR" altLang="en-US" sz="1200" kern="1200">
                <a:solidFill>
                  <a:schemeClr val="tx1"/>
                </a:solidFill>
                <a:effectLst/>
                <a:latin typeface="+mn-lt"/>
                <a:ea typeface="+mn-ea"/>
                <a:cs typeface="+mn-cs"/>
              </a:rPr>
              <a:t>결론적으로 블루프린트 클래스는 </a:t>
            </a:r>
            <a:r>
              <a:rPr lang="ko-KR" altLang="en-US" sz="1200" b="1" kern="1200">
                <a:solidFill>
                  <a:schemeClr val="tx1"/>
                </a:solidFill>
                <a:effectLst/>
                <a:latin typeface="+mn-lt"/>
                <a:ea typeface="+mn-ea"/>
                <a:cs typeface="+mn-cs"/>
              </a:rPr>
              <a:t>새로운 종류의 액터를 설계하고 생성하는 데 사용되는 강력한 도구</a:t>
            </a:r>
            <a:r>
              <a:rPr lang="ko-KR" altLang="en-US" sz="1200" kern="1200">
                <a:solidFill>
                  <a:schemeClr val="tx1"/>
                </a:solidFill>
                <a:effectLst/>
                <a:latin typeface="+mn-lt"/>
                <a:ea typeface="+mn-ea"/>
                <a:cs typeface="+mn-cs"/>
              </a:rPr>
              <a:t>입니다</a:t>
            </a:r>
            <a:r>
              <a:rPr lang="en-US" altLang="ko-KR" sz="1200" kern="1200">
                <a:solidFill>
                  <a:schemeClr val="tx1"/>
                </a:solidFill>
                <a:effectLst/>
                <a:latin typeface="+mn-lt"/>
                <a:ea typeface="+mn-ea"/>
                <a:cs typeface="+mn-cs"/>
              </a:rPr>
              <a:t>.</a:t>
            </a:r>
            <a:endParaRPr lang="ko-KR" altLang="en-US" sz="1200" b="1" kern="1200">
              <a:solidFill>
                <a:schemeClr val="tx1"/>
              </a:solidFill>
              <a:effectLst/>
              <a:latin typeface="+mn-lt"/>
              <a:ea typeface="+mn-ea"/>
              <a:cs typeface="+mn-cs"/>
            </a:endParaRPr>
          </a:p>
          <a:p>
            <a:pPr rtl="0"/>
            <a:r>
              <a:rPr lang="ko-KR" altLang="en-US" sz="1200" kern="1200">
                <a:solidFill>
                  <a:schemeClr val="tx1"/>
                </a:solidFill>
                <a:effectLst/>
                <a:latin typeface="+mn-lt"/>
                <a:ea typeface="+mn-ea"/>
                <a:cs typeface="+mn-cs"/>
              </a:rPr>
              <a:t>그렇다면 </a:t>
            </a:r>
            <a:r>
              <a:rPr lang="en-US" altLang="ko-KR" sz="1200" kern="1200">
                <a:solidFill>
                  <a:schemeClr val="tx1"/>
                </a:solidFill>
                <a:effectLst/>
                <a:latin typeface="+mn-lt"/>
                <a:ea typeface="+mn-ea"/>
                <a:cs typeface="+mn-cs"/>
              </a:rPr>
              <a:t>'</a:t>
            </a:r>
            <a:r>
              <a:rPr lang="ko-KR" altLang="en-US" sz="1200" kern="1200">
                <a:solidFill>
                  <a:schemeClr val="tx1"/>
                </a:solidFill>
                <a:effectLst/>
                <a:latin typeface="+mn-lt"/>
                <a:ea typeface="+mn-ea"/>
                <a:cs typeface="+mn-cs"/>
              </a:rPr>
              <a:t>클래스</a:t>
            </a:r>
            <a:r>
              <a:rPr lang="en-US" altLang="ko-KR" sz="1200" kern="1200">
                <a:solidFill>
                  <a:schemeClr val="tx1"/>
                </a:solidFill>
                <a:effectLst/>
                <a:latin typeface="+mn-lt"/>
                <a:ea typeface="+mn-ea"/>
                <a:cs typeface="+mn-cs"/>
              </a:rPr>
              <a:t>(Class)'</a:t>
            </a:r>
            <a:r>
              <a:rPr lang="ko-KR" altLang="en-US" sz="1200" kern="1200">
                <a:solidFill>
                  <a:schemeClr val="tx1"/>
                </a:solidFill>
                <a:effectLst/>
                <a:latin typeface="+mn-lt"/>
                <a:ea typeface="+mn-ea"/>
                <a:cs typeface="+mn-cs"/>
              </a:rPr>
              <a:t>란 정확히 무엇일까요</a:t>
            </a:r>
            <a:r>
              <a:rPr lang="en-US" altLang="ko-KR" sz="1200" kern="1200">
                <a:solidFill>
                  <a:schemeClr val="tx1"/>
                </a:solidFill>
                <a:effectLst/>
                <a:latin typeface="+mn-lt"/>
                <a:ea typeface="+mn-ea"/>
                <a:cs typeface="+mn-cs"/>
              </a:rPr>
              <a:t>? </a:t>
            </a:r>
          </a:p>
          <a:p>
            <a:pPr rtl="0"/>
            <a:r>
              <a:rPr lang="ko-KR" altLang="en-US" sz="1200" kern="1200">
                <a:solidFill>
                  <a:schemeClr val="tx1"/>
                </a:solidFill>
                <a:effectLst/>
                <a:latin typeface="+mn-lt"/>
                <a:ea typeface="+mn-ea"/>
                <a:cs typeface="+mn-cs"/>
              </a:rPr>
              <a:t>이는 객체 지향 프로그래밍</a:t>
            </a:r>
            <a:r>
              <a:rPr lang="en-US" altLang="ko-KR" sz="1200" kern="1200">
                <a:solidFill>
                  <a:schemeClr val="tx1"/>
                </a:solidFill>
                <a:effectLst/>
                <a:latin typeface="+mn-lt"/>
                <a:ea typeface="+mn-ea"/>
                <a:cs typeface="+mn-cs"/>
              </a:rPr>
              <a:t>(OOP)</a:t>
            </a:r>
            <a:r>
              <a:rPr lang="ko-KR" altLang="en-US" sz="1200" kern="1200">
                <a:solidFill>
                  <a:schemeClr val="tx1"/>
                </a:solidFill>
                <a:effectLst/>
                <a:latin typeface="+mn-lt"/>
                <a:ea typeface="+mn-ea"/>
                <a:cs typeface="+mn-cs"/>
              </a:rPr>
              <a:t>에서 유래한 개념으로</a:t>
            </a:r>
            <a:r>
              <a:rPr lang="en-US" altLang="ko-KR" sz="1200" kern="1200">
                <a:solidFill>
                  <a:schemeClr val="tx1"/>
                </a:solidFill>
                <a:effectLst/>
                <a:latin typeface="+mn-lt"/>
                <a:ea typeface="+mn-ea"/>
                <a:cs typeface="+mn-cs"/>
              </a:rPr>
              <a:t>, </a:t>
            </a:r>
            <a:r>
              <a:rPr lang="ko-KR" altLang="en-US" sz="1200" kern="1200">
                <a:solidFill>
                  <a:schemeClr val="tx1"/>
                </a:solidFill>
                <a:effectLst/>
                <a:latin typeface="+mn-lt"/>
                <a:ea typeface="+mn-ea"/>
                <a:cs typeface="+mn-cs"/>
              </a:rPr>
              <a:t>쉽게 말해 </a:t>
            </a:r>
            <a:r>
              <a:rPr lang="ko-KR" altLang="en-US" sz="1200" b="1" kern="1200">
                <a:solidFill>
                  <a:schemeClr val="tx1"/>
                </a:solidFill>
                <a:effectLst/>
                <a:latin typeface="+mn-lt"/>
                <a:ea typeface="+mn-ea"/>
                <a:cs typeface="+mn-cs"/>
              </a:rPr>
              <a:t>객체를 만들기 위한 설계도</a:t>
            </a:r>
            <a:r>
              <a:rPr lang="ko-KR" altLang="en-US" sz="1200" kern="1200">
                <a:solidFill>
                  <a:schemeClr val="tx1"/>
                </a:solidFill>
                <a:effectLst/>
                <a:latin typeface="+mn-lt"/>
                <a:ea typeface="+mn-ea"/>
                <a:cs typeface="+mn-cs"/>
              </a:rPr>
              <a:t>를 뜻합니다</a:t>
            </a:r>
            <a:r>
              <a:rPr lang="en-US" altLang="ko-KR" sz="1200" kern="1200">
                <a:solidFill>
                  <a:schemeClr val="tx1"/>
                </a:solidFill>
                <a:effectLst/>
                <a:latin typeface="+mn-lt"/>
                <a:ea typeface="+mn-ea"/>
                <a:cs typeface="+mn-cs"/>
              </a:rPr>
              <a:t>.</a:t>
            </a:r>
          </a:p>
          <a:p>
            <a:pPr rtl="0"/>
            <a:r>
              <a:rPr lang="ko-KR" altLang="en-US" sz="1200" kern="1200">
                <a:solidFill>
                  <a:schemeClr val="tx1"/>
                </a:solidFill>
                <a:effectLst/>
                <a:latin typeface="+mn-lt"/>
                <a:ea typeface="+mn-ea"/>
                <a:cs typeface="+mn-cs"/>
              </a:rPr>
              <a:t>우리가 흔히 접하는 붕어빵을 떠올려 볼까요</a:t>
            </a:r>
            <a:r>
              <a:rPr lang="en-US" altLang="ko-KR" sz="1200" kern="1200">
                <a:solidFill>
                  <a:schemeClr val="tx1"/>
                </a:solidFill>
                <a:effectLst/>
                <a:latin typeface="+mn-lt"/>
                <a:ea typeface="+mn-ea"/>
                <a:cs typeface="+mn-cs"/>
              </a:rPr>
              <a:t>? </a:t>
            </a:r>
            <a:r>
              <a:rPr lang="ko-KR" altLang="en-US" sz="1200" kern="1200">
                <a:solidFill>
                  <a:schemeClr val="tx1"/>
                </a:solidFill>
                <a:effectLst/>
                <a:latin typeface="+mn-lt"/>
                <a:ea typeface="+mn-ea"/>
                <a:cs typeface="+mn-cs"/>
              </a:rPr>
              <a:t>잘 만들어진 붕어빵 틀</a:t>
            </a:r>
            <a:r>
              <a:rPr lang="en-US" altLang="ko-KR" sz="1200" kern="1200">
                <a:solidFill>
                  <a:schemeClr val="tx1"/>
                </a:solidFill>
                <a:effectLst/>
                <a:latin typeface="+mn-lt"/>
                <a:ea typeface="+mn-ea"/>
                <a:cs typeface="+mn-cs"/>
              </a:rPr>
              <a:t>(</a:t>
            </a:r>
            <a:r>
              <a:rPr lang="ko-KR" altLang="en-US" sz="1200" kern="1200">
                <a:solidFill>
                  <a:schemeClr val="tx1"/>
                </a:solidFill>
                <a:effectLst/>
                <a:latin typeface="+mn-lt"/>
                <a:ea typeface="+mn-ea"/>
                <a:cs typeface="+mn-cs"/>
              </a:rPr>
              <a:t>설계도</a:t>
            </a:r>
            <a:r>
              <a:rPr lang="en-US" altLang="ko-KR" sz="1200" kern="1200">
                <a:solidFill>
                  <a:schemeClr val="tx1"/>
                </a:solidFill>
                <a:effectLst/>
                <a:latin typeface="+mn-lt"/>
                <a:ea typeface="+mn-ea"/>
                <a:cs typeface="+mn-cs"/>
              </a:rPr>
              <a:t>) </a:t>
            </a:r>
            <a:r>
              <a:rPr lang="ko-KR" altLang="en-US" sz="1200" kern="1200">
                <a:solidFill>
                  <a:schemeClr val="tx1"/>
                </a:solidFill>
                <a:effectLst/>
                <a:latin typeface="+mn-lt"/>
                <a:ea typeface="+mn-ea"/>
                <a:cs typeface="+mn-cs"/>
              </a:rPr>
              <a:t>하나만 있으면</a:t>
            </a:r>
            <a:r>
              <a:rPr lang="en-US" altLang="ko-KR" sz="1200" kern="1200">
                <a:solidFill>
                  <a:schemeClr val="tx1"/>
                </a:solidFill>
                <a:effectLst/>
                <a:latin typeface="+mn-lt"/>
                <a:ea typeface="+mn-ea"/>
                <a:cs typeface="+mn-cs"/>
              </a:rPr>
              <a:t>, </a:t>
            </a:r>
            <a:r>
              <a:rPr lang="ko-KR" altLang="en-US" sz="1200" kern="1200">
                <a:solidFill>
                  <a:schemeClr val="tx1"/>
                </a:solidFill>
                <a:effectLst/>
                <a:latin typeface="+mn-lt"/>
                <a:ea typeface="+mn-ea"/>
                <a:cs typeface="+mn-cs"/>
              </a:rPr>
              <a:t>우리는 그 틀을 이용해 똑같은 모양의 붕어빵</a:t>
            </a:r>
            <a:r>
              <a:rPr lang="en-US" altLang="ko-KR" sz="1200" kern="1200">
                <a:solidFill>
                  <a:schemeClr val="tx1"/>
                </a:solidFill>
                <a:effectLst/>
                <a:latin typeface="+mn-lt"/>
                <a:ea typeface="+mn-ea"/>
                <a:cs typeface="+mn-cs"/>
              </a:rPr>
              <a:t>(</a:t>
            </a:r>
            <a:r>
              <a:rPr lang="ko-KR" altLang="en-US" sz="1200" kern="1200">
                <a:solidFill>
                  <a:schemeClr val="tx1"/>
                </a:solidFill>
                <a:effectLst/>
                <a:latin typeface="+mn-lt"/>
                <a:ea typeface="+mn-ea"/>
                <a:cs typeface="+mn-cs"/>
              </a:rPr>
              <a:t>객체</a:t>
            </a:r>
            <a:r>
              <a:rPr lang="en-US" altLang="ko-KR" sz="1200" kern="1200">
                <a:solidFill>
                  <a:schemeClr val="tx1"/>
                </a:solidFill>
                <a:effectLst/>
                <a:latin typeface="+mn-lt"/>
                <a:ea typeface="+mn-ea"/>
                <a:cs typeface="+mn-cs"/>
              </a:rPr>
              <a:t>)</a:t>
            </a:r>
            <a:r>
              <a:rPr lang="ko-KR" altLang="en-US" sz="1200" kern="1200">
                <a:solidFill>
                  <a:schemeClr val="tx1"/>
                </a:solidFill>
                <a:effectLst/>
                <a:latin typeface="+mn-lt"/>
                <a:ea typeface="+mn-ea"/>
                <a:cs typeface="+mn-cs"/>
              </a:rPr>
              <a:t>을 무한정 계속해서 찍어낼 수 있습니다</a:t>
            </a:r>
            <a:r>
              <a:rPr lang="en-US" altLang="ko-KR" sz="1200" kern="1200">
                <a:solidFill>
                  <a:schemeClr val="tx1"/>
                </a:solidFill>
                <a:effectLst/>
                <a:latin typeface="+mn-lt"/>
                <a:ea typeface="+mn-ea"/>
                <a:cs typeface="+mn-cs"/>
              </a:rPr>
              <a:t>. </a:t>
            </a:r>
            <a:r>
              <a:rPr lang="ko-KR" altLang="en-US" sz="1200" kern="1200">
                <a:solidFill>
                  <a:schemeClr val="tx1"/>
                </a:solidFill>
                <a:effectLst/>
                <a:latin typeface="+mn-lt"/>
                <a:ea typeface="+mn-ea"/>
                <a:cs typeface="+mn-cs"/>
              </a:rPr>
              <a:t>프로그래밍에서의 클래스도 이와 완벽하게 동일한 역할을 합니다</a:t>
            </a:r>
            <a:r>
              <a:rPr lang="en-US" altLang="ko-KR" sz="1200" kern="1200">
                <a:solidFill>
                  <a:schemeClr val="tx1"/>
                </a:solidFill>
                <a:effectLst/>
                <a:latin typeface="+mn-lt"/>
                <a:ea typeface="+mn-ea"/>
                <a:cs typeface="+mn-cs"/>
              </a:rPr>
              <a:t>. </a:t>
            </a:r>
            <a:r>
              <a:rPr lang="ko-KR" altLang="en-US" sz="1200" kern="1200">
                <a:solidFill>
                  <a:schemeClr val="tx1"/>
                </a:solidFill>
                <a:effectLst/>
                <a:latin typeface="+mn-lt"/>
                <a:ea typeface="+mn-ea"/>
                <a:cs typeface="+mn-cs"/>
              </a:rPr>
              <a:t>하나의 클래스를 제대로 만들어 두면</a:t>
            </a:r>
            <a:r>
              <a:rPr lang="en-US" altLang="ko-KR" sz="1200" kern="1200">
                <a:solidFill>
                  <a:schemeClr val="tx1"/>
                </a:solidFill>
                <a:effectLst/>
                <a:latin typeface="+mn-lt"/>
                <a:ea typeface="+mn-ea"/>
                <a:cs typeface="+mn-cs"/>
              </a:rPr>
              <a:t>, </a:t>
            </a:r>
            <a:r>
              <a:rPr lang="ko-KR" altLang="en-US" sz="1200" kern="1200">
                <a:solidFill>
                  <a:schemeClr val="tx1"/>
                </a:solidFill>
                <a:effectLst/>
                <a:latin typeface="+mn-lt"/>
                <a:ea typeface="+mn-ea"/>
                <a:cs typeface="+mn-cs"/>
              </a:rPr>
              <a:t>그 클래스를 이용해 우리가 원하는 만큼 수많은 객체를 만들어 낼 수 있는 것이죠</a:t>
            </a:r>
            <a:r>
              <a:rPr lang="en-US" altLang="ko-KR" sz="1200" kern="1200">
                <a:solidFill>
                  <a:schemeClr val="tx1"/>
                </a:solidFill>
                <a:effectLst/>
                <a:latin typeface="+mn-lt"/>
                <a:ea typeface="+mn-ea"/>
                <a:cs typeface="+mn-cs"/>
              </a:rPr>
              <a:t>.</a:t>
            </a:r>
          </a:p>
          <a:p>
            <a:pPr rtl="0"/>
            <a:r>
              <a:rPr lang="ko-KR" altLang="en-US" sz="1200" kern="1200">
                <a:solidFill>
                  <a:schemeClr val="tx1"/>
                </a:solidFill>
                <a:effectLst/>
                <a:latin typeface="+mn-lt"/>
                <a:ea typeface="+mn-ea"/>
                <a:cs typeface="+mn-cs"/>
              </a:rPr>
              <a:t>언리얼 엔진의 블루프린트 클래스 역시 방금 설명해 드린 객체 지향 언어의 클래스와 정확히 같은 개념을 공유합니다</a:t>
            </a:r>
            <a:r>
              <a:rPr lang="en-US" altLang="ko-KR" sz="1200" kern="1200">
                <a:solidFill>
                  <a:schemeClr val="tx1"/>
                </a:solidFill>
                <a:effectLst/>
                <a:latin typeface="+mn-lt"/>
                <a:ea typeface="+mn-ea"/>
                <a:cs typeface="+mn-cs"/>
              </a:rPr>
              <a:t>.</a:t>
            </a:r>
          </a:p>
          <a:p>
            <a:pPr rtl="0"/>
            <a:r>
              <a:rPr lang="ko-KR" altLang="en-US" sz="1200" kern="1200">
                <a:solidFill>
                  <a:schemeClr val="tx1"/>
                </a:solidFill>
                <a:effectLst/>
                <a:latin typeface="+mn-lt"/>
                <a:ea typeface="+mn-ea"/>
                <a:cs typeface="+mn-cs"/>
              </a:rPr>
              <a:t>여러분이 언리얼 엔진 안에서 블루프린트 클래스라는 </a:t>
            </a:r>
            <a:r>
              <a:rPr lang="en-US" altLang="ko-KR" sz="1200" kern="1200">
                <a:solidFill>
                  <a:schemeClr val="tx1"/>
                </a:solidFill>
                <a:effectLst/>
                <a:latin typeface="+mn-lt"/>
                <a:ea typeface="+mn-ea"/>
                <a:cs typeface="+mn-cs"/>
              </a:rPr>
              <a:t>'</a:t>
            </a:r>
            <a:r>
              <a:rPr lang="ko-KR" altLang="en-US" sz="1200" kern="1200">
                <a:solidFill>
                  <a:schemeClr val="tx1"/>
                </a:solidFill>
                <a:effectLst/>
                <a:latin typeface="+mn-lt"/>
                <a:ea typeface="+mn-ea"/>
                <a:cs typeface="+mn-cs"/>
              </a:rPr>
              <a:t>설계도</a:t>
            </a:r>
            <a:r>
              <a:rPr lang="en-US" altLang="ko-KR" sz="1200" kern="1200">
                <a:solidFill>
                  <a:schemeClr val="tx1"/>
                </a:solidFill>
                <a:effectLst/>
                <a:latin typeface="+mn-lt"/>
                <a:ea typeface="+mn-ea"/>
                <a:cs typeface="+mn-cs"/>
              </a:rPr>
              <a:t>(</a:t>
            </a:r>
            <a:r>
              <a:rPr lang="ko-KR" altLang="en-US" sz="1200" kern="1200">
                <a:solidFill>
                  <a:schemeClr val="tx1"/>
                </a:solidFill>
                <a:effectLst/>
                <a:latin typeface="+mn-lt"/>
                <a:ea typeface="+mn-ea"/>
                <a:cs typeface="+mn-cs"/>
              </a:rPr>
              <a:t>붕어빵 틀</a:t>
            </a:r>
            <a:r>
              <a:rPr lang="en-US" altLang="ko-KR" sz="1200" kern="1200">
                <a:solidFill>
                  <a:schemeClr val="tx1"/>
                </a:solidFill>
                <a:effectLst/>
                <a:latin typeface="+mn-lt"/>
                <a:ea typeface="+mn-ea"/>
                <a:cs typeface="+mn-cs"/>
              </a:rPr>
              <a:t>)'</a:t>
            </a:r>
            <a:r>
              <a:rPr lang="ko-KR" altLang="en-US" sz="1200" kern="1200">
                <a:solidFill>
                  <a:schemeClr val="tx1"/>
                </a:solidFill>
                <a:effectLst/>
                <a:latin typeface="+mn-lt"/>
                <a:ea typeface="+mn-ea"/>
                <a:cs typeface="+mn-cs"/>
              </a:rPr>
              <a:t>를 하나 잘 설계해 두면</a:t>
            </a:r>
            <a:r>
              <a:rPr lang="en-US" altLang="ko-KR" sz="1200" kern="1200">
                <a:solidFill>
                  <a:schemeClr val="tx1"/>
                </a:solidFill>
                <a:effectLst/>
                <a:latin typeface="+mn-lt"/>
                <a:ea typeface="+mn-ea"/>
                <a:cs typeface="+mn-cs"/>
              </a:rPr>
              <a:t>, </a:t>
            </a:r>
            <a:r>
              <a:rPr lang="ko-KR" altLang="en-US" sz="1200" kern="1200">
                <a:solidFill>
                  <a:schemeClr val="tx1"/>
                </a:solidFill>
                <a:effectLst/>
                <a:latin typeface="+mn-lt"/>
                <a:ea typeface="+mn-ea"/>
                <a:cs typeface="+mn-cs"/>
              </a:rPr>
              <a:t>이를 바탕으로 게임 세계 안에 여러분이 원하는 수많은 액터</a:t>
            </a:r>
            <a:r>
              <a:rPr lang="en-US" altLang="ko-KR" sz="1200" kern="1200">
                <a:solidFill>
                  <a:schemeClr val="tx1"/>
                </a:solidFill>
                <a:effectLst/>
                <a:latin typeface="+mn-lt"/>
                <a:ea typeface="+mn-ea"/>
                <a:cs typeface="+mn-cs"/>
              </a:rPr>
              <a:t>(</a:t>
            </a:r>
            <a:r>
              <a:rPr lang="ko-KR" altLang="en-US" sz="1200" kern="1200">
                <a:solidFill>
                  <a:schemeClr val="tx1"/>
                </a:solidFill>
                <a:effectLst/>
                <a:latin typeface="+mn-lt"/>
                <a:ea typeface="+mn-ea"/>
                <a:cs typeface="+mn-cs"/>
              </a:rPr>
              <a:t>붕어빵</a:t>
            </a:r>
            <a:r>
              <a:rPr lang="en-US" altLang="ko-KR" sz="1200" kern="1200">
                <a:solidFill>
                  <a:schemeClr val="tx1"/>
                </a:solidFill>
                <a:effectLst/>
                <a:latin typeface="+mn-lt"/>
                <a:ea typeface="+mn-ea"/>
                <a:cs typeface="+mn-cs"/>
              </a:rPr>
              <a:t>)</a:t>
            </a:r>
            <a:r>
              <a:rPr lang="ko-KR" altLang="en-US" sz="1200" kern="1200">
                <a:solidFill>
                  <a:schemeClr val="tx1"/>
                </a:solidFill>
                <a:effectLst/>
                <a:latin typeface="+mn-lt"/>
                <a:ea typeface="+mn-ea"/>
                <a:cs typeface="+mn-cs"/>
              </a:rPr>
              <a:t>들을 붕어빵 찍어내듯 배치할 수 있게 됩니다</a:t>
            </a:r>
            <a:r>
              <a:rPr lang="en-US" altLang="ko-KR" sz="1200" kern="1200">
                <a:solidFill>
                  <a:schemeClr val="tx1"/>
                </a:solidFill>
                <a:effectLst/>
                <a:latin typeface="+mn-lt"/>
                <a:ea typeface="+mn-ea"/>
                <a:cs typeface="+mn-cs"/>
              </a:rPr>
              <a:t>.</a:t>
            </a:r>
          </a:p>
          <a:p>
            <a:pPr rtl="0"/>
            <a:r>
              <a:rPr lang="ko-KR" altLang="en-US" sz="1200" kern="1200">
                <a:solidFill>
                  <a:schemeClr val="tx1"/>
                </a:solidFill>
                <a:effectLst/>
                <a:latin typeface="+mn-lt"/>
                <a:ea typeface="+mn-ea"/>
                <a:cs typeface="+mn-cs"/>
              </a:rPr>
              <a:t>한편</a:t>
            </a:r>
            <a:r>
              <a:rPr lang="en-US" altLang="ko-KR" sz="1200" kern="1200">
                <a:solidFill>
                  <a:schemeClr val="tx1"/>
                </a:solidFill>
                <a:effectLst/>
                <a:latin typeface="+mn-lt"/>
                <a:ea typeface="+mn-ea"/>
                <a:cs typeface="+mn-cs"/>
              </a:rPr>
              <a:t>, </a:t>
            </a:r>
            <a:r>
              <a:rPr lang="ko-KR" altLang="en-US" sz="1200" kern="1200">
                <a:solidFill>
                  <a:schemeClr val="tx1"/>
                </a:solidFill>
                <a:effectLst/>
                <a:latin typeface="+mn-lt"/>
                <a:ea typeface="+mn-ea"/>
                <a:cs typeface="+mn-cs"/>
              </a:rPr>
              <a:t>클래스라는 틀을 통해 실제로 메모리상에 만들어진 개별 객체</a:t>
            </a:r>
            <a:r>
              <a:rPr lang="en-US" altLang="ko-KR" sz="1200" kern="1200">
                <a:solidFill>
                  <a:schemeClr val="tx1"/>
                </a:solidFill>
                <a:effectLst/>
                <a:latin typeface="+mn-lt"/>
                <a:ea typeface="+mn-ea"/>
                <a:cs typeface="+mn-cs"/>
              </a:rPr>
              <a:t>(</a:t>
            </a:r>
            <a:r>
              <a:rPr lang="ko-KR" altLang="en-US" sz="1200" kern="1200">
                <a:solidFill>
                  <a:schemeClr val="tx1"/>
                </a:solidFill>
                <a:effectLst/>
                <a:latin typeface="+mn-lt"/>
                <a:ea typeface="+mn-ea"/>
                <a:cs typeface="+mn-cs"/>
              </a:rPr>
              <a:t>액터</a:t>
            </a:r>
            <a:r>
              <a:rPr lang="en-US" altLang="ko-KR" sz="1200" kern="1200">
                <a:solidFill>
                  <a:schemeClr val="tx1"/>
                </a:solidFill>
                <a:effectLst/>
                <a:latin typeface="+mn-lt"/>
                <a:ea typeface="+mn-ea"/>
                <a:cs typeface="+mn-cs"/>
              </a:rPr>
              <a:t>)</a:t>
            </a:r>
            <a:r>
              <a:rPr lang="ko-KR" altLang="en-US" sz="1200" kern="1200">
                <a:solidFill>
                  <a:schemeClr val="tx1"/>
                </a:solidFill>
                <a:effectLst/>
                <a:latin typeface="+mn-lt"/>
                <a:ea typeface="+mn-ea"/>
                <a:cs typeface="+mn-cs"/>
              </a:rPr>
              <a:t>들을 가리켜 </a:t>
            </a:r>
            <a:r>
              <a:rPr lang="en-US" altLang="ko-KR" sz="1200" kern="1200">
                <a:solidFill>
                  <a:schemeClr val="tx1"/>
                </a:solidFill>
                <a:effectLst/>
                <a:latin typeface="+mn-lt"/>
                <a:ea typeface="+mn-ea"/>
                <a:cs typeface="+mn-cs"/>
              </a:rPr>
              <a:t>'</a:t>
            </a:r>
            <a:r>
              <a:rPr lang="ko-KR" altLang="en-US" sz="1200" kern="1200">
                <a:solidFill>
                  <a:schemeClr val="tx1"/>
                </a:solidFill>
                <a:effectLst/>
                <a:latin typeface="+mn-lt"/>
                <a:ea typeface="+mn-ea"/>
                <a:cs typeface="+mn-cs"/>
              </a:rPr>
              <a:t>인스턴스</a:t>
            </a:r>
            <a:r>
              <a:rPr lang="en-US" altLang="ko-KR" sz="1200" kern="1200">
                <a:solidFill>
                  <a:schemeClr val="tx1"/>
                </a:solidFill>
                <a:effectLst/>
                <a:latin typeface="+mn-lt"/>
                <a:ea typeface="+mn-ea"/>
                <a:cs typeface="+mn-cs"/>
              </a:rPr>
              <a:t>'</a:t>
            </a:r>
            <a:r>
              <a:rPr lang="ko-KR" altLang="en-US" sz="1200" kern="1200">
                <a:solidFill>
                  <a:schemeClr val="tx1"/>
                </a:solidFill>
                <a:effectLst/>
                <a:latin typeface="+mn-lt"/>
                <a:ea typeface="+mn-ea"/>
                <a:cs typeface="+mn-cs"/>
              </a:rPr>
              <a:t>라고도 부릅니다</a:t>
            </a:r>
            <a:r>
              <a:rPr lang="en-US" altLang="ko-KR" sz="1200" kern="1200">
                <a:solidFill>
                  <a:schemeClr val="tx1"/>
                </a:solidFill>
                <a:effectLst/>
                <a:latin typeface="+mn-lt"/>
                <a:ea typeface="+mn-ea"/>
                <a:cs typeface="+mn-cs"/>
              </a:rPr>
              <a:t>. </a:t>
            </a:r>
          </a:p>
        </p:txBody>
      </p:sp>
      <p:sp>
        <p:nvSpPr>
          <p:cNvPr id="4" name="슬라이드 번호 개체 틀 3"/>
          <p:cNvSpPr>
            <a:spLocks noGrp="1"/>
          </p:cNvSpPr>
          <p:nvPr>
            <p:ph type="sldNum" sz="quarter" idx="5"/>
          </p:nvPr>
        </p:nvSpPr>
        <p:spPr/>
        <p:txBody>
          <a:bodyPr/>
          <a:lstStyle/>
          <a:p>
            <a:fld id="{AE58B9CC-458F-4497-8737-CAF2F390B8C0}" type="slidenum">
              <a:rPr lang="ko-KR" altLang="en-US" smtClean="0"/>
              <a:t>17</a:t>
            </a:fld>
            <a:endParaRPr lang="ko-KR" altLang="en-US"/>
          </a:p>
        </p:txBody>
      </p:sp>
    </p:spTree>
    <p:extLst>
      <p:ext uri="{BB962C8B-B14F-4D97-AF65-F5344CB8AC3E}">
        <p14:creationId xmlns:p14="http://schemas.microsoft.com/office/powerpoint/2010/main" val="38079464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kumimoji="1" lang="ko-Kore-KR" altLang="en-US" sz="1600" dirty="0">
                <a:latin typeface="나눔고딕" panose="020D0604000000000000" pitchFamily="50" charset="-127"/>
                <a:ea typeface="나눔고딕" panose="020D0604000000000000" pitchFamily="50" charset="-127"/>
              </a:rPr>
              <a:t>블루프린트는</a:t>
            </a:r>
            <a:r>
              <a:rPr kumimoji="1" lang="ko-KR" altLang="en-US" sz="1600">
                <a:latin typeface="나눔고딕" panose="020D0604000000000000" pitchFamily="50" charset="-127"/>
                <a:ea typeface="나눔고딕" panose="020D0604000000000000" pitchFamily="50" charset="-127"/>
              </a:rPr>
              <a:t> 원래 아주 </a:t>
            </a:r>
            <a:r>
              <a:rPr kumimoji="1" lang="ko-KR" altLang="en-US" sz="1600" dirty="0">
                <a:latin typeface="나눔고딕" panose="020D0604000000000000" pitchFamily="50" charset="-127"/>
                <a:ea typeface="나눔고딕" panose="020D0604000000000000" pitchFamily="50" charset="-127"/>
              </a:rPr>
              <a:t>예전에 </a:t>
            </a:r>
            <a:r>
              <a:rPr kumimoji="1" lang="ko-Kore-KR" altLang="en-US" sz="1600" dirty="0">
                <a:latin typeface="나눔고딕" panose="020D0604000000000000" pitchFamily="50" charset="-127"/>
                <a:ea typeface="나눔고딕" panose="020D0604000000000000" pitchFamily="50" charset="-127"/>
              </a:rPr>
              <a:t>건축물이나</a:t>
            </a:r>
            <a:r>
              <a:rPr kumimoji="1" lang="ko-KR" altLang="en-US" sz="1600" dirty="0">
                <a:latin typeface="나눔고딕" panose="020D0604000000000000" pitchFamily="50" charset="-127"/>
                <a:ea typeface="나눔고딕" panose="020D0604000000000000" pitchFamily="50" charset="-127"/>
              </a:rPr>
              <a:t> 기계 따위의 설계도면을 복사하는데 쓰였던 사진을 말합니다</a:t>
            </a:r>
            <a:r>
              <a:rPr kumimoji="1" lang="en-US" altLang="ko-KR" sz="1600" dirty="0">
                <a:latin typeface="나눔고딕" panose="020D0604000000000000" pitchFamily="50" charset="-127"/>
                <a:ea typeface="나눔고딕" panose="020D0604000000000000" pitchFamily="50" charset="-127"/>
              </a:rPr>
              <a:t>.</a:t>
            </a:r>
            <a:r>
              <a:rPr kumimoji="1" lang="ko-KR" altLang="en-US" sz="1600" dirty="0">
                <a:latin typeface="나눔고딕" panose="020D0604000000000000" pitchFamily="50" charset="-127"/>
                <a:ea typeface="나눔고딕" panose="020D0604000000000000" pitchFamily="50" charset="-127"/>
              </a:rPr>
              <a:t> 지금은 더 이상 사용되지 않죠</a:t>
            </a:r>
            <a:r>
              <a:rPr kumimoji="1" lang="en-US" altLang="ko-KR" sz="1600" dirty="0">
                <a:latin typeface="나눔고딕" panose="020D0604000000000000" pitchFamily="50" charset="-127"/>
                <a:ea typeface="나눔고딕" panose="020D0604000000000000" pitchFamily="50" charset="-127"/>
              </a:rPr>
              <a:t>.</a:t>
            </a:r>
          </a:p>
          <a:p>
            <a:r>
              <a:rPr kumimoji="1" lang="ko-KR" altLang="en-US" sz="1600" dirty="0" err="1">
                <a:latin typeface="나눔고딕" panose="020D0604000000000000" pitchFamily="50" charset="-127"/>
                <a:ea typeface="나눔고딕" panose="020D0604000000000000" pitchFamily="50" charset="-127"/>
              </a:rPr>
              <a:t>블루프린트가</a:t>
            </a:r>
            <a:r>
              <a:rPr kumimoji="1" lang="ko-KR" altLang="en-US" sz="1600" dirty="0">
                <a:latin typeface="나눔고딕" panose="020D0604000000000000" pitchFamily="50" charset="-127"/>
                <a:ea typeface="나눔고딕" panose="020D0604000000000000" pitchFamily="50" charset="-127"/>
              </a:rPr>
              <a:t> 사용됐던 가장 큰 목적은 복잡한 설계도를 빠르게 복사하는 것이었습니다</a:t>
            </a:r>
            <a:r>
              <a:rPr kumimoji="1" lang="en-US" altLang="ko-KR" sz="1600" dirty="0">
                <a:latin typeface="나눔고딕" panose="020D0604000000000000" pitchFamily="50" charset="-127"/>
                <a:ea typeface="나눔고딕" panose="020D0604000000000000" pitchFamily="50" charset="-127"/>
              </a:rPr>
              <a:t>.</a:t>
            </a:r>
            <a:r>
              <a:rPr kumimoji="1" lang="ko-KR" altLang="en-US" sz="1600" dirty="0">
                <a:latin typeface="나눔고딕" panose="020D0604000000000000" pitchFamily="50" charset="-127"/>
                <a:ea typeface="나눔고딕" panose="020D0604000000000000" pitchFamily="50" charset="-127"/>
              </a:rPr>
              <a:t> 사진을 보면 알 수 있겠지만</a:t>
            </a:r>
            <a:r>
              <a:rPr kumimoji="1" lang="en-US" altLang="ko-KR" sz="1600" dirty="0">
                <a:latin typeface="나눔고딕" panose="020D0604000000000000" pitchFamily="50" charset="-127"/>
                <a:ea typeface="나눔고딕" panose="020D0604000000000000" pitchFamily="50" charset="-127"/>
              </a:rPr>
              <a:t>,</a:t>
            </a:r>
            <a:r>
              <a:rPr kumimoji="1" lang="ko-KR" altLang="en-US" sz="1600" dirty="0">
                <a:latin typeface="나눔고딕" panose="020D0604000000000000" pitchFamily="50" charset="-127"/>
                <a:ea typeface="나눔고딕" panose="020D0604000000000000" pitchFamily="50" charset="-127"/>
              </a:rPr>
              <a:t> 시각적으로 대상물의 구조를 매우 세심하게 나타내고 있죠</a:t>
            </a:r>
            <a:r>
              <a:rPr kumimoji="1" lang="en-US" altLang="ko-KR" sz="1600" dirty="0">
                <a:latin typeface="나눔고딕" panose="020D0604000000000000" pitchFamily="50" charset="-127"/>
                <a:ea typeface="나눔고딕" panose="020D0604000000000000" pitchFamily="50" charset="-127"/>
              </a:rPr>
              <a:t>.</a:t>
            </a:r>
            <a:r>
              <a:rPr kumimoji="1" lang="ko-KR" altLang="en-US" sz="1600" dirty="0">
                <a:latin typeface="나눔고딕" panose="020D0604000000000000" pitchFamily="50" charset="-127"/>
                <a:ea typeface="나눔고딕" panose="020D0604000000000000" pitchFamily="50" charset="-127"/>
              </a:rPr>
              <a:t> </a:t>
            </a:r>
            <a:endParaRPr kumimoji="1" lang="en-US" altLang="ko-KR" sz="1600" dirty="0">
              <a:latin typeface="나눔고딕" panose="020D0604000000000000" pitchFamily="50" charset="-127"/>
              <a:ea typeface="나눔고딕" panose="020D0604000000000000" pitchFamily="50" charset="-127"/>
            </a:endParaRPr>
          </a:p>
          <a:p>
            <a:r>
              <a:rPr kumimoji="1" lang="ko-KR" altLang="en-US" sz="1600" dirty="0">
                <a:latin typeface="나눔고딕" panose="020D0604000000000000" pitchFamily="50" charset="-127"/>
                <a:ea typeface="나눔고딕" panose="020D0604000000000000" pitchFamily="50" charset="-127"/>
              </a:rPr>
              <a:t>설계도가 많이 필요한 경우</a:t>
            </a:r>
            <a:r>
              <a:rPr kumimoji="1" lang="en-US" altLang="ko-KR" sz="1600" dirty="0">
                <a:latin typeface="나눔고딕" panose="020D0604000000000000" pitchFamily="50" charset="-127"/>
                <a:ea typeface="나눔고딕" panose="020D0604000000000000" pitchFamily="50" charset="-127"/>
              </a:rPr>
              <a:t>,</a:t>
            </a:r>
            <a:r>
              <a:rPr kumimoji="1" lang="ko-KR" altLang="en-US" sz="1600" dirty="0">
                <a:latin typeface="나눔고딕" panose="020D0604000000000000" pitchFamily="50" charset="-127"/>
                <a:ea typeface="나눔고딕" panose="020D0604000000000000" pitchFamily="50" charset="-127"/>
              </a:rPr>
              <a:t> 일일이 그려서 배포하는 것은 불가능하죠</a:t>
            </a:r>
            <a:r>
              <a:rPr kumimoji="1" lang="en-US" altLang="ko-KR" sz="1600" dirty="0">
                <a:latin typeface="나눔고딕" panose="020D0604000000000000" pitchFamily="50" charset="-127"/>
                <a:ea typeface="나눔고딕" panose="020D0604000000000000" pitchFamily="50" charset="-127"/>
              </a:rPr>
              <a:t>.</a:t>
            </a:r>
            <a:r>
              <a:rPr kumimoji="1" lang="ko-KR" altLang="en-US" sz="1600" dirty="0">
                <a:latin typeface="나눔고딕" panose="020D0604000000000000" pitchFamily="50" charset="-127"/>
                <a:ea typeface="나눔고딕" panose="020D0604000000000000" pitchFamily="50" charset="-127"/>
              </a:rPr>
              <a:t> 따라서 반투명 종이 위에 그린 원본 설계도로 감광지를 덮은 후</a:t>
            </a:r>
            <a:r>
              <a:rPr kumimoji="1" lang="en-US" altLang="ko-KR" sz="1600" dirty="0">
                <a:latin typeface="나눔고딕" panose="020D0604000000000000" pitchFamily="50" charset="-127"/>
                <a:ea typeface="나눔고딕" panose="020D0604000000000000" pitchFamily="50" charset="-127"/>
              </a:rPr>
              <a:t>,</a:t>
            </a:r>
            <a:r>
              <a:rPr kumimoji="1" lang="ko-KR" altLang="en-US" sz="1600" dirty="0">
                <a:latin typeface="나눔고딕" panose="020D0604000000000000" pitchFamily="50" charset="-127"/>
                <a:ea typeface="나눔고딕" panose="020D0604000000000000" pitchFamily="50" charset="-127"/>
              </a:rPr>
              <a:t> 빛을 쬐는 방식으로 설계도를 빠르게 복사할 수 있었던 </a:t>
            </a:r>
            <a:r>
              <a:rPr kumimoji="1" lang="ko-KR" altLang="en-US" sz="1600">
                <a:latin typeface="나눔고딕" panose="020D0604000000000000" pitchFamily="50" charset="-127"/>
                <a:ea typeface="나눔고딕" panose="020D0604000000000000" pitchFamily="50" charset="-127"/>
              </a:rPr>
              <a:t>것입니다</a:t>
            </a:r>
            <a:r>
              <a:rPr kumimoji="1" lang="en-US" altLang="ko-KR" sz="1600">
                <a:latin typeface="나눔고딕" panose="020D0604000000000000" pitchFamily="50" charset="-127"/>
                <a:ea typeface="나눔고딕" panose="020D0604000000000000" pitchFamily="50" charset="-127"/>
              </a:rPr>
              <a:t>. </a:t>
            </a:r>
            <a:r>
              <a:rPr kumimoji="1" lang="ko-KR" altLang="en-US" sz="1600">
                <a:latin typeface="나눔고딕" panose="020D0604000000000000" pitchFamily="50" charset="-127"/>
                <a:ea typeface="나눔고딕" panose="020D0604000000000000" pitchFamily="50" charset="-127"/>
              </a:rPr>
              <a:t>언리얼 </a:t>
            </a:r>
            <a:r>
              <a:rPr kumimoji="1" lang="ko-KR" altLang="en-US" sz="1600" dirty="0">
                <a:latin typeface="나눔고딕" panose="020D0604000000000000" pitchFamily="50" charset="-127"/>
                <a:ea typeface="나눔고딕" panose="020D0604000000000000" pitchFamily="50" charset="-127"/>
              </a:rPr>
              <a:t>엔진이 당초 자체적인 스크립트 언어의 이름을 </a:t>
            </a:r>
            <a:r>
              <a:rPr kumimoji="1" lang="ko-KR" altLang="en-US" sz="1600" dirty="0" err="1">
                <a:latin typeface="나눔고딕" panose="020D0604000000000000" pitchFamily="50" charset="-127"/>
                <a:ea typeface="나눔고딕" panose="020D0604000000000000" pitchFamily="50" charset="-127"/>
              </a:rPr>
              <a:t>블루프린트라고</a:t>
            </a:r>
            <a:r>
              <a:rPr kumimoji="1" lang="ko-KR" altLang="en-US" sz="1600" dirty="0">
                <a:latin typeface="나눔고딕" panose="020D0604000000000000" pitchFamily="50" charset="-127"/>
                <a:ea typeface="나눔고딕" panose="020D0604000000000000" pitchFamily="50" charset="-127"/>
              </a:rPr>
              <a:t> </a:t>
            </a:r>
            <a:r>
              <a:rPr kumimoji="1" lang="ko-KR" altLang="en-US" sz="1600" dirty="0" err="1">
                <a:latin typeface="나눔고딕" panose="020D0604000000000000" pitchFamily="50" charset="-127"/>
                <a:ea typeface="나눔고딕" panose="020D0604000000000000" pitchFamily="50" charset="-127"/>
              </a:rPr>
              <a:t>붙이</a:t>
            </a:r>
            <a:r>
              <a:rPr kumimoji="1" lang="ko-KR" altLang="en-US" sz="1600" dirty="0">
                <a:latin typeface="나눔고딕" panose="020D0604000000000000" pitchFamily="50" charset="-127"/>
                <a:ea typeface="나눔고딕" panose="020D0604000000000000" pitchFamily="50" charset="-127"/>
              </a:rPr>
              <a:t> 것도 바로 이러한 철학에 바탕을 둔 것이 아닐까 </a:t>
            </a:r>
            <a:r>
              <a:rPr kumimoji="1" lang="ko-KR" altLang="en-US" sz="1600">
                <a:latin typeface="나눔고딕" panose="020D0604000000000000" pitchFamily="50" charset="-127"/>
                <a:ea typeface="나눔고딕" panose="020D0604000000000000" pitchFamily="50" charset="-127"/>
              </a:rPr>
              <a:t>생각합니다</a:t>
            </a:r>
            <a:r>
              <a:rPr kumimoji="1" lang="en-US" altLang="ko-KR" sz="1600">
                <a:latin typeface="나눔고딕" panose="020D0604000000000000" pitchFamily="50" charset="-127"/>
                <a:ea typeface="나눔고딕" panose="020D0604000000000000" pitchFamily="50" charset="-127"/>
              </a:rPr>
              <a:t>.</a:t>
            </a:r>
            <a:endParaRPr kumimoji="1" lang="en-US" altLang="ko-KR" sz="1600" dirty="0">
              <a:latin typeface="나눔고딕" panose="020D0604000000000000" pitchFamily="50" charset="-127"/>
              <a:ea typeface="나눔고딕" panose="020D0604000000000000" pitchFamily="50" charset="-127"/>
            </a:endParaRPr>
          </a:p>
        </p:txBody>
      </p:sp>
      <p:sp>
        <p:nvSpPr>
          <p:cNvPr id="4" name="슬라이드 번호 개체 틀 3"/>
          <p:cNvSpPr>
            <a:spLocks noGrp="1"/>
          </p:cNvSpPr>
          <p:nvPr>
            <p:ph type="sldNum" sz="quarter" idx="5"/>
          </p:nvPr>
        </p:nvSpPr>
        <p:spPr/>
        <p:txBody>
          <a:bodyPr/>
          <a:lstStyle/>
          <a:p>
            <a:fld id="{AE58B9CC-458F-4497-8737-CAF2F390B8C0}" type="slidenum">
              <a:rPr lang="ko-KR" altLang="en-US" smtClean="0"/>
              <a:t>18</a:t>
            </a:fld>
            <a:endParaRPr lang="ko-KR" altLang="en-US"/>
          </a:p>
        </p:txBody>
      </p:sp>
    </p:spTree>
    <p:extLst>
      <p:ext uri="{BB962C8B-B14F-4D97-AF65-F5344CB8AC3E}">
        <p14:creationId xmlns:p14="http://schemas.microsoft.com/office/powerpoint/2010/main" val="74226251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ko-KR" altLang="en-US" sz="1600"/>
              <a:t>앞으로 본 강의를 진행하면서 </a:t>
            </a:r>
            <a:r>
              <a:rPr lang="en-US" altLang="ko-KR" sz="1600"/>
              <a:t>'</a:t>
            </a:r>
            <a:r>
              <a:rPr lang="ko-KR" altLang="en-US" sz="1600"/>
              <a:t>스폰</a:t>
            </a:r>
            <a:r>
              <a:rPr lang="en-US" altLang="ko-KR" sz="1600"/>
              <a:t>(Spawn)'</a:t>
            </a:r>
            <a:r>
              <a:rPr lang="ko-KR" altLang="en-US" sz="1600"/>
              <a:t>이라는 용어를 아주 자주 접하시게 될 것입니다</a:t>
            </a:r>
            <a:r>
              <a:rPr lang="en-US" altLang="ko-KR" sz="1600"/>
              <a:t>.</a:t>
            </a:r>
          </a:p>
          <a:p>
            <a:r>
              <a:rPr lang="ko-KR" altLang="en-US" sz="1600"/>
              <a:t>스폰이란 쉽게 말해</a:t>
            </a:r>
            <a:r>
              <a:rPr lang="en-US" altLang="ko-KR" sz="1600"/>
              <a:t>, </a:t>
            </a:r>
            <a:r>
              <a:rPr lang="ko-KR" altLang="en-US" sz="1600"/>
              <a:t>우리가 앞서 배운 </a:t>
            </a:r>
            <a:r>
              <a:rPr lang="en-US" altLang="ko-KR" sz="1600"/>
              <a:t>'</a:t>
            </a:r>
            <a:r>
              <a:rPr lang="ko-KR" altLang="en-US" sz="1600"/>
              <a:t>블루프린트 클래스</a:t>
            </a:r>
            <a:r>
              <a:rPr lang="en-US" altLang="ko-KR" sz="1600"/>
              <a:t>'</a:t>
            </a:r>
            <a:r>
              <a:rPr lang="ko-KR" altLang="en-US" sz="1600"/>
              <a:t>라는 설계도를 바탕으로 실제 게임 레벨 위에 </a:t>
            </a:r>
            <a:r>
              <a:rPr lang="ko-KR" altLang="en-US" sz="1600" b="1"/>
              <a:t>액터</a:t>
            </a:r>
            <a:r>
              <a:rPr lang="en-US" altLang="ko-KR" sz="1600" b="1"/>
              <a:t>(</a:t>
            </a:r>
            <a:r>
              <a:rPr lang="ko-KR" altLang="en-US" sz="1600" b="1"/>
              <a:t>혹은 인스턴스</a:t>
            </a:r>
            <a:r>
              <a:rPr lang="en-US" altLang="ko-KR" sz="1600" b="1"/>
              <a:t>)</a:t>
            </a:r>
            <a:r>
              <a:rPr lang="ko-KR" altLang="en-US" sz="1600" b="1"/>
              <a:t>를 생성해 내는 과정</a:t>
            </a:r>
            <a:r>
              <a:rPr lang="ko-KR" altLang="en-US" sz="1600"/>
              <a:t>을 뜻합니다</a:t>
            </a:r>
            <a:r>
              <a:rPr lang="en-US" altLang="ko-KR" sz="1600"/>
              <a:t>. </a:t>
            </a:r>
            <a:r>
              <a:rPr lang="ko-KR" altLang="en-US" sz="1600"/>
              <a:t>앞선 비유를 빌리자면</a:t>
            </a:r>
            <a:r>
              <a:rPr lang="en-US" altLang="ko-KR" sz="1600"/>
              <a:t>, </a:t>
            </a:r>
            <a:r>
              <a:rPr lang="ko-KR" altLang="en-US" sz="1600"/>
              <a:t>붕어빵 틀에 반죽을 부어 실제 붕어빵을 구워내는 바로 그 동작을 말하는 것이죠</a:t>
            </a:r>
            <a:r>
              <a:rPr lang="en-US" altLang="ko-KR" sz="1600"/>
              <a:t>.</a:t>
            </a:r>
          </a:p>
          <a:p>
            <a:r>
              <a:rPr lang="ko-KR" altLang="en-US" sz="1600"/>
              <a:t>자</a:t>
            </a:r>
            <a:r>
              <a:rPr lang="en-US" altLang="ko-KR" sz="1600"/>
              <a:t>, </a:t>
            </a:r>
            <a:r>
              <a:rPr lang="ko-KR" altLang="en-US" sz="1600"/>
              <a:t>그렇다면 이 액터를 화면 상에 스폰하려면 구체적으로 어떤 방법을 사용해야 할까요</a:t>
            </a:r>
            <a:r>
              <a:rPr lang="en-US" altLang="ko-KR" sz="1600"/>
              <a:t>?</a:t>
            </a:r>
          </a:p>
          <a:p>
            <a:r>
              <a:rPr lang="ko-KR" altLang="en-US" sz="1600" b="1"/>
              <a:t>여러분은 사실 이미 액터를 스폰하는 방법을 알고 계십니다</a:t>
            </a:r>
            <a:r>
              <a:rPr lang="en-US" altLang="ko-KR" sz="1600" b="1"/>
              <a:t>.</a:t>
            </a:r>
            <a:endParaRPr lang="ko-KR" altLang="en-US" sz="1600"/>
          </a:p>
          <a:p>
            <a:endParaRPr lang="en-US" altLang="ko-KR" sz="1600" dirty="0">
              <a:latin typeface="나눔고딕" panose="020D0604000000000000" pitchFamily="50" charset="-127"/>
              <a:ea typeface="나눔고딕" panose="020D0604000000000000" pitchFamily="50" charset="-127"/>
            </a:endParaRPr>
          </a:p>
          <a:p>
            <a:endParaRPr lang="en-US" altLang="ko-KR" sz="1600" dirty="0">
              <a:latin typeface="나눔고딕" panose="020D0604000000000000" pitchFamily="50" charset="-127"/>
              <a:ea typeface="나눔고딕" panose="020D0604000000000000" pitchFamily="50" charset="-127"/>
            </a:endParaRPr>
          </a:p>
          <a:p>
            <a:endParaRPr lang="en-US" altLang="ko-KR" sz="1600" dirty="0">
              <a:latin typeface="나눔고딕" panose="020D0604000000000000" pitchFamily="50" charset="-127"/>
              <a:ea typeface="나눔고딕" panose="020D0604000000000000" pitchFamily="50" charset="-127"/>
            </a:endParaRPr>
          </a:p>
          <a:p>
            <a:endParaRPr lang="en-US" altLang="ko-KR" sz="1600" dirty="0">
              <a:latin typeface="나눔고딕" panose="020D0604000000000000" pitchFamily="50" charset="-127"/>
              <a:ea typeface="나눔고딕" panose="020D0604000000000000" pitchFamily="50" charset="-127"/>
            </a:endParaRPr>
          </a:p>
          <a:p>
            <a:endParaRPr lang="en-US" altLang="ko-KR" sz="1600" dirty="0">
              <a:latin typeface="나눔고딕" panose="020D0604000000000000" pitchFamily="50" charset="-127"/>
              <a:ea typeface="나눔고딕" panose="020D0604000000000000" pitchFamily="50" charset="-127"/>
            </a:endParaRPr>
          </a:p>
          <a:p>
            <a:endParaRPr lang="en-US" altLang="ko-KR" sz="1600" dirty="0">
              <a:latin typeface="나눔고딕" panose="020D0604000000000000" pitchFamily="50" charset="-127"/>
              <a:ea typeface="나눔고딕" panose="020D0604000000000000" pitchFamily="50" charset="-127"/>
            </a:endParaRPr>
          </a:p>
          <a:p>
            <a:endParaRPr lang="en-US" altLang="ko-KR" sz="1600" dirty="0">
              <a:latin typeface="나눔고딕" panose="020D0604000000000000" pitchFamily="50" charset="-127"/>
              <a:ea typeface="나눔고딕" panose="020D0604000000000000" pitchFamily="50" charset="-127"/>
            </a:endParaRPr>
          </a:p>
          <a:p>
            <a:endParaRPr lang="en-US" altLang="ko-KR" sz="1600" dirty="0">
              <a:latin typeface="나눔고딕" panose="020D0604000000000000" pitchFamily="50" charset="-127"/>
              <a:ea typeface="나눔고딕" panose="020D0604000000000000" pitchFamily="50" charset="-127"/>
            </a:endParaRPr>
          </a:p>
          <a:p>
            <a:endParaRPr lang="en-US" altLang="ko-KR" sz="1600" dirty="0">
              <a:latin typeface="나눔고딕" panose="020D0604000000000000" pitchFamily="50" charset="-127"/>
              <a:ea typeface="나눔고딕" panose="020D0604000000000000" pitchFamily="50" charset="-127"/>
            </a:endParaRPr>
          </a:p>
          <a:p>
            <a:endParaRPr lang="en-US" altLang="ko-KR" sz="1600" dirty="0">
              <a:latin typeface="나눔고딕" panose="020D0604000000000000" pitchFamily="50" charset="-127"/>
              <a:ea typeface="나눔고딕" panose="020D0604000000000000" pitchFamily="50" charset="-127"/>
            </a:endParaRPr>
          </a:p>
          <a:p>
            <a:endParaRPr lang="en-US" altLang="ko-KR" sz="1600" dirty="0">
              <a:latin typeface="나눔고딕" panose="020D0604000000000000" pitchFamily="50" charset="-127"/>
              <a:ea typeface="나눔고딕" panose="020D0604000000000000" pitchFamily="50" charset="-127"/>
            </a:endParaRPr>
          </a:p>
          <a:p>
            <a:endParaRPr lang="en-US" altLang="ko-KR" sz="1600" dirty="0">
              <a:latin typeface="나눔고딕" panose="020D0604000000000000" pitchFamily="50" charset="-127"/>
              <a:ea typeface="나눔고딕" panose="020D0604000000000000" pitchFamily="50" charset="-127"/>
            </a:endParaRPr>
          </a:p>
          <a:p>
            <a:endParaRPr lang="en-US" altLang="ko-KR" sz="1600" dirty="0">
              <a:latin typeface="나눔고딕" panose="020D0604000000000000" pitchFamily="50" charset="-127"/>
              <a:ea typeface="나눔고딕" panose="020D0604000000000000" pitchFamily="50" charset="-127"/>
            </a:endParaRPr>
          </a:p>
          <a:p>
            <a:endParaRPr lang="en-US" altLang="ko-KR" sz="1600" dirty="0">
              <a:latin typeface="나눔고딕" panose="020D0604000000000000" pitchFamily="50" charset="-127"/>
              <a:ea typeface="나눔고딕" panose="020D0604000000000000" pitchFamily="50" charset="-127"/>
            </a:endParaRPr>
          </a:p>
          <a:p>
            <a:endParaRPr lang="en-US" altLang="ko-KR" sz="1600" dirty="0">
              <a:latin typeface="나눔고딕" panose="020D0604000000000000" pitchFamily="50" charset="-127"/>
              <a:ea typeface="나눔고딕" panose="020D0604000000000000" pitchFamily="50" charset="-127"/>
            </a:endParaRPr>
          </a:p>
          <a:p>
            <a:endParaRPr lang="en-US" altLang="ko-KR" sz="1600" dirty="0">
              <a:latin typeface="나눔고딕" panose="020D0604000000000000" pitchFamily="50" charset="-127"/>
              <a:ea typeface="나눔고딕" panose="020D0604000000000000" pitchFamily="50" charset="-127"/>
            </a:endParaRPr>
          </a:p>
          <a:p>
            <a:endParaRPr lang="en-US" altLang="ko-KR" sz="1600" dirty="0">
              <a:latin typeface="나눔고딕" panose="020D0604000000000000" pitchFamily="50" charset="-127"/>
              <a:ea typeface="나눔고딕" panose="020D0604000000000000" pitchFamily="50" charset="-127"/>
            </a:endParaRPr>
          </a:p>
          <a:p>
            <a:endParaRPr lang="en-US" altLang="ko-KR" sz="1600" dirty="0">
              <a:latin typeface="나눔고딕" panose="020D0604000000000000" pitchFamily="50" charset="-127"/>
              <a:ea typeface="나눔고딕" panose="020D0604000000000000" pitchFamily="50" charset="-127"/>
            </a:endParaRPr>
          </a:p>
          <a:p>
            <a:endParaRPr lang="en-US" altLang="ko-KR" sz="1600" dirty="0">
              <a:latin typeface="나눔고딕" panose="020D0604000000000000" pitchFamily="50" charset="-127"/>
              <a:ea typeface="나눔고딕" panose="020D0604000000000000" pitchFamily="50" charset="-127"/>
            </a:endParaRPr>
          </a:p>
          <a:p>
            <a:endParaRPr lang="en-US" altLang="ko-KR" sz="1600" dirty="0">
              <a:latin typeface="나눔고딕" panose="020D0604000000000000" pitchFamily="50" charset="-127"/>
              <a:ea typeface="나눔고딕" panose="020D0604000000000000" pitchFamily="50" charset="-127"/>
            </a:endParaRPr>
          </a:p>
          <a:p>
            <a:endParaRPr lang="en-US" altLang="ko-KR" sz="1600" dirty="0">
              <a:latin typeface="나눔고딕" panose="020D0604000000000000" pitchFamily="50" charset="-127"/>
              <a:ea typeface="나눔고딕" panose="020D0604000000000000" pitchFamily="50" charset="-127"/>
            </a:endParaRPr>
          </a:p>
          <a:p>
            <a:endParaRPr lang="en-US" altLang="ko-KR" sz="1600" dirty="0">
              <a:latin typeface="나눔고딕" panose="020D0604000000000000" pitchFamily="50" charset="-127"/>
              <a:ea typeface="나눔고딕" panose="020D0604000000000000" pitchFamily="50" charset="-127"/>
            </a:endParaRPr>
          </a:p>
          <a:p>
            <a:endParaRPr lang="en-US" altLang="ko-KR" sz="1600" dirty="0">
              <a:latin typeface="나눔고딕" panose="020D0604000000000000" pitchFamily="50" charset="-127"/>
              <a:ea typeface="나눔고딕" panose="020D0604000000000000" pitchFamily="50" charset="-127"/>
            </a:endParaRPr>
          </a:p>
        </p:txBody>
      </p:sp>
      <p:sp>
        <p:nvSpPr>
          <p:cNvPr id="4" name="슬라이드 번호 개체 틀 3"/>
          <p:cNvSpPr>
            <a:spLocks noGrp="1"/>
          </p:cNvSpPr>
          <p:nvPr>
            <p:ph type="sldNum" sz="quarter" idx="5"/>
          </p:nvPr>
        </p:nvSpPr>
        <p:spPr/>
        <p:txBody>
          <a:bodyPr/>
          <a:lstStyle/>
          <a:p>
            <a:fld id="{AE58B9CC-458F-4497-8737-CAF2F390B8C0}" type="slidenum">
              <a:rPr lang="ko-KR" altLang="en-US" smtClean="0"/>
              <a:t>19</a:t>
            </a:fld>
            <a:endParaRPr lang="ko-KR" altLang="en-US"/>
          </a:p>
        </p:txBody>
      </p:sp>
    </p:spTree>
    <p:extLst>
      <p:ext uri="{BB962C8B-B14F-4D97-AF65-F5344CB8AC3E}">
        <p14:creationId xmlns:p14="http://schemas.microsoft.com/office/powerpoint/2010/main" val="313749340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ko-KR" altLang="en-US"/>
              <a:t>레벨에 큐브</a:t>
            </a:r>
            <a:r>
              <a:rPr lang="en-US" altLang="ko-KR"/>
              <a:t>(Cube)</a:t>
            </a:r>
            <a:r>
              <a:rPr lang="ko-KR" altLang="en-US"/>
              <a:t>를 배치했던 실습을 기억하시죠</a:t>
            </a:r>
            <a:r>
              <a:rPr lang="en-US" altLang="ko-KR"/>
              <a:t>? </a:t>
            </a:r>
          </a:p>
          <a:p>
            <a:r>
              <a:rPr lang="ko-KR" altLang="en-US"/>
              <a:t>화면 왼쪽의 </a:t>
            </a:r>
            <a:r>
              <a:rPr lang="en-US" altLang="ko-KR" b="1"/>
              <a:t>'</a:t>
            </a:r>
            <a:r>
              <a:rPr lang="ko-KR" altLang="en-US" b="1"/>
              <a:t>액터 배치</a:t>
            </a:r>
            <a:r>
              <a:rPr lang="en-US" altLang="ko-KR" b="1"/>
              <a:t>(Place Actors)'</a:t>
            </a:r>
            <a:r>
              <a:rPr lang="ko-KR" altLang="en-US"/>
              <a:t> 패널에서 큐브를 선택한 뒤</a:t>
            </a:r>
            <a:r>
              <a:rPr lang="en-US" altLang="ko-KR"/>
              <a:t>, </a:t>
            </a:r>
            <a:r>
              <a:rPr lang="ko-KR" altLang="en-US"/>
              <a:t>마우스로 레벨 위로 쓱 드래그해서 가져다 놓으셨을 겁니다</a:t>
            </a:r>
            <a:r>
              <a:rPr lang="en-US" altLang="ko-KR"/>
              <a:t>.</a:t>
            </a:r>
          </a:p>
          <a:p>
            <a:r>
              <a:rPr lang="ko-KR" altLang="en-US"/>
              <a:t>제가 앞서 </a:t>
            </a:r>
            <a:r>
              <a:rPr lang="en-US" altLang="ko-KR"/>
              <a:t>"</a:t>
            </a:r>
            <a:r>
              <a:rPr lang="ko-KR" altLang="en-US"/>
              <a:t>여러분은 이미 액터를 스폰하는 방법을 알고 계신다</a:t>
            </a:r>
            <a:r>
              <a:rPr lang="en-US" altLang="ko-KR"/>
              <a:t>"</a:t>
            </a:r>
            <a:r>
              <a:rPr lang="ko-KR" altLang="en-US"/>
              <a:t>고 했던 이유가 바로 이것입니다</a:t>
            </a:r>
            <a:r>
              <a:rPr lang="en-US" altLang="ko-KR"/>
              <a:t>. </a:t>
            </a:r>
          </a:p>
          <a:p>
            <a:r>
              <a:rPr lang="ko-KR" altLang="en-US"/>
              <a:t>사실 여러분이 끌어다 놓은 이 큐브는 엄밀히 말해 단순한 상자 덩어리가 아니라</a:t>
            </a:r>
            <a:r>
              <a:rPr lang="en-US" altLang="ko-KR"/>
              <a:t>, </a:t>
            </a:r>
            <a:r>
              <a:rPr lang="ko-KR" altLang="en-US"/>
              <a:t>하나의 </a:t>
            </a:r>
            <a:r>
              <a:rPr lang="en-US" altLang="ko-KR"/>
              <a:t>'</a:t>
            </a:r>
            <a:r>
              <a:rPr lang="ko-KR" altLang="en-US"/>
              <a:t>블루프린트 클래스</a:t>
            </a:r>
            <a:r>
              <a:rPr lang="en-US" altLang="ko-KR"/>
              <a:t>'</a:t>
            </a:r>
            <a:r>
              <a:rPr lang="ko-KR" altLang="en-US"/>
              <a:t>입니다</a:t>
            </a:r>
            <a:r>
              <a:rPr lang="en-US" altLang="ko-KR"/>
              <a:t>.</a:t>
            </a:r>
          </a:p>
          <a:p>
            <a:r>
              <a:rPr lang="ko-KR" altLang="en-US"/>
              <a:t>보통은 설명의 편의를 위해 </a:t>
            </a:r>
            <a:r>
              <a:rPr lang="en-US" altLang="ko-KR"/>
              <a:t>"</a:t>
            </a:r>
            <a:r>
              <a:rPr lang="ko-KR" altLang="en-US"/>
              <a:t>왼쪽 패널에서 </a:t>
            </a:r>
            <a:r>
              <a:rPr lang="en-US" altLang="ko-KR"/>
              <a:t>'</a:t>
            </a:r>
            <a:r>
              <a:rPr lang="ko-KR" altLang="en-US"/>
              <a:t>액터</a:t>
            </a:r>
            <a:r>
              <a:rPr lang="en-US" altLang="ko-KR"/>
              <a:t>'</a:t>
            </a:r>
            <a:r>
              <a:rPr lang="ko-KR" altLang="en-US"/>
              <a:t>를 선택해 레벨에 배치한다</a:t>
            </a:r>
            <a:r>
              <a:rPr lang="en-US" altLang="ko-KR"/>
              <a:t>"</a:t>
            </a:r>
            <a:r>
              <a:rPr lang="ko-KR" altLang="en-US"/>
              <a:t>고 표현하기도 합니다</a:t>
            </a:r>
            <a:r>
              <a:rPr lang="en-US" altLang="ko-KR"/>
              <a:t>. </a:t>
            </a:r>
            <a:r>
              <a:rPr lang="ko-KR" altLang="en-US"/>
              <a:t>하지만 원리를 정확하게 짚고 넘어가자면</a:t>
            </a:r>
            <a:r>
              <a:rPr lang="en-US" altLang="ko-KR"/>
              <a:t>, </a:t>
            </a:r>
            <a:r>
              <a:rPr lang="ko-KR" altLang="en-US"/>
              <a:t>왼쪽 패널에 준비되어 있는 항목들은 모두 미리 만들어진 </a:t>
            </a:r>
            <a:r>
              <a:rPr lang="en-US" altLang="ko-KR"/>
              <a:t>'</a:t>
            </a:r>
            <a:r>
              <a:rPr lang="ko-KR" altLang="en-US"/>
              <a:t>블루프린트 클래스</a:t>
            </a:r>
            <a:r>
              <a:rPr lang="en-US" altLang="ko-KR"/>
              <a:t>(</a:t>
            </a:r>
            <a:r>
              <a:rPr lang="ko-KR" altLang="en-US"/>
              <a:t>설계도</a:t>
            </a:r>
            <a:r>
              <a:rPr lang="en-US" altLang="ko-KR"/>
              <a:t>)'</a:t>
            </a:r>
            <a:r>
              <a:rPr lang="ko-KR" altLang="en-US"/>
              <a:t>들입니다</a:t>
            </a:r>
            <a:r>
              <a:rPr lang="en-US" altLang="ko-KR"/>
              <a:t>.</a:t>
            </a:r>
          </a:p>
          <a:p>
            <a:r>
              <a:rPr lang="ko-KR" altLang="en-US"/>
              <a:t>우리는 이 설계도를 마우스로 끌어다 레벨에 올려놓는 행위를 통해</a:t>
            </a:r>
            <a:r>
              <a:rPr lang="en-US" altLang="ko-KR"/>
              <a:t>, </a:t>
            </a:r>
            <a:r>
              <a:rPr lang="ko-KR" altLang="en-US"/>
              <a:t>큐브를 한 개든 열 개든 상관없이 원하는 만큼 수많은 액터</a:t>
            </a:r>
            <a:r>
              <a:rPr lang="en-US" altLang="ko-KR"/>
              <a:t>(</a:t>
            </a:r>
            <a:r>
              <a:rPr lang="ko-KR" altLang="en-US"/>
              <a:t>인스턴스</a:t>
            </a:r>
            <a:r>
              <a:rPr lang="en-US" altLang="ko-KR"/>
              <a:t>)</a:t>
            </a:r>
            <a:r>
              <a:rPr lang="ko-KR" altLang="en-US"/>
              <a:t>로 아주 쉽게 만들어 낼 수 있었던 것입니다</a:t>
            </a:r>
            <a:r>
              <a:rPr lang="en-US" altLang="ko-KR"/>
              <a:t>. </a:t>
            </a:r>
            <a:r>
              <a:rPr lang="ko-KR" altLang="en-US"/>
              <a:t>어떠신가요</a:t>
            </a:r>
            <a:r>
              <a:rPr lang="en-US" altLang="ko-KR"/>
              <a:t>? </a:t>
            </a:r>
            <a:r>
              <a:rPr lang="ko-KR" altLang="en-US"/>
              <a:t>블루프린트 클래스가 작업에 왜 꼭 필요한지 이제 확실히 이해가 되시죠</a:t>
            </a:r>
            <a:r>
              <a:rPr lang="en-US" altLang="ko-KR"/>
              <a:t>?</a:t>
            </a:r>
          </a:p>
        </p:txBody>
      </p:sp>
      <p:sp>
        <p:nvSpPr>
          <p:cNvPr id="4" name="슬라이드 번호 개체 틀 3"/>
          <p:cNvSpPr>
            <a:spLocks noGrp="1"/>
          </p:cNvSpPr>
          <p:nvPr>
            <p:ph type="sldNum" sz="quarter" idx="5"/>
          </p:nvPr>
        </p:nvSpPr>
        <p:spPr/>
        <p:txBody>
          <a:bodyPr/>
          <a:lstStyle/>
          <a:p>
            <a:fld id="{AE58B9CC-458F-4497-8737-CAF2F390B8C0}" type="slidenum">
              <a:rPr lang="ko-KR" altLang="en-US" smtClean="0"/>
              <a:t>20</a:t>
            </a:fld>
            <a:endParaRPr lang="ko-KR" altLang="en-US"/>
          </a:p>
        </p:txBody>
      </p:sp>
    </p:spTree>
    <p:extLst>
      <p:ext uri="{BB962C8B-B14F-4D97-AF65-F5344CB8AC3E}">
        <p14:creationId xmlns:p14="http://schemas.microsoft.com/office/powerpoint/2010/main" val="404423633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pPr rtl="0"/>
            <a:r>
              <a:rPr lang="ko-KR" altLang="en-US" sz="1200" kern="1200">
                <a:solidFill>
                  <a:schemeClr val="tx1"/>
                </a:solidFill>
                <a:effectLst/>
                <a:latin typeface="+mn-lt"/>
                <a:ea typeface="+mn-ea"/>
                <a:cs typeface="+mn-cs"/>
              </a:rPr>
              <a:t>다음으로 액터들이 스스로 정보를 기억하고 상황에 맞게 동작하기 위해 반드시 알아야 할 핵심 개념인 </a:t>
            </a:r>
            <a:r>
              <a:rPr lang="en-US" altLang="ko-KR" sz="1200" kern="1200">
                <a:solidFill>
                  <a:schemeClr val="tx1"/>
                </a:solidFill>
                <a:effectLst/>
                <a:latin typeface="+mn-lt"/>
                <a:ea typeface="+mn-ea"/>
                <a:cs typeface="+mn-cs"/>
              </a:rPr>
              <a:t>'</a:t>
            </a:r>
            <a:r>
              <a:rPr lang="ko-KR" altLang="en-US" sz="1200" kern="1200">
                <a:solidFill>
                  <a:schemeClr val="tx1"/>
                </a:solidFill>
                <a:effectLst/>
                <a:latin typeface="+mn-lt"/>
                <a:ea typeface="+mn-ea"/>
                <a:cs typeface="+mn-cs"/>
              </a:rPr>
              <a:t>변수</a:t>
            </a:r>
            <a:r>
              <a:rPr lang="en-US" altLang="ko-KR" sz="1200" kern="1200">
                <a:solidFill>
                  <a:schemeClr val="tx1"/>
                </a:solidFill>
                <a:effectLst/>
                <a:latin typeface="+mn-lt"/>
                <a:ea typeface="+mn-ea"/>
                <a:cs typeface="+mn-cs"/>
              </a:rPr>
              <a:t>(Variable)'</a:t>
            </a:r>
            <a:r>
              <a:rPr lang="ko-KR" altLang="en-US" sz="1200" kern="1200">
                <a:solidFill>
                  <a:schemeClr val="tx1"/>
                </a:solidFill>
                <a:effectLst/>
                <a:latin typeface="+mn-lt"/>
                <a:ea typeface="+mn-ea"/>
                <a:cs typeface="+mn-cs"/>
              </a:rPr>
              <a:t>에 대해 살펴보겠습니다</a:t>
            </a:r>
            <a:r>
              <a:rPr lang="en-US" altLang="ko-KR" sz="1200" kern="1200">
                <a:solidFill>
                  <a:schemeClr val="tx1"/>
                </a:solidFill>
                <a:effectLst/>
                <a:latin typeface="+mn-lt"/>
                <a:ea typeface="+mn-ea"/>
                <a:cs typeface="+mn-cs"/>
              </a:rPr>
              <a:t>.</a:t>
            </a:r>
          </a:p>
          <a:p>
            <a:pPr rtl="0"/>
            <a:r>
              <a:rPr lang="ko-KR" altLang="en-US" sz="1200" kern="1200">
                <a:solidFill>
                  <a:schemeClr val="tx1"/>
                </a:solidFill>
                <a:effectLst/>
                <a:latin typeface="+mn-lt"/>
                <a:ea typeface="+mn-ea"/>
                <a:cs typeface="+mn-cs"/>
              </a:rPr>
              <a:t>프로그램이 실행되는 동안에는 수많은 데이터를 기억하고 수시로 꺼내어 활용해야만 합니다</a:t>
            </a:r>
            <a:r>
              <a:rPr lang="en-US" altLang="ko-KR" sz="1200" kern="1200">
                <a:solidFill>
                  <a:schemeClr val="tx1"/>
                </a:solidFill>
                <a:effectLst/>
                <a:latin typeface="+mn-lt"/>
                <a:ea typeface="+mn-ea"/>
                <a:cs typeface="+mn-cs"/>
              </a:rPr>
              <a:t>. </a:t>
            </a:r>
            <a:r>
              <a:rPr lang="ko-KR" altLang="en-US" sz="1200" kern="1200">
                <a:solidFill>
                  <a:schemeClr val="tx1"/>
                </a:solidFill>
                <a:effectLst/>
                <a:latin typeface="+mn-lt"/>
                <a:ea typeface="+mn-ea"/>
                <a:cs typeface="+mn-cs"/>
              </a:rPr>
              <a:t>이렇게 어떤 값을 저장해 두고 필요할 때마다 꺼내 사용하는 공간을 가리켜 </a:t>
            </a:r>
            <a:r>
              <a:rPr lang="en-US" altLang="ko-KR" sz="1200" kern="1200">
                <a:solidFill>
                  <a:schemeClr val="tx1"/>
                </a:solidFill>
                <a:effectLst/>
                <a:latin typeface="+mn-lt"/>
                <a:ea typeface="+mn-ea"/>
                <a:cs typeface="+mn-cs"/>
              </a:rPr>
              <a:t>'</a:t>
            </a:r>
            <a:r>
              <a:rPr lang="ko-KR" altLang="en-US" sz="1200" kern="1200">
                <a:solidFill>
                  <a:schemeClr val="tx1"/>
                </a:solidFill>
                <a:effectLst/>
                <a:latin typeface="+mn-lt"/>
                <a:ea typeface="+mn-ea"/>
                <a:cs typeface="+mn-cs"/>
              </a:rPr>
              <a:t>변수</a:t>
            </a:r>
            <a:r>
              <a:rPr lang="en-US" altLang="ko-KR" sz="1200" kern="1200">
                <a:solidFill>
                  <a:schemeClr val="tx1"/>
                </a:solidFill>
                <a:effectLst/>
                <a:latin typeface="+mn-lt"/>
                <a:ea typeface="+mn-ea"/>
                <a:cs typeface="+mn-cs"/>
              </a:rPr>
              <a:t>'</a:t>
            </a:r>
            <a:r>
              <a:rPr lang="ko-KR" altLang="en-US" sz="1200" kern="1200">
                <a:solidFill>
                  <a:schemeClr val="tx1"/>
                </a:solidFill>
                <a:effectLst/>
                <a:latin typeface="+mn-lt"/>
                <a:ea typeface="+mn-ea"/>
                <a:cs typeface="+mn-cs"/>
              </a:rPr>
              <a:t>라고 부릅니다</a:t>
            </a:r>
            <a:r>
              <a:rPr lang="en-US" altLang="ko-KR" sz="1200" kern="1200">
                <a:solidFill>
                  <a:schemeClr val="tx1"/>
                </a:solidFill>
                <a:effectLst/>
                <a:latin typeface="+mn-lt"/>
                <a:ea typeface="+mn-ea"/>
                <a:cs typeface="+mn-cs"/>
              </a:rPr>
              <a:t>. </a:t>
            </a:r>
            <a:r>
              <a:rPr lang="ko-KR" altLang="en-US" sz="1200" kern="1200">
                <a:solidFill>
                  <a:schemeClr val="tx1"/>
                </a:solidFill>
                <a:effectLst/>
                <a:latin typeface="+mn-lt"/>
                <a:ea typeface="+mn-ea"/>
                <a:cs typeface="+mn-cs"/>
              </a:rPr>
              <a:t>쉽게 설명하자면</a:t>
            </a:r>
            <a:r>
              <a:rPr lang="en-US" altLang="ko-KR" sz="1200" kern="1200">
                <a:solidFill>
                  <a:schemeClr val="tx1"/>
                </a:solidFill>
                <a:effectLst/>
                <a:latin typeface="+mn-lt"/>
                <a:ea typeface="+mn-ea"/>
                <a:cs typeface="+mn-cs"/>
              </a:rPr>
              <a:t>, </a:t>
            </a:r>
            <a:r>
              <a:rPr lang="ko-KR" altLang="en-US" sz="1200" kern="1200">
                <a:solidFill>
                  <a:schemeClr val="tx1"/>
                </a:solidFill>
                <a:effectLst/>
                <a:latin typeface="+mn-lt"/>
                <a:ea typeface="+mn-ea"/>
                <a:cs typeface="+mn-cs"/>
              </a:rPr>
              <a:t>이름표가 명확하게 붙어 있는 </a:t>
            </a:r>
            <a:r>
              <a:rPr lang="en-US" altLang="ko-KR" sz="1200" kern="1200">
                <a:solidFill>
                  <a:schemeClr val="tx1"/>
                </a:solidFill>
                <a:effectLst/>
                <a:latin typeface="+mn-lt"/>
                <a:ea typeface="+mn-ea"/>
                <a:cs typeface="+mn-cs"/>
              </a:rPr>
              <a:t>'</a:t>
            </a:r>
            <a:r>
              <a:rPr lang="ko-KR" altLang="en-US" sz="1200" kern="1200">
                <a:solidFill>
                  <a:schemeClr val="tx1"/>
                </a:solidFill>
                <a:effectLst/>
                <a:latin typeface="+mn-lt"/>
                <a:ea typeface="+mn-ea"/>
                <a:cs typeface="+mn-cs"/>
              </a:rPr>
              <a:t>데이터 보관 상자</a:t>
            </a:r>
            <a:r>
              <a:rPr lang="en-US" altLang="ko-KR" sz="1200" kern="1200">
                <a:solidFill>
                  <a:schemeClr val="tx1"/>
                </a:solidFill>
                <a:effectLst/>
                <a:latin typeface="+mn-lt"/>
                <a:ea typeface="+mn-ea"/>
                <a:cs typeface="+mn-cs"/>
              </a:rPr>
              <a:t>'</a:t>
            </a:r>
            <a:r>
              <a:rPr lang="ko-KR" altLang="en-US" sz="1200" kern="1200">
                <a:solidFill>
                  <a:schemeClr val="tx1"/>
                </a:solidFill>
                <a:effectLst/>
                <a:latin typeface="+mn-lt"/>
                <a:ea typeface="+mn-ea"/>
                <a:cs typeface="+mn-cs"/>
              </a:rPr>
              <a:t>라고 생각하시면 됩니다</a:t>
            </a:r>
            <a:r>
              <a:rPr lang="en-US" altLang="ko-KR" sz="1200" kern="1200">
                <a:solidFill>
                  <a:schemeClr val="tx1"/>
                </a:solidFill>
                <a:effectLst/>
                <a:latin typeface="+mn-lt"/>
                <a:ea typeface="+mn-ea"/>
                <a:cs typeface="+mn-cs"/>
              </a:rPr>
              <a:t>.</a:t>
            </a:r>
          </a:p>
          <a:p>
            <a:pPr rtl="0"/>
            <a:r>
              <a:rPr lang="ko-KR" altLang="en-US" sz="1200" kern="1200">
                <a:solidFill>
                  <a:schemeClr val="tx1"/>
                </a:solidFill>
                <a:effectLst/>
                <a:latin typeface="+mn-lt"/>
                <a:ea typeface="+mn-ea"/>
                <a:cs typeface="+mn-cs"/>
              </a:rPr>
              <a:t>이 상자 안에 어떤 데이터를 담을지에 따라 상자의 형태가 달라져야 하듯이</a:t>
            </a:r>
            <a:r>
              <a:rPr lang="en-US" altLang="ko-KR" sz="1200" kern="1200">
                <a:solidFill>
                  <a:schemeClr val="tx1"/>
                </a:solidFill>
                <a:effectLst/>
                <a:latin typeface="+mn-lt"/>
                <a:ea typeface="+mn-ea"/>
                <a:cs typeface="+mn-cs"/>
              </a:rPr>
              <a:t>, </a:t>
            </a:r>
            <a:r>
              <a:rPr lang="ko-KR" altLang="en-US" sz="1200" kern="1200">
                <a:solidFill>
                  <a:schemeClr val="tx1"/>
                </a:solidFill>
                <a:effectLst/>
                <a:latin typeface="+mn-lt"/>
                <a:ea typeface="+mn-ea"/>
                <a:cs typeface="+mn-cs"/>
              </a:rPr>
              <a:t>변수 역시 사용 목적에 따라 다양한 </a:t>
            </a:r>
            <a:r>
              <a:rPr lang="en-US" altLang="ko-KR" sz="1200" kern="1200">
                <a:solidFill>
                  <a:schemeClr val="tx1"/>
                </a:solidFill>
                <a:effectLst/>
                <a:latin typeface="+mn-lt"/>
                <a:ea typeface="+mn-ea"/>
                <a:cs typeface="+mn-cs"/>
              </a:rPr>
              <a:t>'</a:t>
            </a:r>
            <a:r>
              <a:rPr lang="ko-KR" altLang="en-US" sz="1200" kern="1200">
                <a:solidFill>
                  <a:schemeClr val="tx1"/>
                </a:solidFill>
                <a:effectLst/>
                <a:latin typeface="+mn-lt"/>
                <a:ea typeface="+mn-ea"/>
                <a:cs typeface="+mn-cs"/>
              </a:rPr>
              <a:t>유형</a:t>
            </a:r>
            <a:r>
              <a:rPr lang="en-US" altLang="ko-KR" sz="1200" kern="1200">
                <a:solidFill>
                  <a:schemeClr val="tx1"/>
                </a:solidFill>
                <a:effectLst/>
                <a:latin typeface="+mn-lt"/>
                <a:ea typeface="+mn-ea"/>
                <a:cs typeface="+mn-cs"/>
              </a:rPr>
              <a:t>(Type)'</a:t>
            </a:r>
            <a:r>
              <a:rPr lang="ko-KR" altLang="en-US" sz="1200" kern="1200">
                <a:solidFill>
                  <a:schemeClr val="tx1"/>
                </a:solidFill>
                <a:effectLst/>
                <a:latin typeface="+mn-lt"/>
                <a:ea typeface="+mn-ea"/>
                <a:cs typeface="+mn-cs"/>
              </a:rPr>
              <a:t>을 가집니다</a:t>
            </a:r>
            <a:r>
              <a:rPr lang="en-US" altLang="ko-KR" sz="1200" kern="1200">
                <a:solidFill>
                  <a:schemeClr val="tx1"/>
                </a:solidFill>
                <a:effectLst/>
                <a:latin typeface="+mn-lt"/>
                <a:ea typeface="+mn-ea"/>
                <a:cs typeface="+mn-cs"/>
              </a:rPr>
              <a:t>. </a:t>
            </a:r>
            <a:r>
              <a:rPr lang="ko-KR" altLang="en-US" sz="1200" kern="1200">
                <a:solidFill>
                  <a:schemeClr val="tx1"/>
                </a:solidFill>
                <a:effectLst/>
                <a:latin typeface="+mn-lt"/>
                <a:ea typeface="+mn-ea"/>
                <a:cs typeface="+mn-cs"/>
              </a:rPr>
              <a:t>소수점이 없는 깔끔한 정수를 담는 </a:t>
            </a:r>
            <a:r>
              <a:rPr lang="en-US" altLang="ko-KR" sz="1200" kern="1200">
                <a:solidFill>
                  <a:schemeClr val="tx1"/>
                </a:solidFill>
                <a:effectLst/>
                <a:latin typeface="+mn-lt"/>
                <a:ea typeface="+mn-ea"/>
                <a:cs typeface="+mn-cs"/>
              </a:rPr>
              <a:t>'Integer', </a:t>
            </a:r>
            <a:r>
              <a:rPr lang="ko-KR" altLang="en-US" sz="1200" kern="1200">
                <a:solidFill>
                  <a:schemeClr val="tx1"/>
                </a:solidFill>
                <a:effectLst/>
                <a:latin typeface="+mn-lt"/>
                <a:ea typeface="+mn-ea"/>
                <a:cs typeface="+mn-cs"/>
              </a:rPr>
              <a:t>공간 좌표처럼 소수점을 포함하는 정밀한 숫자를 담는 </a:t>
            </a:r>
            <a:r>
              <a:rPr lang="en-US" altLang="ko-KR" sz="1200" kern="1200">
                <a:solidFill>
                  <a:schemeClr val="tx1"/>
                </a:solidFill>
                <a:effectLst/>
                <a:latin typeface="+mn-lt"/>
                <a:ea typeface="+mn-ea"/>
                <a:cs typeface="+mn-cs"/>
              </a:rPr>
              <a:t>'Float', </a:t>
            </a:r>
            <a:r>
              <a:rPr lang="ko-KR" altLang="en-US" sz="1200" kern="1200">
                <a:solidFill>
                  <a:schemeClr val="tx1"/>
                </a:solidFill>
                <a:effectLst/>
                <a:latin typeface="+mn-lt"/>
                <a:ea typeface="+mn-ea"/>
                <a:cs typeface="+mn-cs"/>
              </a:rPr>
              <a:t>참</a:t>
            </a:r>
            <a:r>
              <a:rPr lang="en-US" altLang="ko-KR" sz="1200" kern="1200">
                <a:solidFill>
                  <a:schemeClr val="tx1"/>
                </a:solidFill>
                <a:effectLst/>
                <a:latin typeface="+mn-lt"/>
                <a:ea typeface="+mn-ea"/>
                <a:cs typeface="+mn-cs"/>
              </a:rPr>
              <a:t>(True)</a:t>
            </a:r>
            <a:r>
              <a:rPr lang="ko-KR" altLang="en-US" sz="1200" kern="1200">
                <a:solidFill>
                  <a:schemeClr val="tx1"/>
                </a:solidFill>
                <a:effectLst/>
                <a:latin typeface="+mn-lt"/>
                <a:ea typeface="+mn-ea"/>
                <a:cs typeface="+mn-cs"/>
              </a:rPr>
              <a:t>과 거짓</a:t>
            </a:r>
            <a:r>
              <a:rPr lang="en-US" altLang="ko-KR" sz="1200" kern="1200">
                <a:solidFill>
                  <a:schemeClr val="tx1"/>
                </a:solidFill>
                <a:effectLst/>
                <a:latin typeface="+mn-lt"/>
                <a:ea typeface="+mn-ea"/>
                <a:cs typeface="+mn-cs"/>
              </a:rPr>
              <a:t>(False) </a:t>
            </a:r>
            <a:r>
              <a:rPr lang="ko-KR" altLang="en-US" sz="1200" kern="1200">
                <a:solidFill>
                  <a:schemeClr val="tx1"/>
                </a:solidFill>
                <a:effectLst/>
                <a:latin typeface="+mn-lt"/>
                <a:ea typeface="+mn-ea"/>
                <a:cs typeface="+mn-cs"/>
              </a:rPr>
              <a:t>상태만 저장하는 </a:t>
            </a:r>
            <a:r>
              <a:rPr lang="en-US" altLang="ko-KR" sz="1200" kern="1200">
                <a:solidFill>
                  <a:schemeClr val="tx1"/>
                </a:solidFill>
                <a:effectLst/>
                <a:latin typeface="+mn-lt"/>
                <a:ea typeface="+mn-ea"/>
                <a:cs typeface="+mn-cs"/>
              </a:rPr>
              <a:t>'Boolean', </a:t>
            </a:r>
            <a:r>
              <a:rPr lang="ko-KR" altLang="en-US" sz="1200" kern="1200">
                <a:solidFill>
                  <a:schemeClr val="tx1"/>
                </a:solidFill>
                <a:effectLst/>
                <a:latin typeface="+mn-lt"/>
                <a:ea typeface="+mn-ea"/>
                <a:cs typeface="+mn-cs"/>
              </a:rPr>
              <a:t>텍스트 문장 그 자체를 보관하는 </a:t>
            </a:r>
            <a:r>
              <a:rPr lang="en-US" altLang="ko-KR" sz="1200" kern="1200">
                <a:solidFill>
                  <a:schemeClr val="tx1"/>
                </a:solidFill>
                <a:effectLst/>
                <a:latin typeface="+mn-lt"/>
                <a:ea typeface="+mn-ea"/>
                <a:cs typeface="+mn-cs"/>
              </a:rPr>
              <a:t>'String' </a:t>
            </a:r>
            <a:r>
              <a:rPr lang="ko-KR" altLang="en-US" sz="1200" kern="1200">
                <a:solidFill>
                  <a:schemeClr val="tx1"/>
                </a:solidFill>
                <a:effectLst/>
                <a:latin typeface="+mn-lt"/>
                <a:ea typeface="+mn-ea"/>
                <a:cs typeface="+mn-cs"/>
              </a:rPr>
              <a:t>등이 가장 대표적으로 사용됩니다</a:t>
            </a:r>
            <a:r>
              <a:rPr lang="en-US" altLang="ko-KR" sz="1200" kern="1200">
                <a:solidFill>
                  <a:schemeClr val="tx1"/>
                </a:solidFill>
                <a:effectLst/>
                <a:latin typeface="+mn-lt"/>
                <a:ea typeface="+mn-ea"/>
                <a:cs typeface="+mn-cs"/>
              </a:rPr>
              <a:t>.</a:t>
            </a:r>
          </a:p>
          <a:p>
            <a:pPr rtl="0"/>
            <a:r>
              <a:rPr lang="ko-KR" altLang="en-US" sz="1200" kern="1200">
                <a:solidFill>
                  <a:schemeClr val="tx1"/>
                </a:solidFill>
                <a:effectLst/>
                <a:latin typeface="+mn-lt"/>
                <a:ea typeface="+mn-ea"/>
                <a:cs typeface="+mn-cs"/>
              </a:rPr>
              <a:t>블루프린트 안에서 이 변수를 다룰 때는 크게 두 가지 노드만 기억하시면 됩니다</a:t>
            </a:r>
            <a:r>
              <a:rPr lang="en-US" altLang="ko-KR" sz="1200" kern="1200">
                <a:solidFill>
                  <a:schemeClr val="tx1"/>
                </a:solidFill>
                <a:effectLst/>
                <a:latin typeface="+mn-lt"/>
                <a:ea typeface="+mn-ea"/>
                <a:cs typeface="+mn-cs"/>
              </a:rPr>
              <a:t>. </a:t>
            </a:r>
            <a:r>
              <a:rPr lang="ko-KR" altLang="en-US" sz="1200" kern="1200">
                <a:solidFill>
                  <a:schemeClr val="tx1"/>
                </a:solidFill>
                <a:effectLst/>
                <a:latin typeface="+mn-lt"/>
                <a:ea typeface="+mn-ea"/>
                <a:cs typeface="+mn-cs"/>
              </a:rPr>
              <a:t>변수 상자 안에 현재 어떤 값이 들어있는지 단순히 읽어올 때는 </a:t>
            </a:r>
            <a:r>
              <a:rPr lang="en-US" altLang="ko-KR" sz="1200" kern="1200">
                <a:solidFill>
                  <a:schemeClr val="tx1"/>
                </a:solidFill>
                <a:effectLst/>
                <a:latin typeface="+mn-lt"/>
                <a:ea typeface="+mn-ea"/>
                <a:cs typeface="+mn-cs"/>
              </a:rPr>
              <a:t>'Get(</a:t>
            </a:r>
            <a:r>
              <a:rPr lang="ko-KR" altLang="en-US" sz="1200" kern="1200">
                <a:solidFill>
                  <a:schemeClr val="tx1"/>
                </a:solidFill>
                <a:effectLst/>
                <a:latin typeface="+mn-lt"/>
                <a:ea typeface="+mn-ea"/>
                <a:cs typeface="+mn-cs"/>
              </a:rPr>
              <a:t>가져오기</a:t>
            </a:r>
            <a:r>
              <a:rPr lang="en-US" altLang="ko-KR" sz="1200" kern="1200">
                <a:solidFill>
                  <a:schemeClr val="tx1"/>
                </a:solidFill>
                <a:effectLst/>
                <a:latin typeface="+mn-lt"/>
                <a:ea typeface="+mn-ea"/>
                <a:cs typeface="+mn-cs"/>
              </a:rPr>
              <a:t>) </a:t>
            </a:r>
            <a:r>
              <a:rPr lang="ko-KR" altLang="en-US" sz="1200" kern="1200">
                <a:solidFill>
                  <a:schemeClr val="tx1"/>
                </a:solidFill>
                <a:effectLst/>
                <a:latin typeface="+mn-lt"/>
                <a:ea typeface="+mn-ea"/>
                <a:cs typeface="+mn-cs"/>
              </a:rPr>
              <a:t>노드</a:t>
            </a:r>
            <a:r>
              <a:rPr lang="en-US" altLang="ko-KR" sz="1200" kern="1200">
                <a:solidFill>
                  <a:schemeClr val="tx1"/>
                </a:solidFill>
                <a:effectLst/>
                <a:latin typeface="+mn-lt"/>
                <a:ea typeface="+mn-ea"/>
                <a:cs typeface="+mn-cs"/>
              </a:rPr>
              <a:t>'</a:t>
            </a:r>
            <a:r>
              <a:rPr lang="ko-KR" altLang="en-US" sz="1200" kern="1200">
                <a:solidFill>
                  <a:schemeClr val="tx1"/>
                </a:solidFill>
                <a:effectLst/>
                <a:latin typeface="+mn-lt"/>
                <a:ea typeface="+mn-ea"/>
                <a:cs typeface="+mn-cs"/>
              </a:rPr>
              <a:t>를 사용합니다</a:t>
            </a:r>
            <a:r>
              <a:rPr lang="en-US" altLang="ko-KR" sz="1200" kern="1200">
                <a:solidFill>
                  <a:schemeClr val="tx1"/>
                </a:solidFill>
                <a:effectLst/>
                <a:latin typeface="+mn-lt"/>
                <a:ea typeface="+mn-ea"/>
                <a:cs typeface="+mn-cs"/>
              </a:rPr>
              <a:t>. </a:t>
            </a:r>
            <a:r>
              <a:rPr lang="ko-KR" altLang="en-US" sz="1200" kern="1200">
                <a:solidFill>
                  <a:schemeClr val="tx1"/>
                </a:solidFill>
                <a:effectLst/>
                <a:latin typeface="+mn-lt"/>
                <a:ea typeface="+mn-ea"/>
                <a:cs typeface="+mn-cs"/>
              </a:rPr>
              <a:t>반대로 기존에 있던 값을 지우고 완전히 새로운 데이터로 덮어써서 저장</a:t>
            </a:r>
            <a:r>
              <a:rPr lang="en-US" altLang="ko-KR" sz="1200" kern="1200">
                <a:solidFill>
                  <a:schemeClr val="tx1"/>
                </a:solidFill>
                <a:effectLst/>
                <a:latin typeface="+mn-lt"/>
                <a:ea typeface="+mn-ea"/>
                <a:cs typeface="+mn-cs"/>
              </a:rPr>
              <a:t>(</a:t>
            </a:r>
            <a:r>
              <a:rPr lang="ko-KR" altLang="en-US" sz="1200" kern="1200">
                <a:solidFill>
                  <a:schemeClr val="tx1"/>
                </a:solidFill>
                <a:effectLst/>
                <a:latin typeface="+mn-lt"/>
                <a:ea typeface="+mn-ea"/>
                <a:cs typeface="+mn-cs"/>
              </a:rPr>
              <a:t>쓰기</a:t>
            </a:r>
            <a:r>
              <a:rPr lang="en-US" altLang="ko-KR" sz="1200" kern="1200">
                <a:solidFill>
                  <a:schemeClr val="tx1"/>
                </a:solidFill>
                <a:effectLst/>
                <a:latin typeface="+mn-lt"/>
                <a:ea typeface="+mn-ea"/>
                <a:cs typeface="+mn-cs"/>
              </a:rPr>
              <a:t>)</a:t>
            </a:r>
            <a:r>
              <a:rPr lang="ko-KR" altLang="en-US" sz="1200" kern="1200">
                <a:solidFill>
                  <a:schemeClr val="tx1"/>
                </a:solidFill>
                <a:effectLst/>
                <a:latin typeface="+mn-lt"/>
                <a:ea typeface="+mn-ea"/>
                <a:cs typeface="+mn-cs"/>
              </a:rPr>
              <a:t>할 때는 </a:t>
            </a:r>
            <a:r>
              <a:rPr lang="en-US" altLang="ko-KR" sz="1200" kern="1200">
                <a:solidFill>
                  <a:schemeClr val="tx1"/>
                </a:solidFill>
                <a:effectLst/>
                <a:latin typeface="+mn-lt"/>
                <a:ea typeface="+mn-ea"/>
                <a:cs typeface="+mn-cs"/>
              </a:rPr>
              <a:t>'Set(</a:t>
            </a:r>
            <a:r>
              <a:rPr lang="ko-KR" altLang="en-US" sz="1200" kern="1200">
                <a:solidFill>
                  <a:schemeClr val="tx1"/>
                </a:solidFill>
                <a:effectLst/>
                <a:latin typeface="+mn-lt"/>
                <a:ea typeface="+mn-ea"/>
                <a:cs typeface="+mn-cs"/>
              </a:rPr>
              <a:t>설정하기</a:t>
            </a:r>
            <a:r>
              <a:rPr lang="en-US" altLang="ko-KR" sz="1200" kern="1200">
                <a:solidFill>
                  <a:schemeClr val="tx1"/>
                </a:solidFill>
                <a:effectLst/>
                <a:latin typeface="+mn-lt"/>
                <a:ea typeface="+mn-ea"/>
                <a:cs typeface="+mn-cs"/>
              </a:rPr>
              <a:t>) </a:t>
            </a:r>
            <a:r>
              <a:rPr lang="ko-KR" altLang="en-US" sz="1200" kern="1200">
                <a:solidFill>
                  <a:schemeClr val="tx1"/>
                </a:solidFill>
                <a:effectLst/>
                <a:latin typeface="+mn-lt"/>
                <a:ea typeface="+mn-ea"/>
                <a:cs typeface="+mn-cs"/>
              </a:rPr>
              <a:t>노드</a:t>
            </a:r>
            <a:r>
              <a:rPr lang="en-US" altLang="ko-KR" sz="1200" kern="1200">
                <a:solidFill>
                  <a:schemeClr val="tx1"/>
                </a:solidFill>
                <a:effectLst/>
                <a:latin typeface="+mn-lt"/>
                <a:ea typeface="+mn-ea"/>
                <a:cs typeface="+mn-cs"/>
              </a:rPr>
              <a:t>'</a:t>
            </a:r>
            <a:r>
              <a:rPr lang="ko-KR" altLang="en-US" sz="1200" kern="1200">
                <a:solidFill>
                  <a:schemeClr val="tx1"/>
                </a:solidFill>
                <a:effectLst/>
                <a:latin typeface="+mn-lt"/>
                <a:ea typeface="+mn-ea"/>
                <a:cs typeface="+mn-cs"/>
              </a:rPr>
              <a:t>를 활용합니다</a:t>
            </a:r>
            <a:r>
              <a:rPr lang="en-US" altLang="ko-KR" sz="1200" kern="1200">
                <a:solidFill>
                  <a:schemeClr val="tx1"/>
                </a:solidFill>
                <a:effectLst/>
                <a:latin typeface="+mn-lt"/>
                <a:ea typeface="+mn-ea"/>
                <a:cs typeface="+mn-cs"/>
              </a:rPr>
              <a:t>.</a:t>
            </a:r>
          </a:p>
          <a:p>
            <a:pPr rtl="0"/>
            <a:r>
              <a:rPr lang="ko-KR" altLang="en-US" sz="1200" kern="1200">
                <a:solidFill>
                  <a:schemeClr val="tx1"/>
                </a:solidFill>
                <a:effectLst/>
                <a:latin typeface="+mn-lt"/>
                <a:ea typeface="+mn-ea"/>
                <a:cs typeface="+mn-cs"/>
              </a:rPr>
              <a:t>마지막으로 작업의 효율을 높여주는 </a:t>
            </a:r>
            <a:r>
              <a:rPr lang="en-US" altLang="ko-KR" sz="1200" kern="1200">
                <a:solidFill>
                  <a:schemeClr val="tx1"/>
                </a:solidFill>
                <a:effectLst/>
                <a:latin typeface="+mn-lt"/>
                <a:ea typeface="+mn-ea"/>
                <a:cs typeface="+mn-cs"/>
              </a:rPr>
              <a:t>＇</a:t>
            </a:r>
            <a:r>
              <a:rPr lang="ko-KR" altLang="en-US" sz="1200" kern="1200">
                <a:solidFill>
                  <a:schemeClr val="tx1"/>
                </a:solidFill>
                <a:effectLst/>
                <a:latin typeface="+mn-lt"/>
                <a:ea typeface="+mn-ea"/>
                <a:cs typeface="+mn-cs"/>
              </a:rPr>
              <a:t>인스턴스 편집 가능</a:t>
            </a:r>
            <a:r>
              <a:rPr lang="en-US" altLang="ko-KR" sz="1200" kern="1200">
                <a:solidFill>
                  <a:schemeClr val="tx1"/>
                </a:solidFill>
                <a:effectLst/>
                <a:latin typeface="+mn-lt"/>
                <a:ea typeface="+mn-ea"/>
                <a:cs typeface="+mn-cs"/>
              </a:rPr>
              <a:t>' </a:t>
            </a:r>
            <a:r>
              <a:rPr lang="ko-KR" altLang="en-US" sz="1200" kern="1200">
                <a:solidFill>
                  <a:schemeClr val="tx1"/>
                </a:solidFill>
                <a:effectLst/>
                <a:latin typeface="+mn-lt"/>
                <a:ea typeface="+mn-ea"/>
                <a:cs typeface="+mn-cs"/>
              </a:rPr>
              <a:t>기능이 있습니다</a:t>
            </a:r>
            <a:r>
              <a:rPr lang="en-US" altLang="ko-KR" sz="1200" kern="1200">
                <a:solidFill>
                  <a:schemeClr val="tx1"/>
                </a:solidFill>
                <a:effectLst/>
                <a:latin typeface="+mn-lt"/>
                <a:ea typeface="+mn-ea"/>
                <a:cs typeface="+mn-cs"/>
              </a:rPr>
              <a:t>. </a:t>
            </a:r>
            <a:r>
              <a:rPr lang="ko-KR" altLang="en-US" sz="1200" kern="1200">
                <a:solidFill>
                  <a:schemeClr val="tx1"/>
                </a:solidFill>
                <a:effectLst/>
                <a:latin typeface="+mn-lt"/>
                <a:ea typeface="+mn-ea"/>
                <a:cs typeface="+mn-cs"/>
              </a:rPr>
              <a:t>특정 변수 옆의 눈 모양 아이콘을 켜서 외부로 노출시키면</a:t>
            </a:r>
            <a:r>
              <a:rPr lang="en-US" altLang="ko-KR" sz="1200" kern="1200">
                <a:solidFill>
                  <a:schemeClr val="tx1"/>
                </a:solidFill>
                <a:effectLst/>
                <a:latin typeface="+mn-lt"/>
                <a:ea typeface="+mn-ea"/>
                <a:cs typeface="+mn-cs"/>
              </a:rPr>
              <a:t>, </a:t>
            </a:r>
            <a:r>
              <a:rPr lang="ko-KR" altLang="en-US" sz="1200" kern="1200">
                <a:solidFill>
                  <a:schemeClr val="tx1"/>
                </a:solidFill>
                <a:effectLst/>
                <a:latin typeface="+mn-lt"/>
                <a:ea typeface="+mn-ea"/>
                <a:cs typeface="+mn-cs"/>
              </a:rPr>
              <a:t>복잡한 블루프린트 편집 창을 일일이 열지 않아도 됩니다</a:t>
            </a:r>
            <a:r>
              <a:rPr lang="en-US" altLang="ko-KR" sz="1200" kern="1200">
                <a:solidFill>
                  <a:schemeClr val="tx1"/>
                </a:solidFill>
                <a:effectLst/>
                <a:latin typeface="+mn-lt"/>
                <a:ea typeface="+mn-ea"/>
                <a:cs typeface="+mn-cs"/>
              </a:rPr>
              <a:t>. </a:t>
            </a:r>
            <a:r>
              <a:rPr lang="ko-KR" altLang="en-US" sz="1200" kern="1200">
                <a:solidFill>
                  <a:schemeClr val="tx1"/>
                </a:solidFill>
                <a:effectLst/>
                <a:latin typeface="+mn-lt"/>
                <a:ea typeface="+mn-ea"/>
                <a:cs typeface="+mn-cs"/>
              </a:rPr>
              <a:t>언리얼 에디터 메인 화면에서 배치된 액터를 선택하는 것만으로 변수 값을 즉각적으로 수정할 수 있어 작업 속도를 크게 단축시켜 줍니다</a:t>
            </a:r>
            <a:r>
              <a:rPr lang="en-US" altLang="ko-KR" sz="1200" kern="1200">
                <a:solidFill>
                  <a:schemeClr val="tx1"/>
                </a:solidFill>
                <a:effectLst/>
                <a:latin typeface="+mn-lt"/>
                <a:ea typeface="+mn-ea"/>
                <a:cs typeface="+mn-cs"/>
              </a:rPr>
              <a:t>. </a:t>
            </a:r>
            <a:r>
              <a:rPr lang="ko-KR" altLang="en-US" sz="1200" kern="1200">
                <a:solidFill>
                  <a:schemeClr val="tx1"/>
                </a:solidFill>
                <a:effectLst/>
                <a:latin typeface="+mn-lt"/>
                <a:ea typeface="+mn-ea"/>
                <a:cs typeface="+mn-cs"/>
              </a:rPr>
              <a:t>실습을 통해서 이부분은 더 살펴보겠습니다</a:t>
            </a:r>
            <a:r>
              <a:rPr lang="en-US" altLang="ko-KR" sz="1200" kern="1200">
                <a:solidFill>
                  <a:schemeClr val="tx1"/>
                </a:solidFill>
                <a:effectLst/>
                <a:latin typeface="+mn-lt"/>
                <a:ea typeface="+mn-ea"/>
                <a:cs typeface="+mn-cs"/>
              </a:rPr>
              <a:t>.</a:t>
            </a:r>
          </a:p>
          <a:p>
            <a:pPr latinLnBrk="0"/>
            <a:endParaRPr lang="en-US" altLang="ko-KR"/>
          </a:p>
        </p:txBody>
      </p:sp>
      <p:sp>
        <p:nvSpPr>
          <p:cNvPr id="4" name="슬라이드 번호 개체 틀 3"/>
          <p:cNvSpPr>
            <a:spLocks noGrp="1"/>
          </p:cNvSpPr>
          <p:nvPr>
            <p:ph type="sldNum" sz="quarter" idx="5"/>
          </p:nvPr>
        </p:nvSpPr>
        <p:spPr/>
        <p:txBody>
          <a:bodyPr/>
          <a:lstStyle/>
          <a:p>
            <a:fld id="{AE58B9CC-458F-4497-8737-CAF2F390B8C0}" type="slidenum">
              <a:rPr lang="ko-KR" altLang="en-US" smtClean="0"/>
              <a:t>21</a:t>
            </a:fld>
            <a:endParaRPr lang="ko-KR" altLang="en-US"/>
          </a:p>
        </p:txBody>
      </p:sp>
    </p:spTree>
    <p:extLst>
      <p:ext uri="{BB962C8B-B14F-4D97-AF65-F5344CB8AC3E}">
        <p14:creationId xmlns:p14="http://schemas.microsoft.com/office/powerpoint/2010/main" val="335638596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pPr rtl="0"/>
            <a:r>
              <a:rPr lang="ko-KR" altLang="en-US" sz="1200" kern="1200">
                <a:solidFill>
                  <a:schemeClr val="tx1"/>
                </a:solidFill>
                <a:effectLst/>
                <a:latin typeface="+mn-lt"/>
                <a:ea typeface="+mn-ea"/>
                <a:cs typeface="+mn-cs"/>
              </a:rPr>
              <a:t>이어지는 실습에서는 수학 시간에 배웠던 </a:t>
            </a:r>
            <a:r>
              <a:rPr lang="en-US" altLang="ko-KR" sz="1200" kern="1200">
                <a:solidFill>
                  <a:schemeClr val="tx1"/>
                </a:solidFill>
                <a:effectLst/>
                <a:latin typeface="+mn-lt"/>
                <a:ea typeface="+mn-ea"/>
                <a:cs typeface="+mn-cs"/>
              </a:rPr>
              <a:t>'</a:t>
            </a:r>
            <a:r>
              <a:rPr lang="ko-KR" altLang="en-US" sz="1200" kern="1200">
                <a:solidFill>
                  <a:schemeClr val="tx1"/>
                </a:solidFill>
                <a:effectLst/>
                <a:latin typeface="+mn-lt"/>
                <a:ea typeface="+mn-ea"/>
                <a:cs typeface="+mn-cs"/>
              </a:rPr>
              <a:t>사인</a:t>
            </a:r>
            <a:r>
              <a:rPr lang="en-US" altLang="ko-KR" sz="1200" kern="1200">
                <a:solidFill>
                  <a:schemeClr val="tx1"/>
                </a:solidFill>
                <a:effectLst/>
                <a:latin typeface="+mn-lt"/>
                <a:ea typeface="+mn-ea"/>
                <a:cs typeface="+mn-cs"/>
              </a:rPr>
              <a:t>(Sin) </a:t>
            </a:r>
            <a:r>
              <a:rPr lang="ko-KR" altLang="en-US" sz="1200" kern="1200">
                <a:solidFill>
                  <a:schemeClr val="tx1"/>
                </a:solidFill>
                <a:effectLst/>
                <a:latin typeface="+mn-lt"/>
                <a:ea typeface="+mn-ea"/>
                <a:cs typeface="+mn-cs"/>
              </a:rPr>
              <a:t>함수</a:t>
            </a:r>
            <a:r>
              <a:rPr lang="en-US" altLang="ko-KR" sz="1200" kern="1200">
                <a:solidFill>
                  <a:schemeClr val="tx1"/>
                </a:solidFill>
                <a:effectLst/>
                <a:latin typeface="+mn-lt"/>
                <a:ea typeface="+mn-ea"/>
                <a:cs typeface="+mn-cs"/>
              </a:rPr>
              <a:t>'</a:t>
            </a:r>
            <a:r>
              <a:rPr lang="ko-KR" altLang="en-US" sz="1200" kern="1200">
                <a:solidFill>
                  <a:schemeClr val="tx1"/>
                </a:solidFill>
                <a:effectLst/>
                <a:latin typeface="+mn-lt"/>
                <a:ea typeface="+mn-ea"/>
                <a:cs typeface="+mn-cs"/>
              </a:rPr>
              <a:t>를 활용해 액터가 위아래로 부드럽게 출렁거리는 움직임을 구현해볼 예정입니다</a:t>
            </a:r>
            <a:r>
              <a:rPr lang="en-US" altLang="ko-KR" sz="1200" kern="1200">
                <a:solidFill>
                  <a:schemeClr val="tx1"/>
                </a:solidFill>
                <a:effectLst/>
                <a:latin typeface="+mn-lt"/>
                <a:ea typeface="+mn-ea"/>
                <a:cs typeface="+mn-cs"/>
              </a:rPr>
              <a:t>.</a:t>
            </a:r>
          </a:p>
          <a:p>
            <a:pPr rtl="0"/>
            <a:r>
              <a:rPr lang="ko-KR" altLang="en-US" sz="1200" kern="1200">
                <a:solidFill>
                  <a:schemeClr val="tx1"/>
                </a:solidFill>
                <a:effectLst/>
                <a:latin typeface="+mn-lt"/>
                <a:ea typeface="+mn-ea"/>
                <a:cs typeface="+mn-cs"/>
              </a:rPr>
              <a:t>이러한 연속적이고 반복적인 파동을 만들어내기 위해서는 계속해서 흐르고 변화하는 </a:t>
            </a:r>
            <a:r>
              <a:rPr lang="en-US" altLang="ko-KR" sz="1200" kern="1200">
                <a:solidFill>
                  <a:schemeClr val="tx1"/>
                </a:solidFill>
                <a:effectLst/>
                <a:latin typeface="+mn-lt"/>
                <a:ea typeface="+mn-ea"/>
                <a:cs typeface="+mn-cs"/>
              </a:rPr>
              <a:t>'</a:t>
            </a:r>
            <a:r>
              <a:rPr lang="ko-KR" altLang="en-US" sz="1200" kern="1200">
                <a:solidFill>
                  <a:schemeClr val="tx1"/>
                </a:solidFill>
                <a:effectLst/>
                <a:latin typeface="+mn-lt"/>
                <a:ea typeface="+mn-ea"/>
                <a:cs typeface="+mn-cs"/>
              </a:rPr>
              <a:t>시간</a:t>
            </a:r>
            <a:r>
              <a:rPr lang="en-US" altLang="ko-KR" sz="1200" kern="1200">
                <a:solidFill>
                  <a:schemeClr val="tx1"/>
                </a:solidFill>
                <a:effectLst/>
                <a:latin typeface="+mn-lt"/>
                <a:ea typeface="+mn-ea"/>
                <a:cs typeface="+mn-cs"/>
              </a:rPr>
              <a:t>' </a:t>
            </a:r>
            <a:r>
              <a:rPr lang="ko-KR" altLang="en-US" sz="1200" kern="1200">
                <a:solidFill>
                  <a:schemeClr val="tx1"/>
                </a:solidFill>
                <a:effectLst/>
                <a:latin typeface="+mn-lt"/>
                <a:ea typeface="+mn-ea"/>
                <a:cs typeface="+mn-cs"/>
              </a:rPr>
              <a:t>데이터가 반드시 필요합니다</a:t>
            </a:r>
            <a:r>
              <a:rPr lang="en-US" altLang="ko-KR" sz="1200" kern="1200">
                <a:solidFill>
                  <a:schemeClr val="tx1"/>
                </a:solidFill>
                <a:effectLst/>
                <a:latin typeface="+mn-lt"/>
                <a:ea typeface="+mn-ea"/>
                <a:cs typeface="+mn-cs"/>
              </a:rPr>
              <a:t>. </a:t>
            </a:r>
          </a:p>
          <a:p>
            <a:pPr rtl="0"/>
            <a:r>
              <a:rPr lang="en-US" altLang="ko-KR" sz="1200" kern="1200">
                <a:solidFill>
                  <a:schemeClr val="tx1"/>
                </a:solidFill>
                <a:effectLst/>
                <a:latin typeface="+mn-lt"/>
                <a:ea typeface="+mn-ea"/>
                <a:cs typeface="+mn-cs"/>
              </a:rPr>
              <a:t>'Get Game Time in Seconds’ </a:t>
            </a:r>
            <a:r>
              <a:rPr lang="ko-KR" altLang="en-US" sz="1200" kern="1200">
                <a:solidFill>
                  <a:schemeClr val="tx1"/>
                </a:solidFill>
                <a:effectLst/>
                <a:latin typeface="+mn-lt"/>
                <a:ea typeface="+mn-ea"/>
                <a:cs typeface="+mn-cs"/>
              </a:rPr>
              <a:t>함수는 게임이 시작된 후 흘러간 시간을 초 단위로 실시간 제공해 주므로</a:t>
            </a:r>
            <a:r>
              <a:rPr lang="en-US" altLang="ko-KR" sz="1200" kern="1200">
                <a:solidFill>
                  <a:schemeClr val="tx1"/>
                </a:solidFill>
                <a:effectLst/>
                <a:latin typeface="+mn-lt"/>
                <a:ea typeface="+mn-ea"/>
                <a:cs typeface="+mn-cs"/>
              </a:rPr>
              <a:t>, </a:t>
            </a:r>
            <a:r>
              <a:rPr lang="ko-KR" altLang="en-US" sz="1200" kern="1200">
                <a:solidFill>
                  <a:schemeClr val="tx1"/>
                </a:solidFill>
                <a:effectLst/>
                <a:latin typeface="+mn-lt"/>
                <a:ea typeface="+mn-ea"/>
                <a:cs typeface="+mn-cs"/>
              </a:rPr>
              <a:t>그림과 같이 이를 사인 함수의 시간 입력값으로 연결하면 됩니다</a:t>
            </a:r>
            <a:r>
              <a:rPr lang="en-US" altLang="ko-KR" sz="1200" kern="1200">
                <a:solidFill>
                  <a:schemeClr val="tx1"/>
                </a:solidFill>
                <a:effectLst/>
                <a:latin typeface="+mn-lt"/>
                <a:ea typeface="+mn-ea"/>
                <a:cs typeface="+mn-cs"/>
              </a:rPr>
              <a:t>. </a:t>
            </a:r>
            <a:endParaRPr lang="ko-KR" altLang="en-US"/>
          </a:p>
        </p:txBody>
      </p:sp>
      <p:sp>
        <p:nvSpPr>
          <p:cNvPr id="4" name="슬라이드 번호 개체 틀 3"/>
          <p:cNvSpPr>
            <a:spLocks noGrp="1"/>
          </p:cNvSpPr>
          <p:nvPr>
            <p:ph type="sldNum" sz="quarter" idx="5"/>
          </p:nvPr>
        </p:nvSpPr>
        <p:spPr/>
        <p:txBody>
          <a:bodyPr/>
          <a:lstStyle/>
          <a:p>
            <a:fld id="{AE58B9CC-458F-4497-8737-CAF2F390B8C0}" type="slidenum">
              <a:rPr lang="ko-KR" altLang="en-US" smtClean="0"/>
              <a:t>22</a:t>
            </a:fld>
            <a:endParaRPr lang="ko-KR" altLang="en-US"/>
          </a:p>
        </p:txBody>
      </p:sp>
    </p:spTree>
    <p:extLst>
      <p:ext uri="{BB962C8B-B14F-4D97-AF65-F5344CB8AC3E}">
        <p14:creationId xmlns:p14="http://schemas.microsoft.com/office/powerpoint/2010/main" val="47892510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Step 1. 클래스 디폴트를 클릭해 블루프린트 자체의 Mobility 기본값도 Movable로 변경하고 컴파일한다.</a:t>
            </a:r>
          </a:p>
          <a:p>
            <a:r>
              <a:t>Step 2. 완성된 BP_GoldTrophy 클래스를 콘텐츠 브라우저에서 드래그해 레벨에 추가로 배치해 본다.</a:t>
            </a:r>
          </a:p>
          <a:p>
            <a:r>
              <a:t>Step 3. Sin 값에 곱했던 50이라는 숫자를 클릭한 채 드래그해 Promote to Variable을 선택한다.</a:t>
            </a:r>
          </a:p>
          <a:p>
            <a:r>
              <a:t>Step 4. 자동으로 만들어진 변수 이름을 Amplitude(진폭)로 바꾸고 컴파일한다.</a:t>
            </a:r>
          </a:p>
          <a:p>
            <a:r>
              <a:t>Step 5. 변수 이름 옆의 눈 모양 아이콘을 클릭해 Instance Editable(인스턴스 에디터블)로 설정한다.</a:t>
            </a:r>
          </a:p>
          <a:p>
            <a:r>
              <a:t>Step 6. 저장 후 레벨로 돌아가 배치된 트로피를 선택하고 디테일 패널에서 Amplitude 값을 확인한다.</a:t>
            </a:r>
          </a:p>
          <a:p>
            <a:r>
              <a:t>Step 7. 트로피마다 Amplitude 값을 10, 50, 100 등으로 다르게 입력해 서로 다른 진폭을 만든다.</a:t>
            </a:r>
          </a:p>
          <a:p>
            <a:r>
              <a:t>Step 8. Multiply 노드에서 마우스 오른쪽 버튼을 눌러 Add Pin으로 입력 핀을 하나 추가하고 값을 1로 둔다.</a:t>
            </a:r>
          </a:p>
          <a:p>
            <a:r>
              <a:t>Step 9. 이 핀 값을 드래그해 Promote to Variable을 선택하고 이름을 Frequency(주파수)로 바꾼다.</a:t>
            </a:r>
          </a:p>
          <a:p>
            <a:r>
              <a:t>Step 10. Frequency 변수도 눈 아이콘을 눌러 Instance Editable로 설정하고 컴파일, 저장한다.</a:t>
            </a:r>
          </a:p>
          <a:p>
            <a:r>
              <a:t>Step 11. 레벨에서 트로피마다 Frequency 값을 1, 5, 10 등으로 다르게 입력한다.</a:t>
            </a:r>
          </a:p>
          <a:p>
            <a:r>
              <a:t>Step 12. 플레이해서 각 트로피가 서로 다른 진폭과 속도로 출렁이는지 확인한다.</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2차시에서는 게임 월드에서 발생하는 사건을 감지해 처리하는 이벤트 드리븐 프로그래밍 방식을 학습하고, 이를 이용해 플레이어가 트로피에 다가갔을 때 폭파 효과와 사운드가 함께 재생되며 아이템을 획득하는 연출을 직접 구현합니다. 이어서 여러 액터로 구성된 구조물을 팩트 레벨 액터와 레벨 인스턴스로 그룹화해, 넓은 레벨을 빠르고 효율적으로 확장하는 방법을 실습합니다.</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ko-KR" altLang="en-US"/>
              <a:t>게임 세계에서 발생하는 수많은 상황을 매 프레임마다 일일이 검사한다면 시스템에 얼마나 큰 부하가 걸릴까요</a:t>
            </a:r>
            <a:r>
              <a:rPr lang="en-US" altLang="ko-KR"/>
              <a:t>? </a:t>
            </a:r>
            <a:r>
              <a:rPr lang="ko-KR" altLang="en-US"/>
              <a:t>이러한 비효율을 해결하기 위해 언리얼 엔진이 채택한 핵심 기법이 바로 </a:t>
            </a:r>
            <a:r>
              <a:rPr lang="en-US" altLang="ko-KR"/>
              <a:t>'</a:t>
            </a:r>
            <a:r>
              <a:rPr lang="ko-KR" altLang="en-US"/>
              <a:t>이벤트 기반 프로그래밍</a:t>
            </a:r>
            <a:r>
              <a:rPr lang="en-US" altLang="ko-KR"/>
              <a:t>'</a:t>
            </a:r>
            <a:r>
              <a:rPr lang="ko-KR" altLang="en-US"/>
              <a:t>입니다</a:t>
            </a:r>
            <a:r>
              <a:rPr lang="en-US" altLang="ko-KR"/>
              <a:t>. </a:t>
            </a:r>
          </a:p>
          <a:p>
            <a:r>
              <a:rPr lang="ko-KR" altLang="en-US"/>
              <a:t>이 방식은 게임 월드 안에서 일어나는 모든 사건을 엔진이 조용히 관찰하고 있다가</a:t>
            </a:r>
            <a:r>
              <a:rPr lang="en-US" altLang="ko-KR"/>
              <a:t>, </a:t>
            </a:r>
            <a:r>
              <a:rPr lang="ko-KR" altLang="en-US"/>
              <a:t>특정한 사건이 발생했을 때 그 사건과 관련된 액터들에게만 즉시 알려주는 매우 스마트한 시스템입니다</a:t>
            </a:r>
            <a:r>
              <a:rPr lang="en-US" altLang="ko-KR"/>
              <a:t>.</a:t>
            </a:r>
          </a:p>
          <a:p>
            <a:r>
              <a:rPr lang="ko-KR" altLang="en-US"/>
              <a:t>예를 들어</a:t>
            </a:r>
            <a:r>
              <a:rPr lang="en-US" altLang="ko-KR"/>
              <a:t>, </a:t>
            </a:r>
            <a:r>
              <a:rPr lang="ko-KR" altLang="en-US"/>
              <a:t>플레이어가 필드에 놓인 트로피에 부딪히는 상황을 상상해 보겠습니다</a:t>
            </a:r>
            <a:r>
              <a:rPr lang="en-US" altLang="ko-KR"/>
              <a:t>. </a:t>
            </a:r>
            <a:r>
              <a:rPr lang="ko-KR" altLang="en-US"/>
              <a:t>두 물체 사이에 충돌 이벤트가 발생하면</a:t>
            </a:r>
            <a:r>
              <a:rPr lang="en-US" altLang="ko-KR"/>
              <a:t>, </a:t>
            </a:r>
            <a:r>
              <a:rPr lang="ko-KR" altLang="en-US"/>
              <a:t>엔진은 이를 즉각적으로 감지하여 플레이어와 트로피 양쪽 모두에게 충돌했다는 유용한 정보를 전달합니다</a:t>
            </a:r>
            <a:r>
              <a:rPr lang="en-US" altLang="ko-KR"/>
              <a:t>. </a:t>
            </a:r>
            <a:r>
              <a:rPr lang="ko-KR" altLang="en-US"/>
              <a:t>이렇게 이벤트를 전달받은 액터는 자신에게 설정된 다음 동작을 이어서 진행하면 되는데</a:t>
            </a:r>
            <a:r>
              <a:rPr lang="en-US" altLang="ko-KR"/>
              <a:t>, </a:t>
            </a:r>
            <a:r>
              <a:rPr lang="ko-KR" altLang="en-US"/>
              <a:t>이때 로직이 시작되는 진입점 역할을 하는 것이 바로 </a:t>
            </a:r>
            <a:r>
              <a:rPr lang="en-US" altLang="ko-KR"/>
              <a:t>'</a:t>
            </a:r>
            <a:r>
              <a:rPr lang="ko-KR" altLang="en-US"/>
              <a:t>이벤트 노드</a:t>
            </a:r>
            <a:r>
              <a:rPr lang="en-US" altLang="ko-KR"/>
              <a:t>'</a:t>
            </a:r>
            <a:r>
              <a:rPr lang="ko-KR" altLang="en-US"/>
              <a:t>입니다</a:t>
            </a:r>
            <a:r>
              <a:rPr lang="en-US" altLang="ko-KR"/>
              <a:t>.</a:t>
            </a:r>
          </a:p>
          <a:p>
            <a:r>
              <a:rPr lang="ko-KR" altLang="en-US"/>
              <a:t>덕분에 개발자는 매 순간 조건을 검사하는 복잡한 코드를 직접 작성할 필요 없이</a:t>
            </a:r>
            <a:r>
              <a:rPr lang="en-US" altLang="ko-KR"/>
              <a:t>, </a:t>
            </a:r>
            <a:r>
              <a:rPr lang="ko-KR" altLang="en-US"/>
              <a:t>이벤트 노드를 찾아 그에 이어지는 로직만 연결해 주면 됩니다</a:t>
            </a:r>
            <a:r>
              <a:rPr lang="en-US" altLang="ko-KR"/>
              <a:t>. </a:t>
            </a:r>
            <a:r>
              <a:rPr lang="ko-KR" altLang="en-US"/>
              <a:t>결과적으로 훨씬 직관적이고 효율적으로 게임 로직을 구성할 수 있게 됩니다</a:t>
            </a:r>
            <a:r>
              <a:rPr lang="en-US" altLang="ko-KR"/>
              <a:t>.</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ko-KR" altLang="en-US"/>
              <a:t>액터 간의 충돌을 감지할 때는 </a:t>
            </a:r>
            <a:r>
              <a:rPr lang="en-US" altLang="ko-KR" b="1"/>
              <a:t>'</a:t>
            </a:r>
            <a:r>
              <a:rPr lang="ko-KR" altLang="en-US" b="1"/>
              <a:t>히트</a:t>
            </a:r>
            <a:r>
              <a:rPr lang="en-US" altLang="ko-KR" b="1"/>
              <a:t>(Hit)'</a:t>
            </a:r>
            <a:r>
              <a:rPr lang="ko-KR" altLang="en-US"/>
              <a:t> 이벤트 노드를 활용합니다</a:t>
            </a:r>
            <a:r>
              <a:rPr lang="en-US" altLang="ko-KR"/>
              <a:t>. </a:t>
            </a:r>
          </a:p>
          <a:p>
            <a:r>
              <a:rPr lang="ko-KR" altLang="en-US"/>
              <a:t>대표적으로 </a:t>
            </a:r>
            <a:r>
              <a:rPr lang="en-US" altLang="ko-KR"/>
              <a:t>'On Component Hit'</a:t>
            </a:r>
            <a:r>
              <a:rPr lang="ko-KR" altLang="en-US"/>
              <a:t>는 액터의 스태틱 메시 컴포넌트가 무언가와 부딪혔을 때 자동으로 호출되는 노드로</a:t>
            </a:r>
            <a:r>
              <a:rPr lang="en-US" altLang="ko-KR"/>
              <a:t>, </a:t>
            </a:r>
            <a:r>
              <a:rPr lang="ko-KR" altLang="en-US"/>
              <a:t>발동 이후 원하는 처리 로직을 자유롭게 이어서 연결할 수 있습니다</a:t>
            </a:r>
            <a:r>
              <a:rPr lang="en-US" altLang="ko-KR"/>
              <a:t>.</a:t>
            </a:r>
          </a:p>
          <a:p>
            <a:r>
              <a:rPr lang="ko-KR" altLang="en-US"/>
              <a:t>언리얼 엔진은 이런 물리적 충돌 외에도 오버랩</a:t>
            </a:r>
            <a:r>
              <a:rPr lang="en-US" altLang="ko-KR"/>
              <a:t>, </a:t>
            </a:r>
            <a:r>
              <a:rPr lang="ko-KR" altLang="en-US"/>
              <a:t>피격 등 상황별로 다양하게 세분화된 이벤트 노드들을 제공합니다</a:t>
            </a:r>
            <a:r>
              <a:rPr lang="en-US" altLang="ko-KR"/>
              <a:t>. </a:t>
            </a:r>
            <a:r>
              <a:rPr lang="ko-KR" altLang="en-US"/>
              <a:t>우리가 어떤 노드를 사용하느냐에 따라 이벤트를 감지하는 타이밍은 물론</a:t>
            </a:r>
            <a:r>
              <a:rPr lang="en-US" altLang="ko-KR"/>
              <a:t>, </a:t>
            </a:r>
            <a:r>
              <a:rPr lang="ko-KR" altLang="en-US"/>
              <a:t>부딪힌 상대방이나 정확한 충돌 지점 등 전달받는 데이터의 종류가 달라지게 됩니다</a:t>
            </a:r>
            <a:r>
              <a:rPr lang="en-US" altLang="ko-KR"/>
              <a:t>.</a:t>
            </a:r>
          </a:p>
          <a:p>
            <a:r>
              <a:rPr lang="ko-KR" altLang="en-US"/>
              <a:t>따라서 현재 구현하려는 상황에 가장 적합한 이벤트 노드를 정확히 찾아 선택하는 것이 언리얼 엔진의 이벤트 기반 프로그래밍의 핵심 비결입니다</a:t>
            </a:r>
            <a:r>
              <a:rPr lang="en-US" altLang="ko-KR"/>
              <a: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ko-KR" altLang="en-US"/>
              <a:t>언리얼 엔진은 레벨을 빠르게 제작하기 위한 다양한 기능을 제공하고 있습니다</a:t>
            </a:r>
            <a:r>
              <a:rPr lang="en-US" altLang="ko-KR"/>
              <a:t>. </a:t>
            </a:r>
            <a:r>
              <a:rPr lang="ko-KR" altLang="en-US"/>
              <a:t>먼저 레벨 인스턴스를 살펴보죠</a:t>
            </a:r>
            <a:r>
              <a:rPr lang="en-US" altLang="ko-KR"/>
              <a:t>.</a:t>
            </a:r>
            <a:br>
              <a:rPr lang="en-US" altLang="ko-KR"/>
            </a:br>
            <a:br>
              <a:rPr lang="en-US" altLang="ko-KR"/>
            </a:br>
            <a:r>
              <a:rPr lang="ko-KR" altLang="en-US"/>
              <a:t>거대하고 디테일한 게임 월드를 만들다 보면</a:t>
            </a:r>
            <a:r>
              <a:rPr lang="en-US" altLang="ko-KR"/>
              <a:t>, </a:t>
            </a:r>
            <a:r>
              <a:rPr lang="ko-KR" altLang="en-US"/>
              <a:t>여러 개의 애셋이 조합된 오브젝트 세트를 곳곳에 반복해서 배치해야 하는 상황을 마주합니다</a:t>
            </a:r>
            <a:r>
              <a:rPr lang="en-US" altLang="ko-KR"/>
              <a:t>. </a:t>
            </a:r>
            <a:r>
              <a:rPr lang="ko-KR" altLang="en-US"/>
              <a:t>매번 똑같은 세트를 일일이 복사하고 관리하는 비효율을 해결하기 위한 기능이 바로 </a:t>
            </a:r>
            <a:r>
              <a:rPr lang="en-US" altLang="ko-KR"/>
              <a:t>'</a:t>
            </a:r>
            <a:r>
              <a:rPr lang="ko-KR" altLang="en-US"/>
              <a:t>레벨 인스턴스</a:t>
            </a:r>
            <a:r>
              <a:rPr lang="en-US" altLang="ko-KR"/>
              <a:t>(Level Instance)'</a:t>
            </a:r>
            <a:r>
              <a:rPr lang="ko-KR" altLang="en-US"/>
              <a:t>입니다</a:t>
            </a:r>
            <a:r>
              <a:rPr lang="en-US" altLang="ko-KR"/>
              <a:t>.</a:t>
            </a:r>
          </a:p>
          <a:p>
            <a:r>
              <a:rPr lang="ko-KR" altLang="en-US"/>
              <a:t>이 방식은 다른 레벨</a:t>
            </a:r>
            <a:r>
              <a:rPr lang="en-US" altLang="ko-KR"/>
              <a:t>(</a:t>
            </a:r>
            <a:r>
              <a:rPr lang="ko-KR" altLang="en-US"/>
              <a:t>맵</a:t>
            </a:r>
            <a:r>
              <a:rPr lang="en-US" altLang="ko-KR"/>
              <a:t>)</a:t>
            </a:r>
            <a:r>
              <a:rPr lang="ko-KR" altLang="en-US"/>
              <a:t>에 미리 만들어둔 오브젝트 모음을 통째로 하나의 세트 상자처럼 가져와 배치하는 기능입니다</a:t>
            </a:r>
            <a:r>
              <a:rPr lang="en-US" altLang="ko-KR"/>
              <a:t>. </a:t>
            </a:r>
            <a:r>
              <a:rPr lang="ko-KR" altLang="en-US"/>
              <a:t>단순한 모델링뿐만 아니라 조명</a:t>
            </a:r>
            <a:r>
              <a:rPr lang="en-US" altLang="ko-KR"/>
              <a:t>, </a:t>
            </a:r>
            <a:r>
              <a:rPr lang="ko-KR" altLang="en-US"/>
              <a:t>화려한 이펙트</a:t>
            </a:r>
            <a:r>
              <a:rPr lang="en-US" altLang="ko-KR"/>
              <a:t>, </a:t>
            </a:r>
            <a:r>
              <a:rPr lang="ko-KR" altLang="en-US"/>
              <a:t>캐릭터</a:t>
            </a:r>
            <a:r>
              <a:rPr lang="en-US" altLang="ko-KR"/>
              <a:t>, </a:t>
            </a:r>
            <a:r>
              <a:rPr lang="ko-KR" altLang="en-US"/>
              <a:t>그리고 블루프린트 기능까지 </a:t>
            </a:r>
            <a:r>
              <a:rPr lang="ko-KR" altLang="en-US" b="1"/>
              <a:t>레벨에 들어가는 요소라면 무엇이든 다 담아낼 수 있습니다</a:t>
            </a:r>
            <a:r>
              <a:rPr lang="en-US" altLang="ko-KR" b="1"/>
              <a:t>.</a:t>
            </a:r>
            <a:endParaRPr lang="ko-KR" altLang="en-US"/>
          </a:p>
          <a:p>
            <a:r>
              <a:rPr lang="ko-KR" altLang="en-US"/>
              <a:t>예를 들어</a:t>
            </a:r>
            <a:r>
              <a:rPr lang="en-US" altLang="ko-KR"/>
              <a:t>, </a:t>
            </a:r>
            <a:r>
              <a:rPr lang="ko-KR" altLang="en-US"/>
              <a:t>정교하게 꾸민 </a:t>
            </a:r>
            <a:r>
              <a:rPr lang="en-US" altLang="ko-KR"/>
              <a:t>'</a:t>
            </a:r>
            <a:r>
              <a:rPr lang="ko-KR" altLang="en-US"/>
              <a:t>길거리 카페 테라스 세트</a:t>
            </a:r>
            <a:r>
              <a:rPr lang="en-US" altLang="ko-KR"/>
              <a:t>'</a:t>
            </a:r>
            <a:r>
              <a:rPr lang="ko-KR" altLang="en-US"/>
              <a:t>를 상상해 보겠습니다</a:t>
            </a:r>
            <a:r>
              <a:rPr lang="en-US" altLang="ko-KR"/>
              <a:t>. </a:t>
            </a:r>
            <a:r>
              <a:rPr lang="ko-KR" altLang="en-US"/>
              <a:t>개발자는 이 세트를 별도 레벨에 딱 한 번만 만들어두면 됩니다</a:t>
            </a:r>
            <a:r>
              <a:rPr lang="en-US" altLang="ko-KR"/>
              <a:t>. </a:t>
            </a:r>
            <a:r>
              <a:rPr lang="ko-KR" altLang="en-US"/>
              <a:t>이후 메인 월드 곳곳에 배치한 뒤</a:t>
            </a:r>
            <a:r>
              <a:rPr lang="en-US" altLang="ko-KR"/>
              <a:t>, </a:t>
            </a:r>
            <a:r>
              <a:rPr lang="ko-KR" altLang="en-US"/>
              <a:t>만약 </a:t>
            </a:r>
            <a:r>
              <a:rPr lang="en-US" altLang="ko-KR"/>
              <a:t>"</a:t>
            </a:r>
            <a:r>
              <a:rPr lang="ko-KR" altLang="en-US"/>
              <a:t>의자 색상을 바꾸거나 조명을 수정해야겠다</a:t>
            </a:r>
            <a:r>
              <a:rPr lang="en-US" altLang="ko-KR"/>
              <a:t>"</a:t>
            </a:r>
            <a:r>
              <a:rPr lang="ko-KR" altLang="en-US"/>
              <a:t>라는 상황이 오더라도 걱정할 필요가 없습니다</a:t>
            </a:r>
            <a:r>
              <a:rPr lang="en-US" altLang="ko-KR"/>
              <a:t>. </a:t>
            </a:r>
            <a:r>
              <a:rPr lang="ko-KR" altLang="en-US" b="1"/>
              <a:t>원본 세트 레벨을 한 번만 수정하면</a:t>
            </a:r>
            <a:r>
              <a:rPr lang="en-US" altLang="ko-KR" b="1"/>
              <a:t>, </a:t>
            </a:r>
            <a:r>
              <a:rPr lang="ko-KR" altLang="en-US" b="1"/>
              <a:t>월드에 배치된 모든 복사본에 자동으로 바로 반영</a:t>
            </a:r>
            <a:r>
              <a:rPr lang="ko-KR" altLang="en-US"/>
              <a:t>되기 때문입니다</a:t>
            </a:r>
            <a:r>
              <a:rPr lang="en-US" altLang="ko-KR"/>
              <a:t>.</a:t>
            </a:r>
          </a:p>
          <a:p>
            <a:r>
              <a:rPr lang="ko-KR" altLang="en-US"/>
              <a:t>다만</a:t>
            </a:r>
            <a:r>
              <a:rPr lang="en-US" altLang="ko-KR"/>
              <a:t>, </a:t>
            </a:r>
            <a:r>
              <a:rPr lang="ko-KR" altLang="en-US"/>
              <a:t>한 가지 주의할 점이 있습니다</a:t>
            </a:r>
            <a:r>
              <a:rPr lang="en-US" altLang="ko-KR"/>
              <a:t>. </a:t>
            </a:r>
            <a:r>
              <a:rPr lang="ko-KR" altLang="en-US"/>
              <a:t>레벨 인스턴스는 개발자의 </a:t>
            </a:r>
            <a:r>
              <a:rPr lang="en-US" altLang="ko-KR"/>
              <a:t>'</a:t>
            </a:r>
            <a:r>
              <a:rPr lang="ko-KR" altLang="en-US"/>
              <a:t>작업 편의성</a:t>
            </a:r>
            <a:r>
              <a:rPr lang="en-US" altLang="ko-KR"/>
              <a:t>'</a:t>
            </a:r>
            <a:r>
              <a:rPr lang="ko-KR" altLang="en-US"/>
              <a:t>과 </a:t>
            </a:r>
            <a:r>
              <a:rPr lang="en-US" altLang="ko-KR"/>
              <a:t>'</a:t>
            </a:r>
            <a:r>
              <a:rPr lang="ko-KR" altLang="en-US"/>
              <a:t>유지보수</a:t>
            </a:r>
            <a:r>
              <a:rPr lang="en-US" altLang="ko-KR"/>
              <a:t>'</a:t>
            </a:r>
            <a:r>
              <a:rPr lang="ko-KR" altLang="en-US"/>
              <a:t>를 위한 기능이지</a:t>
            </a:r>
            <a:r>
              <a:rPr lang="en-US" altLang="ko-KR"/>
              <a:t>, '</a:t>
            </a:r>
            <a:r>
              <a:rPr lang="ko-KR" altLang="en-US"/>
              <a:t>최적화</a:t>
            </a:r>
            <a:r>
              <a:rPr lang="en-US" altLang="ko-KR"/>
              <a:t>' </a:t>
            </a:r>
            <a:r>
              <a:rPr lang="ko-KR" altLang="en-US"/>
              <a:t>툴은 아닙니다</a:t>
            </a:r>
            <a:r>
              <a:rPr lang="en-US" altLang="ko-KR"/>
              <a:t>. </a:t>
            </a:r>
            <a:r>
              <a:rPr lang="ko-KR" altLang="en-US"/>
              <a:t>겉보기에는 하나의 덩어리 같지만</a:t>
            </a:r>
            <a:r>
              <a:rPr lang="en-US" altLang="ko-KR"/>
              <a:t>, </a:t>
            </a:r>
            <a:r>
              <a:rPr lang="ko-KR" altLang="en-US"/>
              <a:t>엔진 내부에서는 그 안의 오브젝트들이 각각 그대로 존재하며 개별 연산 됩니다</a:t>
            </a:r>
            <a:r>
              <a:rPr lang="en-US" altLang="ko-KR"/>
              <a:t>. </a:t>
            </a:r>
            <a:r>
              <a:rPr lang="ko-KR" altLang="en-US"/>
              <a:t>따라서 데이터 자체가 압축되는 것은 아니므로 </a:t>
            </a:r>
            <a:r>
              <a:rPr lang="ko-KR" altLang="en-US" b="1"/>
              <a:t>성능상의 이득은 없다</a:t>
            </a:r>
            <a:r>
              <a:rPr lang="ko-KR" altLang="en-US"/>
              <a:t>는 점을 기억해야 합니다</a:t>
            </a:r>
            <a:r>
              <a:rPr lang="en-US" altLang="ko-KR"/>
              <a:t>.</a:t>
            </a:r>
            <a:endParaRPr lang="ko-KR" altLang="en-US"/>
          </a:p>
        </p:txBody>
      </p:sp>
      <p:sp>
        <p:nvSpPr>
          <p:cNvPr id="4" name="슬라이드 번호 개체 틀 3"/>
          <p:cNvSpPr>
            <a:spLocks noGrp="1"/>
          </p:cNvSpPr>
          <p:nvPr>
            <p:ph type="sldNum" sz="quarter" idx="5"/>
          </p:nvPr>
        </p:nvSpPr>
        <p:spPr/>
        <p:txBody>
          <a:bodyPr/>
          <a:lstStyle/>
          <a:p>
            <a:fld id="{AE58B9CC-458F-4497-8737-CAF2F390B8C0}" type="slidenum">
              <a:rPr lang="ko-KR" altLang="en-US" smtClean="0"/>
              <a:t>29</a:t>
            </a:fld>
            <a:endParaRPr lang="ko-KR" altLang="en-US"/>
          </a:p>
        </p:txBody>
      </p:sp>
    </p:spTree>
    <p:extLst>
      <p:ext uri="{BB962C8B-B14F-4D97-AF65-F5344CB8AC3E}">
        <p14:creationId xmlns:p14="http://schemas.microsoft.com/office/powerpoint/2010/main" val="279100628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ko-KR" altLang="en-US"/>
              <a:t>다음으로 팩형 레벨 액터에 대해서 알아봅시다</a:t>
            </a:r>
            <a:r>
              <a:rPr lang="en-US" altLang="ko-KR"/>
              <a:t>.</a:t>
            </a:r>
            <a:br>
              <a:rPr lang="en-US" altLang="ko-KR"/>
            </a:br>
            <a:r>
              <a:rPr lang="ko-KR" altLang="en-US"/>
              <a:t>광활한 맵에 수백 개의 나무나 건물을 무작정 배치하면 게임이 버벅거리게 됩니다</a:t>
            </a:r>
            <a:r>
              <a:rPr lang="en-US" altLang="ko-KR"/>
              <a:t>. </a:t>
            </a:r>
            <a:r>
              <a:rPr lang="ko-KR" altLang="en-US"/>
              <a:t>이러한 렌더링 부담을 극복하고 성능을 높일 수 있는 방법이 바로 </a:t>
            </a:r>
            <a:r>
              <a:rPr lang="en-US" altLang="ko-KR"/>
              <a:t>'</a:t>
            </a:r>
            <a:r>
              <a:rPr lang="ko-KR" altLang="en-US"/>
              <a:t>팩형 레벨 액터</a:t>
            </a:r>
            <a:r>
              <a:rPr lang="en-US" altLang="ko-KR"/>
              <a:t>'</a:t>
            </a:r>
            <a:r>
              <a:rPr lang="ko-KR" altLang="en-US"/>
              <a:t>입니다</a:t>
            </a:r>
            <a:r>
              <a:rPr lang="en-US" altLang="ko-KR"/>
              <a:t>.</a:t>
            </a:r>
          </a:p>
          <a:p>
            <a:r>
              <a:rPr lang="ko-KR" altLang="en-US"/>
              <a:t>이 기능은 반복 배치할 정적 오브젝트들을 하나로 묶어주는 액터입니다</a:t>
            </a:r>
            <a:r>
              <a:rPr lang="en-US" altLang="ko-KR"/>
              <a:t>. </a:t>
            </a:r>
            <a:r>
              <a:rPr lang="ko-KR" altLang="en-US"/>
              <a:t>여러 개를 한 화면에 놓아도 엔진이 </a:t>
            </a:r>
            <a:r>
              <a:rPr lang="ko-KR" altLang="en-US" b="1"/>
              <a:t>하나의 덩어리로 합쳐서 그리기 때문에 렌더링 부담이 줄어들어 성능이 획기적으로 좋아집니다</a:t>
            </a:r>
            <a:r>
              <a:rPr lang="en-US" altLang="ko-KR" b="1"/>
              <a:t>.</a:t>
            </a:r>
            <a:r>
              <a:rPr lang="ko-KR" altLang="en-US"/>
              <a:t> 똑같은 에셋을 수백 개씩 깔아야 할 때 특히 유리하죠</a:t>
            </a:r>
            <a:r>
              <a:rPr lang="en-US" altLang="ko-KR"/>
              <a:t>.</a:t>
            </a:r>
          </a:p>
          <a:p>
            <a:r>
              <a:rPr lang="ko-KR" altLang="en-US"/>
              <a:t>대신 성능 이득을 얻는 만큼 제약도 확실합니다</a:t>
            </a:r>
            <a:r>
              <a:rPr lang="en-US" altLang="ko-KR"/>
              <a:t>. </a:t>
            </a:r>
            <a:r>
              <a:rPr lang="ko-KR" altLang="en-US"/>
              <a:t>조명</a:t>
            </a:r>
            <a:r>
              <a:rPr lang="en-US" altLang="ko-KR"/>
              <a:t>, </a:t>
            </a:r>
            <a:r>
              <a:rPr lang="ko-KR" altLang="en-US"/>
              <a:t>이펙트</a:t>
            </a:r>
            <a:r>
              <a:rPr lang="en-US" altLang="ko-KR"/>
              <a:t>, </a:t>
            </a:r>
            <a:r>
              <a:rPr lang="ko-KR" altLang="en-US"/>
              <a:t>캐릭터</a:t>
            </a:r>
            <a:r>
              <a:rPr lang="en-US" altLang="ko-KR"/>
              <a:t>, </a:t>
            </a:r>
            <a:r>
              <a:rPr lang="ko-KR" altLang="en-US"/>
              <a:t>블루프린트 기능 등은 담을 수 없으며 </a:t>
            </a:r>
            <a:r>
              <a:rPr lang="ko-KR" altLang="en-US" b="1"/>
              <a:t>오직 스태틱 메시만 담을 수 있습니다</a:t>
            </a:r>
            <a:r>
              <a:rPr lang="en-US" altLang="ko-KR" b="1"/>
              <a:t>.</a:t>
            </a:r>
            <a:r>
              <a:rPr lang="ko-KR" altLang="en-US"/>
              <a:t> 또한 원본을 고쳐도 자동으로 바뀌지 않고</a:t>
            </a:r>
            <a:r>
              <a:rPr lang="en-US" altLang="ko-KR"/>
              <a:t>, </a:t>
            </a:r>
            <a:r>
              <a:rPr lang="ko-KR" altLang="en-US"/>
              <a:t>개발자가 </a:t>
            </a:r>
            <a:r>
              <a:rPr lang="ko-KR" altLang="en-US" b="1"/>
              <a:t>직접 </a:t>
            </a:r>
            <a:r>
              <a:rPr lang="en-US" altLang="ko-KR" b="1"/>
              <a:t>"</a:t>
            </a:r>
            <a:r>
              <a:rPr lang="ko-KR" altLang="en-US" b="1"/>
              <a:t>다시 패킹</a:t>
            </a:r>
            <a:r>
              <a:rPr lang="en-US" altLang="ko-KR" b="1"/>
              <a:t>(Repack)"</a:t>
            </a:r>
            <a:r>
              <a:rPr lang="ko-KR" altLang="en-US" b="1"/>
              <a:t>을 눌러줘야 비로소 월드에 반영</a:t>
            </a:r>
            <a:r>
              <a:rPr lang="ko-KR" altLang="en-US"/>
              <a:t>됩니다</a:t>
            </a:r>
            <a:r>
              <a:rPr lang="en-US" altLang="ko-KR"/>
              <a:t>. </a:t>
            </a:r>
            <a:r>
              <a:rPr lang="ko-KR" altLang="en-US"/>
              <a:t>최적화를 위해 데이터를 미리 구워두기 때문입니다</a:t>
            </a:r>
            <a:r>
              <a:rPr lang="en-US" altLang="ko-KR"/>
              <a:t>.</a:t>
            </a:r>
          </a:p>
          <a:p>
            <a:r>
              <a:rPr lang="ko-KR" altLang="en-US"/>
              <a:t>결과적으로 팩형 레벨 액터는 동적인 기능은 제한되더라도</a:t>
            </a:r>
            <a:r>
              <a:rPr lang="en-US" altLang="ko-KR"/>
              <a:t>, </a:t>
            </a:r>
            <a:r>
              <a:rPr lang="ko-KR" altLang="en-US"/>
              <a:t>대규모 배경 제작 시 안정적인 프레임을 확보하기 위해 반드시 사용해야 하는 필수 최적화 기술입니다</a:t>
            </a:r>
            <a:r>
              <a:rPr lang="en-US" altLang="ko-KR"/>
              <a:t>.</a:t>
            </a:r>
          </a:p>
          <a:p>
            <a:endParaRPr lang="ko-KR" altLang="en-US"/>
          </a:p>
        </p:txBody>
      </p:sp>
      <p:sp>
        <p:nvSpPr>
          <p:cNvPr id="4" name="슬라이드 번호 개체 틀 3"/>
          <p:cNvSpPr>
            <a:spLocks noGrp="1"/>
          </p:cNvSpPr>
          <p:nvPr>
            <p:ph type="sldNum" sz="quarter" idx="5"/>
          </p:nvPr>
        </p:nvSpPr>
        <p:spPr/>
        <p:txBody>
          <a:bodyPr/>
          <a:lstStyle/>
          <a:p>
            <a:fld id="{AE58B9CC-458F-4497-8737-CAF2F390B8C0}" type="slidenum">
              <a:rPr lang="ko-KR" altLang="en-US" smtClean="0"/>
              <a:t>30</a:t>
            </a:fld>
            <a:endParaRPr lang="ko-KR" altLang="en-US"/>
          </a:p>
        </p:txBody>
      </p:sp>
    </p:spTree>
    <p:extLst>
      <p:ext uri="{BB962C8B-B14F-4D97-AF65-F5344CB8AC3E}">
        <p14:creationId xmlns:p14="http://schemas.microsoft.com/office/powerpoint/2010/main" val="83245762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Step 1. BP_GoldTrophy 블루프린트로 이동한다.</a:t>
            </a:r>
          </a:p>
          <a:p>
            <a:r>
              <a:t>Step 2. 컴포넌트 패널에서 Static Mesh Component를 선택한다.</a:t>
            </a:r>
          </a:p>
          <a:p>
            <a:r>
              <a:t>Step 3. 컴포넌트 위에 마우스를 올려 Add Event 항목에서 On Component Hit를 찾아 클릭한다.</a:t>
            </a:r>
          </a:p>
          <a:p>
            <a:r>
              <a:t>Step 4. 이벤트 그래프에 On Component Hit 노드가 추가된 것을 확인한다.</a:t>
            </a:r>
          </a:p>
          <a:p>
            <a:r>
              <a:t>Step 5. 빈 공간에서 마우스 오른쪽 버튼을 눌러 DestroyActor를 검색해 추가한다.</a:t>
            </a:r>
          </a:p>
          <a:p>
            <a:r>
              <a:t>Step 6. On Component Hit의 실행 핀을 DestroyActor의 실행 핀에 연결하고 플레이해 트로피가 사라지는지 확인한다.</a:t>
            </a:r>
          </a:p>
          <a:p>
            <a:r>
              <a:t>Step 7. 빈 공간에서 SpawnEmitterAtLocation을 검색해 추가한다.</a:t>
            </a:r>
          </a:p>
          <a:p>
            <a:r>
              <a:t>Step 8. 이펙트 템플릿 목록에서 폭파(Explosion) 관련 템플릿을 선택한다.</a:t>
            </a:r>
          </a:p>
          <a:p>
            <a:r>
              <a:t>Step 9. GetActorLocation 노드를 추가해 SpawnEmitterAtLocation의 Location 입력에 연결한다.</a:t>
            </a:r>
          </a:p>
          <a:p>
            <a:r>
              <a:t>Step 10. On Component Hit의 실행 핀을 SpawnEmitterAtLocation의 실행 핀에 연결한다.</a:t>
            </a:r>
          </a:p>
          <a:p>
            <a:r>
              <a:t>Step 11. PlaySoundAtLocation을 검색해 추가하고, 폭발 관련 사운드 에셋을 선택한다.</a:t>
            </a:r>
          </a:p>
          <a:p>
            <a:r>
              <a:t>Step 12. GetActorLocation의 결과를 PlaySoundAtLocation의 Location 입력에 연결한다.</a:t>
            </a:r>
          </a:p>
          <a:p>
            <a:r>
              <a:t>Step 13. SpawnEmitterAtLocation의 실행 핀을 PlaySoundAtLocation의 실행 핀에 연결한다.</a:t>
            </a:r>
          </a:p>
          <a:p>
            <a:r>
              <a:t>Step 14. PlaySoundAtLocation의 실행 핀을 DestroyActor의 실행 핀에 연결한다.</a:t>
            </a:r>
          </a:p>
          <a:p>
            <a:r>
              <a:t>Step 15. 컴파일, 저장 후 플레이해서 폭파 효과와 소리가 함께 나며 트로피가 사라지는지 확인한다.</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a:xfrm>
            <a:off x="55202" y="104895"/>
            <a:ext cx="8981294" cy="414343"/>
          </a:xfrm>
          <a:prstGeom prst="rect">
            <a:avLst/>
          </a:prstGeom>
        </p:spPr>
        <p:txBody>
          <a:bodyPr/>
          <a:lstStyle>
            <a:lvl1pPr>
              <a:defRPr sz="2000" b="1" i="0">
                <a:solidFill>
                  <a:schemeClr val="tx1">
                    <a:lumMod val="75000"/>
                    <a:lumOff val="25000"/>
                  </a:schemeClr>
                </a:solidFill>
                <a:latin typeface="나눔스퀘어 ExtraBold" panose="020B0600000101010101" pitchFamily="50" charset="-127"/>
                <a:ea typeface="나눔스퀘어 ExtraBold" panose="020B0600000101010101" pitchFamily="50" charset="-127"/>
              </a:defRPr>
            </a:lvl1pPr>
          </a:lstStyle>
          <a:p>
            <a:r>
              <a:rPr lang="ko-KR" altLang="en-US" dirty="0"/>
              <a:t>마스터 제목 스타일 편집</a:t>
            </a:r>
          </a:p>
        </p:txBody>
      </p:sp>
      <p:sp>
        <p:nvSpPr>
          <p:cNvPr id="3" name="내용 개체 틀 2"/>
          <p:cNvSpPr>
            <a:spLocks noGrp="1"/>
          </p:cNvSpPr>
          <p:nvPr>
            <p:ph idx="1" hasCustomPrompt="1"/>
          </p:nvPr>
        </p:nvSpPr>
        <p:spPr>
          <a:xfrm>
            <a:off x="55202" y="618982"/>
            <a:ext cx="8981294" cy="4275028"/>
          </a:xfrm>
          <a:prstGeom prst="rect">
            <a:avLst/>
          </a:prstGeom>
        </p:spPr>
        <p:txBody>
          <a:bodyPr/>
          <a:lstStyle>
            <a:lvl1pPr marL="124617" indent="-124617">
              <a:lnSpc>
                <a:spcPct val="100000"/>
              </a:lnSpc>
              <a:spcBef>
                <a:spcPts val="554"/>
              </a:spcBef>
              <a:buClr>
                <a:srgbClr val="048ED3"/>
              </a:buClr>
              <a:buSzPct val="100000"/>
              <a:buFont typeface="Wingdings" panose="05000000000000000000" pitchFamily="2" charset="2"/>
              <a:buChar char="§"/>
              <a:defRPr sz="1600">
                <a:solidFill>
                  <a:schemeClr val="tx1">
                    <a:lumMod val="75000"/>
                    <a:lumOff val="25000"/>
                  </a:schemeClr>
                </a:solidFill>
                <a:latin typeface="나눔스퀘어 ExtraBold" panose="020B0600000101010101" pitchFamily="50" charset="-127"/>
                <a:ea typeface="나눔스퀘어 ExtraBold" panose="020B0600000101010101" pitchFamily="50" charset="-127"/>
              </a:defRPr>
            </a:lvl1pPr>
            <a:lvl2pPr marL="249235" indent="-124617">
              <a:lnSpc>
                <a:spcPct val="100000"/>
              </a:lnSpc>
              <a:spcBef>
                <a:spcPts val="554"/>
              </a:spcBef>
              <a:buClr>
                <a:srgbClr val="048ED3"/>
              </a:buClr>
              <a:buFont typeface="Wingdings" panose="05000000000000000000" pitchFamily="2" charset="2"/>
              <a:buChar char="§"/>
              <a:defRPr sz="1400">
                <a:solidFill>
                  <a:schemeClr val="tx1">
                    <a:lumMod val="75000"/>
                    <a:lumOff val="25000"/>
                  </a:schemeClr>
                </a:solidFill>
                <a:latin typeface="나눔스퀘어 ExtraBold" panose="020B0600000101010101" pitchFamily="50" charset="-127"/>
                <a:ea typeface="나눔스퀘어 ExtraBold" panose="020B0600000101010101" pitchFamily="50" charset="-127"/>
              </a:defRPr>
            </a:lvl2pPr>
            <a:lvl3pPr marL="498469" indent="-124617">
              <a:lnSpc>
                <a:spcPct val="100000"/>
              </a:lnSpc>
              <a:spcBef>
                <a:spcPts val="554"/>
              </a:spcBef>
              <a:buClr>
                <a:srgbClr val="048ED3"/>
              </a:buClr>
              <a:buFont typeface="Wingdings" panose="05000000000000000000" pitchFamily="2" charset="2"/>
              <a:buChar char="§"/>
              <a:defRPr sz="1400">
                <a:solidFill>
                  <a:schemeClr val="tx1">
                    <a:lumMod val="75000"/>
                    <a:lumOff val="25000"/>
                  </a:schemeClr>
                </a:solidFill>
                <a:latin typeface="나눔스퀘어 ExtraBold" panose="020B0600000101010101" pitchFamily="50" charset="-127"/>
                <a:ea typeface="나눔스퀘어 ExtraBold" panose="020B0600000101010101" pitchFamily="50" charset="-127"/>
              </a:defRPr>
            </a:lvl3pPr>
            <a:lvl4pPr marL="747704" indent="-124617">
              <a:lnSpc>
                <a:spcPct val="100000"/>
              </a:lnSpc>
              <a:spcBef>
                <a:spcPts val="554"/>
              </a:spcBef>
              <a:buClr>
                <a:srgbClr val="048ED3"/>
              </a:buClr>
              <a:buFont typeface="Wingdings" panose="05000000000000000000" pitchFamily="2" charset="2"/>
              <a:buChar char="§"/>
              <a:defRPr sz="1400">
                <a:solidFill>
                  <a:schemeClr val="tx1">
                    <a:lumMod val="75000"/>
                    <a:lumOff val="25000"/>
                  </a:schemeClr>
                </a:solidFill>
                <a:latin typeface="나눔스퀘어 ExtraBold" panose="020B0600000101010101" pitchFamily="50" charset="-127"/>
                <a:ea typeface="나눔스퀘어 ExtraBold" panose="020B0600000101010101" pitchFamily="50" charset="-127"/>
              </a:defRPr>
            </a:lvl4pPr>
            <a:lvl5pPr marL="996938" indent="-124617">
              <a:lnSpc>
                <a:spcPct val="100000"/>
              </a:lnSpc>
              <a:spcBef>
                <a:spcPts val="554"/>
              </a:spcBef>
              <a:buClr>
                <a:srgbClr val="048ED3"/>
              </a:buClr>
              <a:buFont typeface="Wingdings" panose="05000000000000000000" pitchFamily="2" charset="2"/>
              <a:buChar char="§"/>
              <a:defRPr sz="1400">
                <a:solidFill>
                  <a:schemeClr val="tx1">
                    <a:lumMod val="75000"/>
                    <a:lumOff val="25000"/>
                  </a:schemeClr>
                </a:solidFill>
                <a:latin typeface="나눔스퀘어 ExtraBold" panose="020B0600000101010101" pitchFamily="50" charset="-127"/>
                <a:ea typeface="나눔스퀘어 ExtraBold" panose="020B0600000101010101" pitchFamily="50" charset="-127"/>
              </a:defRPr>
            </a:lvl5pPr>
          </a:lstStyle>
          <a:p>
            <a:pPr lvl="0"/>
            <a:r>
              <a:rPr lang="ko-KR" altLang="en-US" dirty="0"/>
              <a:t> 마스터 텍스트 스타일을 편집합니다</a:t>
            </a:r>
            <a:r>
              <a:rPr lang="en-US" altLang="ko-KR" dirty="0"/>
              <a:t>. </a:t>
            </a:r>
            <a:endParaRPr lang="ko-KR" altLang="en-US" dirty="0"/>
          </a:p>
          <a:p>
            <a:pPr lvl="1"/>
            <a:r>
              <a:rPr lang="ko-KR" altLang="en-US" dirty="0"/>
              <a:t> 둘째 수준</a:t>
            </a:r>
          </a:p>
          <a:p>
            <a:pPr lvl="2"/>
            <a:r>
              <a:rPr lang="ko-KR" altLang="en-US" dirty="0"/>
              <a:t> 셋째 수준</a:t>
            </a:r>
          </a:p>
          <a:p>
            <a:pPr lvl="3"/>
            <a:r>
              <a:rPr lang="ko-KR" altLang="en-US" dirty="0"/>
              <a:t> 넷째 수준</a:t>
            </a:r>
          </a:p>
          <a:p>
            <a:pPr lvl="4"/>
            <a:r>
              <a:rPr lang="ko-KR" altLang="en-US" dirty="0"/>
              <a:t> 다섯째 수준</a:t>
            </a:r>
          </a:p>
        </p:txBody>
      </p:sp>
      <p:cxnSp>
        <p:nvCxnSpPr>
          <p:cNvPr id="4" name="Straight Connector 11"/>
          <p:cNvCxnSpPr>
            <a:cxnSpLocks/>
          </p:cNvCxnSpPr>
          <p:nvPr userDrawn="1"/>
        </p:nvCxnSpPr>
        <p:spPr>
          <a:xfrm>
            <a:off x="33418" y="568479"/>
            <a:ext cx="9003078" cy="0"/>
          </a:xfrm>
          <a:prstGeom prst="line">
            <a:avLst/>
          </a:prstGeom>
          <a:ln w="25400">
            <a:solidFill>
              <a:srgbClr val="048ED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289129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제목만">
    <p:spTree>
      <p:nvGrpSpPr>
        <p:cNvPr id="1" name=""/>
        <p:cNvGrpSpPr/>
        <p:nvPr/>
      </p:nvGrpSpPr>
      <p:grpSpPr>
        <a:xfrm>
          <a:off x="0" y="0"/>
          <a:ext cx="0" cy="0"/>
          <a:chOff x="0" y="0"/>
          <a:chExt cx="0" cy="0"/>
        </a:xfrm>
      </p:grpSpPr>
      <p:sp>
        <p:nvSpPr>
          <p:cNvPr id="4" name="제목 1">
            <a:extLst>
              <a:ext uri="{FF2B5EF4-FFF2-40B4-BE49-F238E27FC236}">
                <a16:creationId xmlns:a16="http://schemas.microsoft.com/office/drawing/2014/main" id="{9E58036D-FB22-427F-91AE-E1045B46E0A6}"/>
              </a:ext>
            </a:extLst>
          </p:cNvPr>
          <p:cNvSpPr>
            <a:spLocks noGrp="1"/>
          </p:cNvSpPr>
          <p:nvPr>
            <p:ph type="title"/>
          </p:nvPr>
        </p:nvSpPr>
        <p:spPr>
          <a:xfrm>
            <a:off x="55202" y="104895"/>
            <a:ext cx="8981294" cy="414343"/>
          </a:xfrm>
          <a:prstGeom prst="rect">
            <a:avLst/>
          </a:prstGeom>
        </p:spPr>
        <p:txBody>
          <a:bodyPr/>
          <a:lstStyle>
            <a:lvl1pPr>
              <a:defRPr sz="2000" b="1" i="0">
                <a:solidFill>
                  <a:schemeClr val="tx1">
                    <a:lumMod val="75000"/>
                    <a:lumOff val="25000"/>
                  </a:schemeClr>
                </a:solidFill>
                <a:latin typeface="나눔스퀘어 ExtraBold" panose="020B0600000101010101" pitchFamily="50" charset="-127"/>
                <a:ea typeface="나눔스퀘어 ExtraBold" panose="020B0600000101010101" pitchFamily="50" charset="-127"/>
              </a:defRPr>
            </a:lvl1pPr>
          </a:lstStyle>
          <a:p>
            <a:r>
              <a:rPr lang="ko-KR" altLang="en-US" dirty="0"/>
              <a:t>마스터 제목 스타일 편집</a:t>
            </a:r>
          </a:p>
        </p:txBody>
      </p:sp>
      <p:cxnSp>
        <p:nvCxnSpPr>
          <p:cNvPr id="5" name="Straight Connector 11">
            <a:extLst>
              <a:ext uri="{FF2B5EF4-FFF2-40B4-BE49-F238E27FC236}">
                <a16:creationId xmlns:a16="http://schemas.microsoft.com/office/drawing/2014/main" id="{737BA576-93AE-49D6-AEB2-07214FE6BB36}"/>
              </a:ext>
            </a:extLst>
          </p:cNvPr>
          <p:cNvCxnSpPr>
            <a:cxnSpLocks/>
          </p:cNvCxnSpPr>
          <p:nvPr userDrawn="1"/>
        </p:nvCxnSpPr>
        <p:spPr>
          <a:xfrm>
            <a:off x="33418" y="568479"/>
            <a:ext cx="9003078" cy="0"/>
          </a:xfrm>
          <a:prstGeom prst="line">
            <a:avLst/>
          </a:prstGeom>
          <a:ln w="25400">
            <a:solidFill>
              <a:srgbClr val="048ED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49207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Tree>
    <p:extLst>
      <p:ext uri="{BB962C8B-B14F-4D97-AF65-F5344CB8AC3E}">
        <p14:creationId xmlns:p14="http://schemas.microsoft.com/office/powerpoint/2010/main" val="142148404"/>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Box 21"/>
          <p:cNvSpPr txBox="1">
            <a:spLocks noChangeArrowheads="1"/>
          </p:cNvSpPr>
          <p:nvPr userDrawn="1"/>
        </p:nvSpPr>
        <p:spPr bwMode="auto">
          <a:xfrm>
            <a:off x="8" y="4937427"/>
            <a:ext cx="9128841" cy="184666"/>
          </a:xfrm>
          <a:prstGeom prst="rect">
            <a:avLst/>
          </a:prstGeom>
          <a:noFill/>
          <a:ln w="9525" algn="ctr">
            <a:noFill/>
            <a:miter lim="800000"/>
            <a:headEnd/>
            <a:tailEnd/>
          </a:ln>
          <a:effectLst/>
        </p:spPr>
        <p:txBody>
          <a:bodyPr wrap="square">
            <a:spAutoFit/>
          </a:bodyPr>
          <a:lstStyle/>
          <a:p>
            <a:pPr algn="l">
              <a:defRPr/>
            </a:pPr>
            <a:r>
              <a:rPr lang="ko-KR" altLang="en-US" sz="600" b="0" baseline="0" dirty="0">
                <a:solidFill>
                  <a:schemeClr val="bg1">
                    <a:lumMod val="50000"/>
                  </a:schemeClr>
                </a:solidFill>
                <a:latin typeface="+mj-ea"/>
                <a:ea typeface="+mj-ea"/>
              </a:rPr>
              <a:t>게임 엔진 </a:t>
            </a:r>
            <a:r>
              <a:rPr lang="en-US" altLang="ko-KR" sz="600" b="0" baseline="0" dirty="0">
                <a:solidFill>
                  <a:schemeClr val="bg1">
                    <a:lumMod val="50000"/>
                  </a:schemeClr>
                </a:solidFill>
                <a:latin typeface="+mj-ea"/>
                <a:ea typeface="+mj-ea"/>
              </a:rPr>
              <a:t>(1)</a:t>
            </a:r>
            <a:r>
              <a:rPr lang="ko-KR" altLang="en-US" sz="600" b="0" baseline="0" dirty="0">
                <a:solidFill>
                  <a:schemeClr val="bg1">
                    <a:lumMod val="50000"/>
                  </a:schemeClr>
                </a:solidFill>
                <a:latin typeface="+mj-ea"/>
                <a:ea typeface="+mj-ea"/>
              </a:rPr>
              <a:t>                                                                                                                                                                                                                                                                                                                                                                                                                         한국공학대학교 이대현</a:t>
            </a:r>
            <a:endParaRPr lang="ko-KR" altLang="en-US" sz="600" b="0" dirty="0">
              <a:solidFill>
                <a:schemeClr val="bg1">
                  <a:lumMod val="50000"/>
                </a:schemeClr>
              </a:solidFill>
              <a:latin typeface="+mj-ea"/>
              <a:ea typeface="+mj-ea"/>
            </a:endParaRPr>
          </a:p>
        </p:txBody>
      </p:sp>
    </p:spTree>
    <p:extLst>
      <p:ext uri="{BB962C8B-B14F-4D97-AF65-F5344CB8AC3E}">
        <p14:creationId xmlns:p14="http://schemas.microsoft.com/office/powerpoint/2010/main" val="2246404918"/>
      </p:ext>
    </p:extLst>
  </p:cSld>
  <p:clrMap bg1="lt1" tx1="dk1" bg2="lt2" tx2="dk2" accent1="accent1" accent2="accent2" accent3="accent3" accent4="accent4" accent5="accent5" accent6="accent6" hlink="hlink" folHlink="folHlink"/>
  <p:sldLayoutIdLst>
    <p:sldLayoutId id="2147483677" r:id="rId1"/>
    <p:sldLayoutId id="2147483678" r:id="rId2"/>
    <p:sldLayoutId id="2147483679" r:id="rId3"/>
  </p:sldLayoutIdLst>
  <p:txStyles>
    <p:titleStyle>
      <a:lvl1pPr algn="l" rtl="0" eaLnBrk="0" fontAlgn="base" latinLnBrk="1" hangingPunct="0">
        <a:spcBef>
          <a:spcPct val="0"/>
        </a:spcBef>
        <a:spcAft>
          <a:spcPct val="0"/>
        </a:spcAft>
        <a:defRPr kumimoji="1" sz="1523" b="1">
          <a:solidFill>
            <a:schemeClr val="tx1"/>
          </a:solidFill>
          <a:latin typeface="나눔스퀘어" panose="020B0600000101010101" pitchFamily="50" charset="-127"/>
          <a:ea typeface="나눔스퀘어" panose="020B0600000101010101" pitchFamily="50" charset="-127"/>
          <a:cs typeface="+mj-cs"/>
        </a:defRPr>
      </a:lvl1pPr>
      <a:lvl2pPr algn="l" rtl="0" eaLnBrk="0" fontAlgn="base" latinLnBrk="1" hangingPunct="0">
        <a:spcBef>
          <a:spcPct val="0"/>
        </a:spcBef>
        <a:spcAft>
          <a:spcPct val="0"/>
        </a:spcAft>
        <a:defRPr kumimoji="1" sz="1523" b="1">
          <a:solidFill>
            <a:schemeClr val="tx1"/>
          </a:solidFill>
          <a:latin typeface="나눔고딕" pitchFamily="50" charset="-127"/>
          <a:ea typeface="나눔고딕" pitchFamily="50" charset="-127"/>
        </a:defRPr>
      </a:lvl2pPr>
      <a:lvl3pPr algn="l" rtl="0" eaLnBrk="0" fontAlgn="base" latinLnBrk="1" hangingPunct="0">
        <a:spcBef>
          <a:spcPct val="0"/>
        </a:spcBef>
        <a:spcAft>
          <a:spcPct val="0"/>
        </a:spcAft>
        <a:defRPr kumimoji="1" sz="1523" b="1">
          <a:solidFill>
            <a:schemeClr val="tx1"/>
          </a:solidFill>
          <a:latin typeface="나눔고딕" pitchFamily="50" charset="-127"/>
          <a:ea typeface="나눔고딕" pitchFamily="50" charset="-127"/>
        </a:defRPr>
      </a:lvl3pPr>
      <a:lvl4pPr algn="l" rtl="0" eaLnBrk="0" fontAlgn="base" latinLnBrk="1" hangingPunct="0">
        <a:spcBef>
          <a:spcPct val="0"/>
        </a:spcBef>
        <a:spcAft>
          <a:spcPct val="0"/>
        </a:spcAft>
        <a:defRPr kumimoji="1" sz="1523" b="1">
          <a:solidFill>
            <a:schemeClr val="tx1"/>
          </a:solidFill>
          <a:latin typeface="나눔고딕" pitchFamily="50" charset="-127"/>
          <a:ea typeface="나눔고딕" pitchFamily="50" charset="-127"/>
        </a:defRPr>
      </a:lvl4pPr>
      <a:lvl5pPr algn="l" rtl="0" eaLnBrk="0" fontAlgn="base" latinLnBrk="1" hangingPunct="0">
        <a:spcBef>
          <a:spcPct val="0"/>
        </a:spcBef>
        <a:spcAft>
          <a:spcPct val="0"/>
        </a:spcAft>
        <a:defRPr kumimoji="1" sz="1523" b="1">
          <a:solidFill>
            <a:schemeClr val="tx1"/>
          </a:solidFill>
          <a:latin typeface="나눔고딕" pitchFamily="50" charset="-127"/>
          <a:ea typeface="나눔고딕" pitchFamily="50" charset="-127"/>
        </a:defRPr>
      </a:lvl5pPr>
      <a:lvl6pPr marL="316528" algn="l" rtl="0" fontAlgn="base" latinLnBrk="1">
        <a:spcBef>
          <a:spcPct val="0"/>
        </a:spcBef>
        <a:spcAft>
          <a:spcPct val="0"/>
        </a:spcAft>
        <a:defRPr kumimoji="1" sz="1523" b="1">
          <a:solidFill>
            <a:schemeClr val="tx1"/>
          </a:solidFill>
          <a:latin typeface="나눔고딕" pitchFamily="50" charset="-127"/>
          <a:ea typeface="나눔고딕" pitchFamily="50" charset="-127"/>
        </a:defRPr>
      </a:lvl6pPr>
      <a:lvl7pPr marL="633056" algn="l" rtl="0" fontAlgn="base" latinLnBrk="1">
        <a:spcBef>
          <a:spcPct val="0"/>
        </a:spcBef>
        <a:spcAft>
          <a:spcPct val="0"/>
        </a:spcAft>
        <a:defRPr kumimoji="1" sz="1523" b="1">
          <a:solidFill>
            <a:schemeClr val="tx1"/>
          </a:solidFill>
          <a:latin typeface="나눔고딕" pitchFamily="50" charset="-127"/>
          <a:ea typeface="나눔고딕" pitchFamily="50" charset="-127"/>
        </a:defRPr>
      </a:lvl7pPr>
      <a:lvl8pPr marL="949583" algn="l" rtl="0" fontAlgn="base" latinLnBrk="1">
        <a:spcBef>
          <a:spcPct val="0"/>
        </a:spcBef>
        <a:spcAft>
          <a:spcPct val="0"/>
        </a:spcAft>
        <a:defRPr kumimoji="1" sz="1523" b="1">
          <a:solidFill>
            <a:schemeClr val="tx1"/>
          </a:solidFill>
          <a:latin typeface="나눔고딕" pitchFamily="50" charset="-127"/>
          <a:ea typeface="나눔고딕" pitchFamily="50" charset="-127"/>
        </a:defRPr>
      </a:lvl8pPr>
      <a:lvl9pPr marL="1266110" algn="l" rtl="0" fontAlgn="base" latinLnBrk="1">
        <a:spcBef>
          <a:spcPct val="0"/>
        </a:spcBef>
        <a:spcAft>
          <a:spcPct val="0"/>
        </a:spcAft>
        <a:defRPr kumimoji="1" sz="1523" b="1">
          <a:solidFill>
            <a:schemeClr val="tx1"/>
          </a:solidFill>
          <a:latin typeface="나눔고딕" pitchFamily="50" charset="-127"/>
          <a:ea typeface="나눔고딕" pitchFamily="50" charset="-127"/>
        </a:defRPr>
      </a:lvl9pPr>
    </p:titleStyle>
    <p:bodyStyle>
      <a:lvl1pPr marL="0" indent="124617" algn="l" rtl="0" eaLnBrk="0" fontAlgn="base" latinLnBrk="1" hangingPunct="0">
        <a:spcBef>
          <a:spcPct val="20000"/>
        </a:spcBef>
        <a:spcAft>
          <a:spcPct val="0"/>
        </a:spcAft>
        <a:buClr>
          <a:schemeClr val="bg2"/>
        </a:buClr>
        <a:buSzPct val="75000"/>
        <a:buFont typeface="Wingdings" pitchFamily="2" charset="2"/>
        <a:buChar char="n"/>
        <a:defRPr kumimoji="1" b="1">
          <a:solidFill>
            <a:schemeClr val="tx1"/>
          </a:solidFill>
          <a:latin typeface="+mn-lt"/>
          <a:ea typeface="+mn-ea"/>
          <a:cs typeface="+mn-cs"/>
        </a:defRPr>
      </a:lvl1pPr>
      <a:lvl2pPr marL="249235" indent="-124617" algn="l" rtl="0" eaLnBrk="0" fontAlgn="base" latinLnBrk="1" hangingPunct="0">
        <a:spcBef>
          <a:spcPct val="20000"/>
        </a:spcBef>
        <a:spcAft>
          <a:spcPct val="0"/>
        </a:spcAft>
        <a:buClr>
          <a:schemeClr val="accent2"/>
        </a:buClr>
        <a:buSzPct val="80000"/>
        <a:buFont typeface="Wingdings" pitchFamily="2" charset="2"/>
        <a:buChar char="¨"/>
        <a:defRPr kumimoji="1" sz="1108">
          <a:solidFill>
            <a:schemeClr val="tx1"/>
          </a:solidFill>
          <a:latin typeface="+mn-lt"/>
          <a:ea typeface="+mn-ea"/>
        </a:defRPr>
      </a:lvl2pPr>
      <a:lvl3pPr marL="498469" indent="-124617" algn="l" rtl="0" eaLnBrk="0" fontAlgn="base" latinLnBrk="1" hangingPunct="0">
        <a:spcBef>
          <a:spcPct val="20000"/>
        </a:spcBef>
        <a:spcAft>
          <a:spcPct val="0"/>
        </a:spcAft>
        <a:buClr>
          <a:schemeClr val="bg2"/>
        </a:buClr>
        <a:buSzPct val="65000"/>
        <a:buFont typeface="Wingdings" pitchFamily="2" charset="2"/>
        <a:buChar char="n"/>
        <a:defRPr kumimoji="1" sz="969">
          <a:solidFill>
            <a:schemeClr val="tx1"/>
          </a:solidFill>
          <a:latin typeface="+mn-lt"/>
          <a:ea typeface="+mn-ea"/>
        </a:defRPr>
      </a:lvl3pPr>
      <a:lvl4pPr marL="747704" indent="-124617" algn="l" rtl="0" eaLnBrk="0" fontAlgn="base" latinLnBrk="1" hangingPunct="0">
        <a:spcBef>
          <a:spcPct val="20000"/>
        </a:spcBef>
        <a:spcAft>
          <a:spcPct val="0"/>
        </a:spcAft>
        <a:buClr>
          <a:schemeClr val="accent2"/>
        </a:buClr>
        <a:buSzPct val="70000"/>
        <a:buFont typeface="Wingdings" pitchFamily="2" charset="2"/>
        <a:buChar char="¨"/>
        <a:defRPr kumimoji="1" sz="831">
          <a:solidFill>
            <a:schemeClr val="tx1"/>
          </a:solidFill>
          <a:latin typeface="+mn-lt"/>
          <a:ea typeface="+mn-ea"/>
        </a:defRPr>
      </a:lvl4pPr>
      <a:lvl5pPr marL="996938" indent="-124617" algn="l" rtl="0" eaLnBrk="0" fontAlgn="base" latinLnBrk="1" hangingPunct="0">
        <a:spcBef>
          <a:spcPct val="20000"/>
        </a:spcBef>
        <a:spcAft>
          <a:spcPct val="0"/>
        </a:spcAft>
        <a:buClr>
          <a:schemeClr val="bg2"/>
        </a:buClr>
        <a:buFont typeface="Wingdings" pitchFamily="2" charset="2"/>
        <a:buChar char="§"/>
        <a:defRPr kumimoji="1" sz="831">
          <a:solidFill>
            <a:schemeClr val="tx1"/>
          </a:solidFill>
          <a:latin typeface="+mn-lt"/>
          <a:ea typeface="+mn-ea"/>
        </a:defRPr>
      </a:lvl5pPr>
      <a:lvl6pPr marL="1740901" indent="-158264" algn="l" rtl="0" fontAlgn="base" latinLnBrk="1">
        <a:spcBef>
          <a:spcPct val="20000"/>
        </a:spcBef>
        <a:spcAft>
          <a:spcPct val="0"/>
        </a:spcAft>
        <a:buClr>
          <a:schemeClr val="bg2"/>
        </a:buClr>
        <a:buFont typeface="Wingdings" pitchFamily="2" charset="2"/>
        <a:buChar char="§"/>
        <a:defRPr kumimoji="1" sz="831">
          <a:solidFill>
            <a:schemeClr val="tx1"/>
          </a:solidFill>
          <a:latin typeface="+mn-lt"/>
          <a:ea typeface="+mn-ea"/>
        </a:defRPr>
      </a:lvl6pPr>
      <a:lvl7pPr marL="2057429" indent="-158264" algn="l" rtl="0" fontAlgn="base" latinLnBrk="1">
        <a:spcBef>
          <a:spcPct val="20000"/>
        </a:spcBef>
        <a:spcAft>
          <a:spcPct val="0"/>
        </a:spcAft>
        <a:buClr>
          <a:schemeClr val="bg2"/>
        </a:buClr>
        <a:buFont typeface="Wingdings" pitchFamily="2" charset="2"/>
        <a:buChar char="§"/>
        <a:defRPr kumimoji="1" sz="831">
          <a:solidFill>
            <a:schemeClr val="tx1"/>
          </a:solidFill>
          <a:latin typeface="+mn-lt"/>
          <a:ea typeface="+mn-ea"/>
        </a:defRPr>
      </a:lvl7pPr>
      <a:lvl8pPr marL="2373957" indent="-158264" algn="l" rtl="0" fontAlgn="base" latinLnBrk="1">
        <a:spcBef>
          <a:spcPct val="20000"/>
        </a:spcBef>
        <a:spcAft>
          <a:spcPct val="0"/>
        </a:spcAft>
        <a:buClr>
          <a:schemeClr val="bg2"/>
        </a:buClr>
        <a:buFont typeface="Wingdings" pitchFamily="2" charset="2"/>
        <a:buChar char="§"/>
        <a:defRPr kumimoji="1" sz="831">
          <a:solidFill>
            <a:schemeClr val="tx1"/>
          </a:solidFill>
          <a:latin typeface="+mn-lt"/>
          <a:ea typeface="+mn-ea"/>
        </a:defRPr>
      </a:lvl8pPr>
      <a:lvl9pPr marL="2690485" indent="-158264" algn="l" rtl="0" fontAlgn="base" latinLnBrk="1">
        <a:spcBef>
          <a:spcPct val="20000"/>
        </a:spcBef>
        <a:spcAft>
          <a:spcPct val="0"/>
        </a:spcAft>
        <a:buClr>
          <a:schemeClr val="bg2"/>
        </a:buClr>
        <a:buFont typeface="Wingdings" pitchFamily="2" charset="2"/>
        <a:buChar char="§"/>
        <a:defRPr kumimoji="1" sz="831">
          <a:solidFill>
            <a:schemeClr val="tx1"/>
          </a:solidFill>
          <a:latin typeface="+mn-lt"/>
          <a:ea typeface="+mn-ea"/>
        </a:defRPr>
      </a:lvl9pPr>
    </p:bodyStyle>
    <p:otherStyle>
      <a:defPPr>
        <a:defRPr lang="ko-KR"/>
      </a:defPPr>
      <a:lvl1pPr marL="0" algn="l" defTabSz="633056" rtl="0" eaLnBrk="1" latinLnBrk="1" hangingPunct="1">
        <a:defRPr sz="1247" kern="1200">
          <a:solidFill>
            <a:schemeClr val="tx1"/>
          </a:solidFill>
          <a:latin typeface="+mn-lt"/>
          <a:ea typeface="+mn-ea"/>
          <a:cs typeface="+mn-cs"/>
        </a:defRPr>
      </a:lvl1pPr>
      <a:lvl2pPr marL="316528" algn="l" defTabSz="633056" rtl="0" eaLnBrk="1" latinLnBrk="1" hangingPunct="1">
        <a:defRPr sz="1247" kern="1200">
          <a:solidFill>
            <a:schemeClr val="tx1"/>
          </a:solidFill>
          <a:latin typeface="+mn-lt"/>
          <a:ea typeface="+mn-ea"/>
          <a:cs typeface="+mn-cs"/>
        </a:defRPr>
      </a:lvl2pPr>
      <a:lvl3pPr marL="633056" algn="l" defTabSz="633056" rtl="0" eaLnBrk="1" latinLnBrk="1" hangingPunct="1">
        <a:defRPr sz="1247" kern="1200">
          <a:solidFill>
            <a:schemeClr val="tx1"/>
          </a:solidFill>
          <a:latin typeface="+mn-lt"/>
          <a:ea typeface="+mn-ea"/>
          <a:cs typeface="+mn-cs"/>
        </a:defRPr>
      </a:lvl3pPr>
      <a:lvl4pPr marL="949583" algn="l" defTabSz="633056" rtl="0" eaLnBrk="1" latinLnBrk="1" hangingPunct="1">
        <a:defRPr sz="1247" kern="1200">
          <a:solidFill>
            <a:schemeClr val="tx1"/>
          </a:solidFill>
          <a:latin typeface="+mn-lt"/>
          <a:ea typeface="+mn-ea"/>
          <a:cs typeface="+mn-cs"/>
        </a:defRPr>
      </a:lvl4pPr>
      <a:lvl5pPr marL="1266110" algn="l" defTabSz="633056" rtl="0" eaLnBrk="1" latinLnBrk="1" hangingPunct="1">
        <a:defRPr sz="1247" kern="1200">
          <a:solidFill>
            <a:schemeClr val="tx1"/>
          </a:solidFill>
          <a:latin typeface="+mn-lt"/>
          <a:ea typeface="+mn-ea"/>
          <a:cs typeface="+mn-cs"/>
        </a:defRPr>
      </a:lvl5pPr>
      <a:lvl6pPr marL="1582639" algn="l" defTabSz="633056" rtl="0" eaLnBrk="1" latinLnBrk="1" hangingPunct="1">
        <a:defRPr sz="1247" kern="1200">
          <a:solidFill>
            <a:schemeClr val="tx1"/>
          </a:solidFill>
          <a:latin typeface="+mn-lt"/>
          <a:ea typeface="+mn-ea"/>
          <a:cs typeface="+mn-cs"/>
        </a:defRPr>
      </a:lvl6pPr>
      <a:lvl7pPr marL="1899167" algn="l" defTabSz="633056" rtl="0" eaLnBrk="1" latinLnBrk="1" hangingPunct="1">
        <a:defRPr sz="1247" kern="1200">
          <a:solidFill>
            <a:schemeClr val="tx1"/>
          </a:solidFill>
          <a:latin typeface="+mn-lt"/>
          <a:ea typeface="+mn-ea"/>
          <a:cs typeface="+mn-cs"/>
        </a:defRPr>
      </a:lvl7pPr>
      <a:lvl8pPr marL="2215693" algn="l" defTabSz="633056" rtl="0" eaLnBrk="1" latinLnBrk="1" hangingPunct="1">
        <a:defRPr sz="1247" kern="1200">
          <a:solidFill>
            <a:schemeClr val="tx1"/>
          </a:solidFill>
          <a:latin typeface="+mn-lt"/>
          <a:ea typeface="+mn-ea"/>
          <a:cs typeface="+mn-cs"/>
        </a:defRPr>
      </a:lvl8pPr>
      <a:lvl9pPr marL="2532221" algn="l" defTabSz="633056" rtl="0" eaLnBrk="1" latinLnBrk="1" hangingPunct="1">
        <a:defRPr sz="1247"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9.jpeg"/></Relationships>
</file>

<file path=ppt/slides/_rels/slide18.xml.rels><?xml version="1.0" encoding="UTF-8" standalone="yes"?>
<Relationships xmlns="http://schemas.openxmlformats.org/package/2006/relationships"><Relationship Id="rId3" Type="http://schemas.openxmlformats.org/officeDocument/2006/relationships/image" Target="../media/image10.jpeg"/><Relationship Id="rId7" Type="http://schemas.openxmlformats.org/officeDocument/2006/relationships/hyperlink" Target="https://creativecommons.org/licenses/by/3.0/" TargetMode="External"/><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hyperlink" Target="https://onecommunityranch.org/open-source-sustainable-food-production-systems/" TargetMode="External"/><Relationship Id="rId5" Type="http://schemas.openxmlformats.org/officeDocument/2006/relationships/image" Target="../media/image11.jpeg"/><Relationship Id="rId4" Type="http://schemas.openxmlformats.org/officeDocument/2006/relationships/hyperlink" Target="https://en.wikipedia.org/wiki/Blueprint#/media/File:Joy_Oil_gas_station_blueprints.jpg" TargetMode="Externa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15.svg"/><Relationship Id="rId5" Type="http://schemas.openxmlformats.org/officeDocument/2006/relationships/image" Target="../media/image14.png"/><Relationship Id="rId4" Type="http://schemas.openxmlformats.org/officeDocument/2006/relationships/image" Target="../media/image13.svg"/></Relationships>
</file>

<file path=ppt/slides/_rels/slide2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BDA2922-079D-4EC0-BCF5-8053049360E1}"/>
              </a:ext>
            </a:extLst>
          </p:cNvPr>
          <p:cNvSpPr>
            <a:spLocks noGrp="1"/>
          </p:cNvSpPr>
          <p:nvPr>
            <p:ph type="title"/>
          </p:nvPr>
        </p:nvSpPr>
        <p:spPr>
          <a:xfrm>
            <a:off x="55202" y="104895"/>
            <a:ext cx="8981294" cy="414343"/>
          </a:xfrm>
        </p:spPr>
        <p:txBody>
          <a:bodyPr wrap="square"/>
          <a:lstStyle/>
          <a:p>
            <a:r>
              <a:rPr lang="ko-KR" altLang="en-US"/>
              <a:t>학습 목표</a:t>
            </a:r>
            <a:endParaRPr lang="ko-KR" altLang="en-US" dirty="0"/>
          </a:p>
        </p:txBody>
      </p:sp>
      <p:sp>
        <p:nvSpPr>
          <p:cNvPr id="3" name="내용 개체 틀 2">
            <a:extLst>
              <a:ext uri="{FF2B5EF4-FFF2-40B4-BE49-F238E27FC236}">
                <a16:creationId xmlns:a16="http://schemas.microsoft.com/office/drawing/2014/main" id="{79B0F421-0FE8-44AE-86B6-151D0625309C}"/>
              </a:ext>
            </a:extLst>
          </p:cNvPr>
          <p:cNvSpPr>
            <a:spLocks noGrp="1"/>
          </p:cNvSpPr>
          <p:nvPr>
            <p:ph idx="1"/>
          </p:nvPr>
        </p:nvSpPr>
        <p:spPr>
          <a:xfrm>
            <a:off x="55202" y="618982"/>
            <a:ext cx="8981294" cy="4275028"/>
          </a:xfrm>
        </p:spPr>
        <p:txBody>
          <a:bodyPr wrap="square"/>
          <a:lstStyle/>
          <a:p>
            <a:r>
              <a:rPr lang="ko-KR" altLang="en-US"/>
              <a:t>블루프린트의 개념과 노드</a:t>
            </a:r>
            <a:r>
              <a:rPr lang="en-US" altLang="ko-KR"/>
              <a:t>·</a:t>
            </a:r>
            <a:r>
              <a:rPr lang="ko-KR" altLang="en-US"/>
              <a:t>핀</a:t>
            </a:r>
            <a:r>
              <a:rPr lang="en-US" altLang="ko-KR"/>
              <a:t>·</a:t>
            </a:r>
            <a:r>
              <a:rPr lang="ko-KR" altLang="en-US"/>
              <a:t>와이어의 구조를 설명할 수 있다</a:t>
            </a:r>
            <a:r>
              <a:rPr lang="en-US" altLang="ko-KR"/>
              <a:t>.</a:t>
            </a:r>
            <a:endParaRPr lang="ko-KR" altLang="en-US" dirty="0"/>
          </a:p>
          <a:p>
            <a:r>
              <a:rPr lang="ko-KR" altLang="en-US"/>
              <a:t>이벤트 틱을 이용해 액터가 움직이는 로직을 구현할 수 있다</a:t>
            </a:r>
            <a:r>
              <a:rPr lang="en-US" altLang="ko-KR"/>
              <a:t>.</a:t>
            </a:r>
          </a:p>
          <a:p>
            <a:r>
              <a:rPr lang="ko-KR" altLang="en-US"/>
              <a:t>이벤트 기반 프로그래밍으로 충돌을 처리하고</a:t>
            </a:r>
            <a:r>
              <a:rPr lang="en-US" altLang="ko-KR"/>
              <a:t>, </a:t>
            </a:r>
            <a:r>
              <a:rPr lang="ko-KR" altLang="en-US"/>
              <a:t>팩트 레벨 액터</a:t>
            </a:r>
            <a:r>
              <a:rPr lang="en-US" altLang="ko-KR"/>
              <a:t>·</a:t>
            </a:r>
            <a:r>
              <a:rPr lang="ko-KR" altLang="en-US"/>
              <a:t>레벨 인스턴스로 레벨을 효율적으로 구성할 수 있다</a:t>
            </a:r>
            <a:r>
              <a:rPr lang="en-US" altLang="ko-KR"/>
              <a:t>.</a:t>
            </a:r>
          </a:p>
          <a:p>
            <a:r>
              <a:rPr lang="ko-KR" altLang="en-US"/>
              <a:t>상속과 컴포넌트 개념을 이해하고</a:t>
            </a:r>
            <a:r>
              <a:rPr lang="en-US" altLang="ko-KR"/>
              <a:t>, </a:t>
            </a:r>
            <a:r>
              <a:rPr lang="ko-KR" altLang="en-US"/>
              <a:t>재사용 가능한 커스텀 컴포넌트를 제작해 여러 액터에 적용할 수 있다</a:t>
            </a:r>
            <a:r>
              <a:rPr lang="en-US" altLang="ko-KR"/>
              <a: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직사각형 2">
            <a:extLst>
              <a:ext uri="{FF2B5EF4-FFF2-40B4-BE49-F238E27FC236}">
                <a16:creationId xmlns:a16="http://schemas.microsoft.com/office/drawing/2014/main" id="{646751E2-8374-CE0D-FE7B-0717618F914D}"/>
              </a:ext>
            </a:extLst>
          </p:cNvPr>
          <p:cNvSpPr/>
          <p:nvPr/>
        </p:nvSpPr>
        <p:spPr bwMode="auto">
          <a:xfrm>
            <a:off x="0" y="0"/>
            <a:ext cx="9144000" cy="5143500"/>
          </a:xfrm>
          <a:prstGeom prst="rect">
            <a:avLst/>
          </a:prstGeom>
          <a:solidFill>
            <a:schemeClr val="tx1">
              <a:lumMod val="50000"/>
              <a:lumOff val="50000"/>
            </a:schemeClr>
          </a:solidFill>
          <a:ln w="12700" cap="rnd"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1" hangingPunct="1">
              <a:lnSpc>
                <a:spcPct val="100000"/>
              </a:lnSpc>
              <a:spcBef>
                <a:spcPct val="0"/>
              </a:spcBef>
              <a:spcAft>
                <a:spcPct val="0"/>
              </a:spcAft>
              <a:buClrTx/>
              <a:buSzTx/>
              <a:buFontTx/>
              <a:buNone/>
              <a:tabLst/>
            </a:pPr>
            <a:endParaRPr kumimoji="1" lang="ko-KR" altLang="en-US" sz="1800" b="0" i="0" u="none" strike="noStrike" cap="none" normalizeH="0" baseline="0">
              <a:ln>
                <a:noFill/>
              </a:ln>
              <a:solidFill>
                <a:schemeClr val="tx1"/>
              </a:solidFill>
              <a:effectLst/>
              <a:latin typeface="Tahoma" pitchFamily="34" charset="0"/>
              <a:ea typeface="나눔고딕" pitchFamily="50" charset="-127"/>
              <a:cs typeface="조선일보명조"/>
            </a:endParaRPr>
          </a:p>
        </p:txBody>
      </p:sp>
    </p:spTree>
    <p:extLst>
      <p:ext uri="{BB962C8B-B14F-4D97-AF65-F5344CB8AC3E}">
        <p14:creationId xmlns:p14="http://schemas.microsoft.com/office/powerpoint/2010/main" val="33057887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CAB1EA4-83AA-53ED-4BC4-EA7064EC67A1}"/>
              </a:ext>
            </a:extLst>
          </p:cNvPr>
          <p:cNvSpPr>
            <a:spLocks noGrp="1"/>
          </p:cNvSpPr>
          <p:nvPr>
            <p:ph type="title"/>
          </p:nvPr>
        </p:nvSpPr>
        <p:spPr/>
        <p:txBody>
          <a:bodyPr wrap="square"/>
          <a:lstStyle/>
          <a:p>
            <a:r>
              <a:rPr lang="en-US" altLang="ko-KR"/>
              <a:t>1</a:t>
            </a:r>
            <a:r>
              <a:rPr lang="ko-KR" altLang="en-US"/>
              <a:t>차시</a:t>
            </a:r>
            <a:r>
              <a:rPr lang="en-US" altLang="ko-KR"/>
              <a:t>. </a:t>
            </a:r>
            <a:r>
              <a:rPr lang="ko-KR" altLang="en-US"/>
              <a:t>블루프린트 기초</a:t>
            </a:r>
            <a:endParaRPr lang="ko-KR" alt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제목 3"/>
          <p:cNvSpPr>
            <a:spLocks noGrp="1"/>
          </p:cNvSpPr>
          <p:nvPr>
            <p:ph type="title"/>
          </p:nvPr>
        </p:nvSpPr>
        <p:spPr>
          <a:xfrm>
            <a:off x="55202" y="104895"/>
            <a:ext cx="8981294" cy="414343"/>
          </a:xfrm>
        </p:spPr>
        <p:txBody>
          <a:bodyPr/>
          <a:lstStyle/>
          <a:p>
            <a:r>
              <a:rPr lang="ko-KR" altLang="en-US" dirty="0" err="1"/>
              <a:t>액터</a:t>
            </a:r>
            <a:r>
              <a:rPr lang="ko-KR" altLang="en-US" dirty="0"/>
              <a:t> 움직이기</a:t>
            </a:r>
            <a:endParaRPr lang="en-US" dirty="0"/>
          </a:p>
        </p:txBody>
      </p:sp>
      <p:sp>
        <p:nvSpPr>
          <p:cNvPr id="5" name="내용 개체 틀 4"/>
          <p:cNvSpPr>
            <a:spLocks noGrp="1"/>
          </p:cNvSpPr>
          <p:nvPr>
            <p:ph idx="1"/>
          </p:nvPr>
        </p:nvSpPr>
        <p:spPr>
          <a:xfrm>
            <a:off x="55202" y="618982"/>
            <a:ext cx="8981294" cy="4275028"/>
          </a:xfrm>
        </p:spPr>
        <p:txBody>
          <a:bodyPr/>
          <a:lstStyle/>
          <a:p>
            <a:r>
              <a:rPr lang="ko-KR" altLang="en-US" dirty="0"/>
              <a:t>정육면체 모양의 </a:t>
            </a:r>
            <a:r>
              <a:rPr lang="ko-KR" altLang="en-US" dirty="0" err="1"/>
              <a:t>액터가</a:t>
            </a:r>
            <a:r>
              <a:rPr lang="ko-KR" altLang="en-US" dirty="0"/>
              <a:t> 공중에서 위아래로 움직이면서 떠 있게 하려면</a:t>
            </a:r>
            <a:r>
              <a:rPr lang="en-US" altLang="ko-KR" dirty="0"/>
              <a:t>?</a:t>
            </a:r>
          </a:p>
          <a:p>
            <a:pPr lvl="2"/>
            <a:r>
              <a:rPr lang="ko-KR" altLang="en-US" dirty="0" err="1"/>
              <a:t>액터의</a:t>
            </a:r>
            <a:r>
              <a:rPr lang="ko-KR" altLang="en-US" dirty="0"/>
              <a:t> 운동 </a:t>
            </a:r>
            <a:r>
              <a:rPr lang="ko-KR" altLang="en-US" dirty="0" err="1"/>
              <a:t>로직을</a:t>
            </a:r>
            <a:r>
              <a:rPr lang="ko-KR" altLang="en-US" dirty="0"/>
              <a:t> 프로그램으로 구현하면 됨</a:t>
            </a:r>
            <a:r>
              <a:rPr lang="en-US" altLang="ko-KR" dirty="0"/>
              <a:t>.</a:t>
            </a:r>
          </a:p>
          <a:p>
            <a:pPr lvl="2"/>
            <a:r>
              <a:rPr lang="en-US" dirty="0"/>
              <a:t>C</a:t>
            </a:r>
            <a:r>
              <a:rPr lang="en-US" altLang="ko-KR" dirty="0"/>
              <a:t>++</a:t>
            </a:r>
            <a:r>
              <a:rPr lang="ko-KR" altLang="en-US" dirty="0"/>
              <a:t> 과 같은 프로그래밍 언어를 사용</a:t>
            </a:r>
            <a:r>
              <a:rPr lang="en-US" altLang="ko-KR" dirty="0"/>
              <a:t>.</a:t>
            </a:r>
            <a:endParaRPr lang="en-US" dirty="0"/>
          </a:p>
        </p:txBody>
      </p:sp>
      <p:pic>
        <p:nvPicPr>
          <p:cNvPr id="2050" name="Picture 2">
            <a:extLst>
              <a:ext uri="{FF2B5EF4-FFF2-40B4-BE49-F238E27FC236}">
                <a16:creationId xmlns:a16="http://schemas.microsoft.com/office/drawing/2014/main" id="{0DA2AAB5-7147-D69D-1936-54EE157FF5F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4315" y="1780048"/>
            <a:ext cx="3800475" cy="2851150"/>
          </a:xfrm>
          <a:prstGeom prst="rect">
            <a:avLst/>
          </a:prstGeom>
          <a:noFill/>
          <a:ln>
            <a:noFill/>
          </a:ln>
          <a:effectLst>
            <a:outerShdw blurRad="292100" dist="139700" dir="2700000" algn="ctr" rotWithShape="0">
              <a:srgbClr val="000000">
                <a:alpha val="64999"/>
              </a:srgbClr>
            </a:outerShdw>
          </a:effectLst>
          <a:extLst>
            <a:ext uri="{909E8E84-426E-40DD-AFC4-6F175D3DCCD1}">
              <a14:hiddenFill xmlns:a14="http://schemas.microsoft.com/office/drawing/2010/main">
                <a:solidFill>
                  <a:srgbClr val="5B9BD5"/>
                </a:solidFill>
              </a14:hiddenFill>
            </a:ext>
            <a:ext uri="{91240B29-F687-4F45-9708-019B960494DF}">
              <a14:hiddenLine xmlns:a14="http://schemas.microsoft.com/office/drawing/2010/main" w="25400" algn="ctr">
                <a:solidFill>
                  <a:srgbClr val="000000"/>
                </a:solidFill>
                <a:round/>
                <a:headEnd/>
                <a:tailEnd/>
              </a14:hiddenLine>
            </a:ext>
          </a:extLst>
        </p:spPr>
      </p:pic>
      <p:sp>
        <p:nvSpPr>
          <p:cNvPr id="6" name="Text Box 3">
            <a:extLst>
              <a:ext uri="{FF2B5EF4-FFF2-40B4-BE49-F238E27FC236}">
                <a16:creationId xmlns:a16="http://schemas.microsoft.com/office/drawing/2014/main" id="{59A4CA5E-B5DA-79C6-35ED-60BFDCEBC2B3}"/>
              </a:ext>
            </a:extLst>
          </p:cNvPr>
          <p:cNvSpPr txBox="1">
            <a:spLocks noChangeArrowheads="1"/>
          </p:cNvSpPr>
          <p:nvPr/>
        </p:nvSpPr>
        <p:spPr bwMode="auto">
          <a:xfrm>
            <a:off x="4685982" y="2418080"/>
            <a:ext cx="3916998" cy="995363"/>
          </a:xfrm>
          <a:prstGeom prst="rect">
            <a:avLst/>
          </a:prstGeom>
          <a:solidFill>
            <a:srgbClr val="F3F3F3"/>
          </a:solidFill>
          <a:ln w="25400" algn="ctr">
            <a:solidFill>
              <a:srgbClr val="595959"/>
            </a:solidFill>
            <a:miter lim="800000"/>
            <a:headEnd/>
            <a:tailEnd/>
          </a:ln>
          <a:effectLst>
            <a:outerShdw blurRad="50800" dist="38100" dir="2700000" algn="tl" rotWithShape="0">
              <a:srgbClr val="000000">
                <a:alpha val="39999"/>
              </a:srgbClr>
            </a:outerShdw>
          </a:effectLst>
        </p:spPr>
        <p:txBody>
          <a:bodyPr vert="horz" wrap="square" lIns="36576" tIns="36576" rIns="36576" bIns="36576" numCol="1"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ko-KR" sz="1000" b="0" i="0" u="none" strike="noStrike" cap="none" normalizeH="0" baseline="0">
                <a:ln>
                  <a:noFill/>
                </a:ln>
                <a:solidFill>
                  <a:srgbClr val="000000"/>
                </a:solidFill>
                <a:effectLst/>
                <a:latin typeface="Consolas" panose="020B0609020204030204" pitchFamily="49" charset="0"/>
              </a:rPr>
              <a:t>for (int t = 0; t &lt; 200; 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ko-KR" sz="1000" b="0" i="0" u="none" strike="noStrike" cap="none" normalizeH="0" baseline="0">
                <a:ln>
                  <a:noFill/>
                </a:ln>
                <a:solidFill>
                  <a:srgbClr val="000000"/>
                </a:solidFill>
                <a:effectLst/>
                <a:latin typeface="Consolas" panose="020B0609020204030204"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ko-KR" sz="1000" b="0" i="0" u="none" strike="noStrike" cap="none" normalizeH="0" baseline="0">
                <a:ln>
                  <a:noFill/>
                </a:ln>
                <a:solidFill>
                  <a:srgbClr val="000000"/>
                </a:solidFill>
                <a:effectLst/>
                <a:latin typeface="Consolas" panose="020B0609020204030204" pitchFamily="49" charset="0"/>
              </a:rPr>
              <a:t>    float z = 100.0 * sin(t/100*2*3.141592) + 400.0;</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ko-KR" sz="1000" b="0" i="0" u="none" strike="noStrike" cap="none" normalizeH="0" baseline="0">
                <a:ln>
                  <a:noFill/>
                </a:ln>
                <a:solidFill>
                  <a:srgbClr val="000000"/>
                </a:solidFill>
                <a:effectLst/>
                <a:latin typeface="Consolas" panose="020B0609020204030204" pitchFamily="49" charset="0"/>
              </a:rPr>
              <a:t>    cube-&gt;set_z(z);</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ko-KR" sz="1000" b="0" i="0" u="none" strike="noStrike" cap="none" normalizeH="0" baseline="0">
                <a:ln>
                  <a:noFill/>
                </a:ln>
                <a:solidFill>
                  <a:srgbClr val="000000"/>
                </a:solidFill>
                <a:effectLst/>
                <a:latin typeface="Consolas" panose="020B0609020204030204" pitchFamily="49" charset="0"/>
              </a:rPr>
              <a:t>}</a:t>
            </a:r>
            <a:endParaRPr kumimoji="0" lang="ko-KR" altLang="ko-KR" sz="24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6641953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BDA2922-079D-4EC0-BCF5-8053049360E1}"/>
              </a:ext>
            </a:extLst>
          </p:cNvPr>
          <p:cNvSpPr>
            <a:spLocks noGrp="1"/>
          </p:cNvSpPr>
          <p:nvPr>
            <p:ph type="title"/>
          </p:nvPr>
        </p:nvSpPr>
        <p:spPr>
          <a:xfrm>
            <a:off x="55202" y="104895"/>
            <a:ext cx="8981294" cy="414343"/>
          </a:xfrm>
        </p:spPr>
        <p:txBody>
          <a:bodyPr wrap="square"/>
          <a:lstStyle/>
          <a:p>
            <a:r>
              <a:rPr lang="ko-KR" altLang="en-US"/>
              <a:t>블루프린트란</a:t>
            </a:r>
            <a:r>
              <a:rPr lang="en-US" altLang="ko-KR"/>
              <a:t>?</a:t>
            </a:r>
            <a:endParaRPr lang="ko-KR" altLang="en-US" dirty="0"/>
          </a:p>
        </p:txBody>
      </p:sp>
      <p:sp>
        <p:nvSpPr>
          <p:cNvPr id="3" name="내용 개체 틀 2">
            <a:extLst>
              <a:ext uri="{FF2B5EF4-FFF2-40B4-BE49-F238E27FC236}">
                <a16:creationId xmlns:a16="http://schemas.microsoft.com/office/drawing/2014/main" id="{79B0F421-0FE8-44AE-86B6-151D0625309C}"/>
              </a:ext>
            </a:extLst>
          </p:cNvPr>
          <p:cNvSpPr>
            <a:spLocks noGrp="1"/>
          </p:cNvSpPr>
          <p:nvPr>
            <p:ph idx="1"/>
          </p:nvPr>
        </p:nvSpPr>
        <p:spPr>
          <a:xfrm>
            <a:off x="55202" y="618982"/>
            <a:ext cx="8981294" cy="4275028"/>
          </a:xfrm>
        </p:spPr>
        <p:txBody>
          <a:bodyPr wrap="square"/>
          <a:lstStyle/>
          <a:p>
            <a:r>
              <a:rPr lang="ko-KR" altLang="en-US"/>
              <a:t>언리얼 엔진이 제공하는 비주얼 스크립팅 시스템</a:t>
            </a:r>
            <a:endParaRPr lang="ko-KR" altLang="en-US" dirty="0"/>
          </a:p>
          <a:p>
            <a:r>
              <a:rPr lang="ko-KR" altLang="en-US"/>
              <a:t>버전 </a:t>
            </a:r>
            <a:r>
              <a:rPr lang="en-US" altLang="ko-KR"/>
              <a:t>4</a:t>
            </a:r>
            <a:r>
              <a:rPr lang="ko-KR" altLang="en-US"/>
              <a:t>부터 본격적으로 사용</a:t>
            </a:r>
          </a:p>
          <a:p>
            <a:r>
              <a:rPr lang="ko-KR" altLang="en-US"/>
              <a:t>개발자</a:t>
            </a:r>
            <a:r>
              <a:rPr lang="en-US" altLang="ko-KR"/>
              <a:t>, </a:t>
            </a:r>
            <a:r>
              <a:rPr lang="ko-KR" altLang="en-US"/>
              <a:t>기획자</a:t>
            </a:r>
            <a:r>
              <a:rPr lang="en-US" altLang="ko-KR"/>
              <a:t>, </a:t>
            </a:r>
            <a:r>
              <a:rPr lang="ko-KR" altLang="en-US"/>
              <a:t>디자이너 모두가 게임 개발에 참여할 수 있도록 설계</a:t>
            </a:r>
          </a:p>
          <a:p>
            <a:r>
              <a:rPr lang="ko-KR" altLang="en-US"/>
              <a:t>성능이 중요한 부분은 </a:t>
            </a:r>
            <a:r>
              <a:rPr lang="en-US" altLang="ko-KR"/>
              <a:t>C++</a:t>
            </a:r>
            <a:r>
              <a:rPr lang="ko-KR" altLang="en-US"/>
              <a:t>로</a:t>
            </a:r>
            <a:r>
              <a:rPr lang="en-US" altLang="ko-KR"/>
              <a:t>, </a:t>
            </a:r>
            <a:r>
              <a:rPr lang="ko-KR" altLang="en-US"/>
              <a:t>나머지는 블루프린트로 개발하는 하이브리드 방식 권장</a:t>
            </a:r>
          </a:p>
        </p:txBody>
      </p:sp>
      <p:pic>
        <p:nvPicPr>
          <p:cNvPr id="4" name="Picture 2">
            <a:extLst>
              <a:ext uri="{FF2B5EF4-FFF2-40B4-BE49-F238E27FC236}">
                <a16:creationId xmlns:a16="http://schemas.microsoft.com/office/drawing/2014/main" id="{8BF24BA6-0D0C-AC94-35D3-BD395E3B709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735" y="2182127"/>
            <a:ext cx="9068228" cy="2491890"/>
          </a:xfrm>
          <a:prstGeom prst="rect">
            <a:avLst/>
          </a:prstGeom>
          <a:noFill/>
          <a:ln>
            <a:noFill/>
          </a:ln>
          <a:effectLst/>
          <a:extLst>
            <a:ext uri="{909E8E84-426E-40DD-AFC4-6F175D3DCCD1}">
              <a14:hiddenFill xmlns:a14="http://schemas.microsoft.com/office/drawing/2010/main">
                <a:solidFill>
                  <a:srgbClr val="5B9BD5"/>
                </a:solidFill>
              </a14:hiddenFill>
            </a:ext>
            <a:ext uri="{91240B29-F687-4F45-9708-019B960494DF}">
              <a14:hiddenLine xmlns:a14="http://schemas.microsoft.com/office/drawing/2010/main" w="25400"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000000"/>
                  </a:outerShdw>
                </a:effectLst>
              </a14:hiddenEffects>
            </a:ext>
          </a:extLst>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BDA2922-079D-4EC0-BCF5-8053049360E1}"/>
              </a:ext>
            </a:extLst>
          </p:cNvPr>
          <p:cNvSpPr>
            <a:spLocks noGrp="1"/>
          </p:cNvSpPr>
          <p:nvPr>
            <p:ph type="title"/>
          </p:nvPr>
        </p:nvSpPr>
        <p:spPr>
          <a:xfrm>
            <a:off x="55202" y="104895"/>
            <a:ext cx="8981294" cy="414343"/>
          </a:xfrm>
        </p:spPr>
        <p:txBody>
          <a:bodyPr wrap="square"/>
          <a:lstStyle/>
          <a:p>
            <a:r>
              <a:rPr lang="ko-KR" altLang="en-US"/>
              <a:t>블루프린트의 특징 </a:t>
            </a:r>
            <a:r>
              <a:rPr lang="en-US" altLang="ko-KR"/>
              <a:t>- </a:t>
            </a:r>
            <a:r>
              <a:rPr lang="ko-KR" altLang="en-US"/>
              <a:t>비주얼 언어</a:t>
            </a:r>
            <a:endParaRPr lang="ko-KR" altLang="en-US" dirty="0"/>
          </a:p>
        </p:txBody>
      </p:sp>
      <p:sp>
        <p:nvSpPr>
          <p:cNvPr id="3" name="내용 개체 틀 2">
            <a:extLst>
              <a:ext uri="{FF2B5EF4-FFF2-40B4-BE49-F238E27FC236}">
                <a16:creationId xmlns:a16="http://schemas.microsoft.com/office/drawing/2014/main" id="{79B0F421-0FE8-44AE-86B6-151D0625309C}"/>
              </a:ext>
            </a:extLst>
          </p:cNvPr>
          <p:cNvSpPr>
            <a:spLocks noGrp="1"/>
          </p:cNvSpPr>
          <p:nvPr>
            <p:ph idx="1"/>
          </p:nvPr>
        </p:nvSpPr>
        <p:spPr>
          <a:xfrm>
            <a:off x="55202" y="618982"/>
            <a:ext cx="8981294" cy="4275028"/>
          </a:xfrm>
        </p:spPr>
        <p:txBody>
          <a:bodyPr wrap="square"/>
          <a:lstStyle/>
          <a:p>
            <a:r>
              <a:rPr lang="ko-KR" altLang="en-US"/>
              <a:t>텍스트 기반 언어</a:t>
            </a:r>
            <a:r>
              <a:rPr lang="en-US" altLang="ko-KR"/>
              <a:t>(C++, </a:t>
            </a:r>
            <a:r>
              <a:rPr lang="ko-KR" altLang="en-US"/>
              <a:t>파이썬</a:t>
            </a:r>
            <a:r>
              <a:rPr lang="en-US" altLang="ko-KR"/>
              <a:t>)</a:t>
            </a:r>
            <a:r>
              <a:rPr lang="ko-KR" altLang="en-US"/>
              <a:t>와 달리 그림으로 로직을 구성</a:t>
            </a:r>
            <a:endParaRPr lang="ko-KR" altLang="en-US" dirty="0"/>
          </a:p>
          <a:p>
            <a:r>
              <a:rPr lang="ko-KR" altLang="en-US"/>
              <a:t>사각형 노드와 이를 연결하는 와이어로 구성</a:t>
            </a:r>
          </a:p>
          <a:p>
            <a:r>
              <a:rPr lang="ko-KR" altLang="en-US"/>
              <a:t>노드와 와이어의 집합을 블루프린트 그래프라고 부름</a:t>
            </a:r>
          </a:p>
          <a:p>
            <a:r>
              <a:rPr lang="ko-KR" altLang="en-US"/>
              <a:t>실행 흐름을 시각적으로 확인할 수 있어 디버깅이 용이</a:t>
            </a:r>
          </a:p>
        </p:txBody>
      </p:sp>
      <p:pic>
        <p:nvPicPr>
          <p:cNvPr id="4" name="그림 3">
            <a:extLst>
              <a:ext uri="{FF2B5EF4-FFF2-40B4-BE49-F238E27FC236}">
                <a16:creationId xmlns:a16="http://schemas.microsoft.com/office/drawing/2014/main" id="{B6677344-5388-F155-DE10-918FBAFAF810}"/>
              </a:ext>
            </a:extLst>
          </p:cNvPr>
          <p:cNvPicPr>
            <a:picLocks noChangeAspect="1"/>
          </p:cNvPicPr>
          <p:nvPr/>
        </p:nvPicPr>
        <p:blipFill>
          <a:blip r:embed="rId3"/>
          <a:stretch>
            <a:fillRect/>
          </a:stretch>
        </p:blipFill>
        <p:spPr>
          <a:xfrm>
            <a:off x="965933" y="2180191"/>
            <a:ext cx="6111417" cy="2423665"/>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BDA2922-079D-4EC0-BCF5-8053049360E1}"/>
              </a:ext>
            </a:extLst>
          </p:cNvPr>
          <p:cNvSpPr>
            <a:spLocks noGrp="1"/>
          </p:cNvSpPr>
          <p:nvPr>
            <p:ph type="title"/>
          </p:nvPr>
        </p:nvSpPr>
        <p:spPr>
          <a:xfrm>
            <a:off x="55202" y="104895"/>
            <a:ext cx="8981294" cy="414343"/>
          </a:xfrm>
        </p:spPr>
        <p:txBody>
          <a:bodyPr wrap="square"/>
          <a:lstStyle/>
          <a:p>
            <a:r>
              <a:rPr lang="ko-KR" altLang="en-US"/>
              <a:t>블루프린트의 특징 </a:t>
            </a:r>
            <a:r>
              <a:rPr lang="en-US" altLang="ko-KR"/>
              <a:t>- </a:t>
            </a:r>
            <a:r>
              <a:rPr lang="ko-KR" altLang="en-US"/>
              <a:t>스크립팅</a:t>
            </a:r>
            <a:r>
              <a:rPr lang="en-US" altLang="ko-KR"/>
              <a:t>(</a:t>
            </a:r>
            <a:r>
              <a:rPr lang="ko-KR" altLang="en-US"/>
              <a:t>인터프리터</a:t>
            </a:r>
            <a:r>
              <a:rPr lang="en-US" altLang="ko-KR"/>
              <a:t>) </a:t>
            </a:r>
            <a:r>
              <a:rPr lang="ko-KR" altLang="en-US"/>
              <a:t>언어</a:t>
            </a:r>
            <a:endParaRPr lang="ko-KR" altLang="en-US" dirty="0"/>
          </a:p>
        </p:txBody>
      </p:sp>
      <p:sp>
        <p:nvSpPr>
          <p:cNvPr id="3" name="내용 개체 틀 2">
            <a:extLst>
              <a:ext uri="{FF2B5EF4-FFF2-40B4-BE49-F238E27FC236}">
                <a16:creationId xmlns:a16="http://schemas.microsoft.com/office/drawing/2014/main" id="{79B0F421-0FE8-44AE-86B6-151D0625309C}"/>
              </a:ext>
            </a:extLst>
          </p:cNvPr>
          <p:cNvSpPr>
            <a:spLocks noGrp="1"/>
          </p:cNvSpPr>
          <p:nvPr>
            <p:ph idx="1"/>
          </p:nvPr>
        </p:nvSpPr>
        <p:spPr>
          <a:xfrm>
            <a:off x="55202" y="618982"/>
            <a:ext cx="8981294" cy="4275028"/>
          </a:xfrm>
        </p:spPr>
        <p:txBody>
          <a:bodyPr wrap="square"/>
          <a:lstStyle/>
          <a:p>
            <a:r>
              <a:rPr lang="ko-KR" altLang="en-US"/>
              <a:t>컴파일러 기반 언어</a:t>
            </a:r>
            <a:r>
              <a:rPr lang="en-US" altLang="ko-KR"/>
              <a:t>(C++)</a:t>
            </a:r>
            <a:r>
              <a:rPr lang="ko-KR" altLang="en-US"/>
              <a:t>와 달리 코드를 작성하면 즉시 실행되는 인터프리터 방식</a:t>
            </a:r>
            <a:endParaRPr lang="ko-KR" altLang="en-US" dirty="0"/>
          </a:p>
          <a:p>
            <a:r>
              <a:rPr lang="ko-KR" altLang="en-US"/>
              <a:t>빌드 과정 없이 곧바로 결과 확인 가능</a:t>
            </a:r>
          </a:p>
          <a:p>
            <a:r>
              <a:rPr lang="ko-KR" altLang="en-US"/>
              <a:t>블루프린트의 컴파일 버튼은 </a:t>
            </a:r>
            <a:r>
              <a:rPr lang="en-US" altLang="ko-KR"/>
              <a:t>C++</a:t>
            </a:r>
            <a:r>
              <a:rPr lang="ko-KR" altLang="en-US"/>
              <a:t>의 컴파일과는 다른 개념</a:t>
            </a:r>
          </a:p>
          <a:p>
            <a:r>
              <a:rPr lang="ko-KR" altLang="en-US"/>
              <a:t>그래프 수정 후에는 반드시 저장과 컴파일 필요</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BDA2922-079D-4EC0-BCF5-8053049360E1}"/>
              </a:ext>
            </a:extLst>
          </p:cNvPr>
          <p:cNvSpPr>
            <a:spLocks noGrp="1"/>
          </p:cNvSpPr>
          <p:nvPr>
            <p:ph type="title"/>
          </p:nvPr>
        </p:nvSpPr>
        <p:spPr>
          <a:xfrm>
            <a:off x="55202" y="104895"/>
            <a:ext cx="8981294" cy="414343"/>
          </a:xfrm>
        </p:spPr>
        <p:txBody>
          <a:bodyPr wrap="square"/>
          <a:lstStyle/>
          <a:p>
            <a:r>
              <a:rPr lang="ko-KR" altLang="en-US"/>
              <a:t>블루프린트의 장점과 단점</a:t>
            </a:r>
            <a:endParaRPr lang="ko-KR" altLang="en-US" dirty="0"/>
          </a:p>
        </p:txBody>
      </p:sp>
      <p:sp>
        <p:nvSpPr>
          <p:cNvPr id="3" name="내용 개체 틀 2">
            <a:extLst>
              <a:ext uri="{FF2B5EF4-FFF2-40B4-BE49-F238E27FC236}">
                <a16:creationId xmlns:a16="http://schemas.microsoft.com/office/drawing/2014/main" id="{79B0F421-0FE8-44AE-86B6-151D0625309C}"/>
              </a:ext>
            </a:extLst>
          </p:cNvPr>
          <p:cNvSpPr>
            <a:spLocks noGrp="1"/>
          </p:cNvSpPr>
          <p:nvPr>
            <p:ph idx="1"/>
          </p:nvPr>
        </p:nvSpPr>
        <p:spPr>
          <a:xfrm>
            <a:off x="55202" y="618982"/>
            <a:ext cx="8981294" cy="4275028"/>
          </a:xfrm>
        </p:spPr>
        <p:txBody>
          <a:bodyPr wrap="square"/>
          <a:lstStyle/>
          <a:p>
            <a:r>
              <a:rPr lang="ko-KR" altLang="en-US"/>
              <a:t>단점</a:t>
            </a:r>
            <a:endParaRPr lang="en-US" altLang="ko-KR"/>
          </a:p>
          <a:p>
            <a:pPr lvl="1"/>
            <a:r>
              <a:rPr lang="en-US" altLang="ko-KR"/>
              <a:t>C++</a:t>
            </a:r>
            <a:r>
              <a:rPr lang="ko-KR" altLang="en-US"/>
              <a:t>보다 </a:t>
            </a:r>
            <a:r>
              <a:rPr lang="en-US" altLang="ko-KR"/>
              <a:t>5~30</a:t>
            </a:r>
            <a:r>
              <a:rPr lang="ko-KR" altLang="en-US"/>
              <a:t>배가량 느린 실행 속도</a:t>
            </a:r>
            <a:r>
              <a:rPr lang="en-US" altLang="ko-KR"/>
              <a:t>(</a:t>
            </a:r>
            <a:r>
              <a:rPr lang="ko-KR" altLang="en-US"/>
              <a:t>가상 머신 기반</a:t>
            </a:r>
            <a:r>
              <a:rPr lang="en-US" altLang="ko-KR"/>
              <a:t>)</a:t>
            </a:r>
            <a:endParaRPr lang="ko-KR" altLang="en-US" dirty="0"/>
          </a:p>
          <a:p>
            <a:pPr lvl="1"/>
            <a:r>
              <a:rPr lang="ko-KR" altLang="en-US"/>
              <a:t>일부 저수준 기능은 </a:t>
            </a:r>
            <a:r>
              <a:rPr lang="en-US" altLang="ko-KR"/>
              <a:t>C++</a:t>
            </a:r>
            <a:r>
              <a:rPr lang="ko-KR" altLang="en-US"/>
              <a:t>로만 접근 가능</a:t>
            </a:r>
          </a:p>
          <a:p>
            <a:r>
              <a:rPr lang="ko-KR" altLang="en-US"/>
              <a:t>장점</a:t>
            </a:r>
            <a:endParaRPr lang="en-US" altLang="ko-KR"/>
          </a:p>
          <a:p>
            <a:pPr lvl="1"/>
            <a:r>
              <a:rPr lang="ko-KR" altLang="en-US"/>
              <a:t>빠른 프로토타이핑</a:t>
            </a:r>
            <a:r>
              <a:rPr lang="en-US" altLang="ko-KR"/>
              <a:t>, </a:t>
            </a:r>
            <a:r>
              <a:rPr lang="ko-KR" altLang="en-US"/>
              <a:t>캐주얼 게임은 블루프린트만으로도 상용화 가능</a:t>
            </a:r>
          </a:p>
          <a:p>
            <a:pPr lvl="1"/>
            <a:r>
              <a:rPr lang="ko-KR" altLang="en-US"/>
              <a:t>블루프린트 로직을 </a:t>
            </a:r>
            <a:r>
              <a:rPr lang="en-US" altLang="ko-KR"/>
              <a:t>C++</a:t>
            </a:r>
            <a:r>
              <a:rPr lang="ko-KR" altLang="en-US"/>
              <a:t>로 변환하는 방법도 존재</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BDA2922-079D-4EC0-BCF5-8053049360E1}"/>
              </a:ext>
            </a:extLst>
          </p:cNvPr>
          <p:cNvSpPr>
            <a:spLocks noGrp="1"/>
          </p:cNvSpPr>
          <p:nvPr>
            <p:ph type="title"/>
          </p:nvPr>
        </p:nvSpPr>
        <p:spPr>
          <a:xfrm>
            <a:off x="55202" y="104895"/>
            <a:ext cx="8981294" cy="414343"/>
          </a:xfrm>
        </p:spPr>
        <p:txBody>
          <a:bodyPr wrap="square"/>
          <a:lstStyle/>
          <a:p>
            <a:r>
              <a:rPr lang="ko-KR" altLang="en-US"/>
              <a:t>블루프린트 그래프의 구성 요소 </a:t>
            </a:r>
            <a:r>
              <a:rPr lang="en-US" altLang="ko-KR"/>
              <a:t>- </a:t>
            </a:r>
            <a:r>
              <a:rPr lang="ko-KR" altLang="en-US"/>
              <a:t>노드</a:t>
            </a:r>
            <a:endParaRPr lang="ko-KR" altLang="en-US" dirty="0"/>
          </a:p>
        </p:txBody>
      </p:sp>
      <p:sp>
        <p:nvSpPr>
          <p:cNvPr id="3" name="내용 개체 틀 2">
            <a:extLst>
              <a:ext uri="{FF2B5EF4-FFF2-40B4-BE49-F238E27FC236}">
                <a16:creationId xmlns:a16="http://schemas.microsoft.com/office/drawing/2014/main" id="{79B0F421-0FE8-44AE-86B6-151D0625309C}"/>
              </a:ext>
            </a:extLst>
          </p:cNvPr>
          <p:cNvSpPr>
            <a:spLocks noGrp="1"/>
          </p:cNvSpPr>
          <p:nvPr>
            <p:ph idx="1"/>
          </p:nvPr>
        </p:nvSpPr>
        <p:spPr>
          <a:xfrm>
            <a:off x="55202" y="618982"/>
            <a:ext cx="8981294" cy="1644158"/>
          </a:xfrm>
        </p:spPr>
        <p:txBody>
          <a:bodyPr wrap="square"/>
          <a:lstStyle/>
          <a:p>
            <a:r>
              <a:rPr lang="ko-KR" altLang="en-US"/>
              <a:t>이벤트 노드</a:t>
            </a:r>
            <a:r>
              <a:rPr lang="en-US" altLang="ko-KR"/>
              <a:t>: </a:t>
            </a:r>
            <a:r>
              <a:rPr lang="ko-KR" altLang="en-US"/>
              <a:t>어떤 사건의 발생을 알림 </a:t>
            </a:r>
            <a:r>
              <a:rPr lang="en-US" altLang="ko-KR"/>
              <a:t>(</a:t>
            </a:r>
            <a:r>
              <a:rPr lang="ko-KR" altLang="en-US"/>
              <a:t>예</a:t>
            </a:r>
            <a:r>
              <a:rPr lang="en-US" altLang="ko-KR"/>
              <a:t>: </a:t>
            </a:r>
            <a:r>
              <a:rPr lang="ko-KR" altLang="en-US"/>
              <a:t>충돌</a:t>
            </a:r>
            <a:r>
              <a:rPr lang="en-US" altLang="ko-KR"/>
              <a:t>, </a:t>
            </a:r>
            <a:r>
              <a:rPr lang="ko-KR" altLang="en-US"/>
              <a:t>피격</a:t>
            </a:r>
            <a:r>
              <a:rPr lang="en-US" altLang="ko-KR"/>
              <a:t>)</a:t>
            </a:r>
            <a:endParaRPr lang="ko-KR" altLang="en-US" dirty="0"/>
          </a:p>
          <a:p>
            <a:r>
              <a:rPr lang="ko-KR" altLang="en-US"/>
              <a:t>함수 노드</a:t>
            </a:r>
            <a:r>
              <a:rPr lang="en-US" altLang="ko-KR"/>
              <a:t>: </a:t>
            </a:r>
            <a:r>
              <a:rPr lang="ko-KR" altLang="en-US"/>
              <a:t>입력을 처리해 결과를 반환 </a:t>
            </a:r>
            <a:r>
              <a:rPr lang="en-US" altLang="ko-KR"/>
              <a:t>(</a:t>
            </a:r>
            <a:r>
              <a:rPr lang="ko-KR" altLang="en-US"/>
              <a:t>예</a:t>
            </a:r>
            <a:r>
              <a:rPr lang="en-US" altLang="ko-KR"/>
              <a:t>: SetActorLocation)</a:t>
            </a:r>
          </a:p>
          <a:p>
            <a:r>
              <a:rPr lang="ko-KR" altLang="en-US"/>
              <a:t>연산 노드</a:t>
            </a:r>
            <a:r>
              <a:rPr lang="en-US" altLang="ko-KR"/>
              <a:t>: </a:t>
            </a:r>
            <a:r>
              <a:rPr lang="ko-KR" altLang="en-US"/>
              <a:t>더하기</a:t>
            </a:r>
            <a:r>
              <a:rPr lang="en-US" altLang="ko-KR"/>
              <a:t>, </a:t>
            </a:r>
            <a:r>
              <a:rPr lang="ko-KR" altLang="en-US"/>
              <a:t>곱하기 등 계산 수행</a:t>
            </a:r>
          </a:p>
          <a:p>
            <a:r>
              <a:rPr lang="ko-KR" altLang="en-US"/>
              <a:t>분기 노드</a:t>
            </a:r>
            <a:r>
              <a:rPr lang="en-US" altLang="ko-KR"/>
              <a:t>: </a:t>
            </a:r>
            <a:r>
              <a:rPr lang="ko-KR" altLang="en-US"/>
              <a:t>노드의 실행 흐름 제어</a:t>
            </a:r>
            <a:r>
              <a:rPr lang="en-US" altLang="ko-KR"/>
              <a:t>(Branch, ForLoop)</a:t>
            </a:r>
          </a:p>
          <a:p>
            <a:r>
              <a:rPr lang="ko-KR" altLang="en-US"/>
              <a:t>변수 노드</a:t>
            </a:r>
            <a:r>
              <a:rPr lang="en-US" altLang="ko-KR"/>
              <a:t>: </a:t>
            </a:r>
            <a:r>
              <a:rPr lang="ko-KR" altLang="en-US"/>
              <a:t>변수값의 설정과 획득</a:t>
            </a:r>
            <a:r>
              <a:rPr lang="en-US" altLang="ko-KR"/>
              <a:t>(Get/Set)</a:t>
            </a:r>
          </a:p>
        </p:txBody>
      </p:sp>
      <p:pic>
        <p:nvPicPr>
          <p:cNvPr id="4" name="Picture 2">
            <a:extLst>
              <a:ext uri="{FF2B5EF4-FFF2-40B4-BE49-F238E27FC236}">
                <a16:creationId xmlns:a16="http://schemas.microsoft.com/office/drawing/2014/main" id="{C068B205-F599-1C7F-E1C0-B49AD238F01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89648" y="2470616"/>
            <a:ext cx="7091362" cy="2329568"/>
          </a:xfrm>
          <a:prstGeom prst="rect">
            <a:avLst/>
          </a:prstGeom>
          <a:noFill/>
          <a:ln>
            <a:noFill/>
          </a:ln>
          <a:effectLst/>
          <a:extLst>
            <a:ext uri="{909E8E84-426E-40DD-AFC4-6F175D3DCCD1}">
              <a14:hiddenFill xmlns:a14="http://schemas.microsoft.com/office/drawing/2010/main">
                <a:solidFill>
                  <a:srgbClr val="5B9BD5"/>
                </a:solidFill>
              </a14:hiddenFill>
            </a:ext>
            <a:ext uri="{91240B29-F687-4F45-9708-019B960494DF}">
              <a14:hiddenLine xmlns:a14="http://schemas.microsoft.com/office/drawing/2010/main" w="25400"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000000"/>
                  </a:outerShdw>
                </a:effectLst>
              </a14:hiddenEffects>
            </a:ext>
          </a:extLst>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BDA2922-079D-4EC0-BCF5-8053049360E1}"/>
              </a:ext>
            </a:extLst>
          </p:cNvPr>
          <p:cNvSpPr>
            <a:spLocks noGrp="1"/>
          </p:cNvSpPr>
          <p:nvPr>
            <p:ph type="title"/>
          </p:nvPr>
        </p:nvSpPr>
        <p:spPr>
          <a:xfrm>
            <a:off x="55202" y="104895"/>
            <a:ext cx="8981294" cy="414343"/>
          </a:xfrm>
        </p:spPr>
        <p:txBody>
          <a:bodyPr wrap="square"/>
          <a:lstStyle/>
          <a:p>
            <a:r>
              <a:rPr lang="ko-KR" altLang="en-US"/>
              <a:t>블루프린트 그래프의 구성 요소 </a:t>
            </a:r>
            <a:r>
              <a:rPr lang="en-US" altLang="ko-KR"/>
              <a:t>- </a:t>
            </a:r>
            <a:r>
              <a:rPr lang="ko-KR" altLang="en-US"/>
              <a:t>핀</a:t>
            </a:r>
            <a:endParaRPr lang="ko-KR" altLang="en-US" dirty="0"/>
          </a:p>
        </p:txBody>
      </p:sp>
      <p:sp>
        <p:nvSpPr>
          <p:cNvPr id="3" name="내용 개체 틀 2">
            <a:extLst>
              <a:ext uri="{FF2B5EF4-FFF2-40B4-BE49-F238E27FC236}">
                <a16:creationId xmlns:a16="http://schemas.microsoft.com/office/drawing/2014/main" id="{79B0F421-0FE8-44AE-86B6-151D0625309C}"/>
              </a:ext>
            </a:extLst>
          </p:cNvPr>
          <p:cNvSpPr>
            <a:spLocks noGrp="1"/>
          </p:cNvSpPr>
          <p:nvPr>
            <p:ph idx="1"/>
          </p:nvPr>
        </p:nvSpPr>
        <p:spPr>
          <a:xfrm>
            <a:off x="55202" y="618982"/>
            <a:ext cx="8981294" cy="414343"/>
          </a:xfrm>
        </p:spPr>
        <p:txBody>
          <a:bodyPr wrap="square"/>
          <a:lstStyle/>
          <a:p>
            <a:r>
              <a:rPr lang="ko-KR" altLang="en-US"/>
              <a:t>실행 핀</a:t>
            </a:r>
            <a:r>
              <a:rPr lang="en-US" altLang="ko-KR"/>
              <a:t>: </a:t>
            </a:r>
            <a:r>
              <a:rPr lang="ko-KR" altLang="en-US"/>
              <a:t>흰색 오각형</a:t>
            </a:r>
            <a:r>
              <a:rPr lang="en-US" altLang="ko-KR"/>
              <a:t>, </a:t>
            </a:r>
            <a:r>
              <a:rPr lang="ko-KR" altLang="en-US"/>
              <a:t>노드 상단 좌우 위치</a:t>
            </a:r>
            <a:r>
              <a:rPr lang="en-US" altLang="ko-KR"/>
              <a:t>, </a:t>
            </a:r>
            <a:r>
              <a:rPr lang="ko-KR" altLang="en-US"/>
              <a:t>실행 순서</a:t>
            </a:r>
            <a:r>
              <a:rPr lang="en-US" altLang="ko-KR"/>
              <a:t>(</a:t>
            </a:r>
            <a:r>
              <a:rPr lang="ko-KR" altLang="en-US"/>
              <a:t>흐름</a:t>
            </a:r>
            <a:r>
              <a:rPr lang="en-US" altLang="ko-KR"/>
              <a:t>)</a:t>
            </a:r>
            <a:r>
              <a:rPr lang="ko-KR" altLang="en-US"/>
              <a:t>를 표현</a:t>
            </a:r>
            <a:endParaRPr lang="ko-KR" altLang="en-US" dirty="0"/>
          </a:p>
        </p:txBody>
      </p:sp>
      <p:pic>
        <p:nvPicPr>
          <p:cNvPr id="5" name="그림 4">
            <a:extLst>
              <a:ext uri="{FF2B5EF4-FFF2-40B4-BE49-F238E27FC236}">
                <a16:creationId xmlns:a16="http://schemas.microsoft.com/office/drawing/2014/main" id="{7F199E93-C9E0-B8EB-35D1-08CAEB5A4282}"/>
              </a:ext>
            </a:extLst>
          </p:cNvPr>
          <p:cNvPicPr>
            <a:picLocks noChangeAspect="1"/>
          </p:cNvPicPr>
          <p:nvPr/>
        </p:nvPicPr>
        <p:blipFill>
          <a:blip r:embed="rId3"/>
          <a:stretch>
            <a:fillRect/>
          </a:stretch>
        </p:blipFill>
        <p:spPr>
          <a:xfrm>
            <a:off x="2337121" y="1569567"/>
            <a:ext cx="3549924" cy="2415693"/>
          </a:xfrm>
          <a:prstGeom prst="rect">
            <a:avLst/>
          </a:prstGeom>
        </p:spPr>
      </p:pic>
      <p:sp>
        <p:nvSpPr>
          <p:cNvPr id="6" name="타원 5">
            <a:extLst>
              <a:ext uri="{FF2B5EF4-FFF2-40B4-BE49-F238E27FC236}">
                <a16:creationId xmlns:a16="http://schemas.microsoft.com/office/drawing/2014/main" id="{8F8BEC29-70F5-6598-6E24-8D9787E244DC}"/>
              </a:ext>
            </a:extLst>
          </p:cNvPr>
          <p:cNvSpPr/>
          <p:nvPr/>
        </p:nvSpPr>
        <p:spPr bwMode="auto">
          <a:xfrm>
            <a:off x="2435312" y="2114468"/>
            <a:ext cx="304154" cy="320697"/>
          </a:xfrm>
          <a:prstGeom prst="ellipse">
            <a:avLst/>
          </a:prstGeom>
          <a:noFill/>
          <a:ln w="28575" cap="rnd" cmpd="sng" algn="ctr">
            <a:solidFill>
              <a:srgbClr val="FFFF00"/>
            </a:solidFill>
            <a:prstDash val="sysDash"/>
            <a:round/>
            <a:headEnd type="none" w="med" len="med"/>
            <a:tailEnd type="none" w="med" len="med"/>
          </a:ln>
          <a:effectLst/>
        </p:spPr>
        <p:txBody>
          <a:bodyPr vert="horz" wrap="square" lIns="68580" tIns="34290" rIns="68580" bIns="34290" numCol="1" rtlCol="0" anchor="t" anchorCtr="0" compatLnSpc="1">
            <a:prstTxWarp prst="textNoShape">
              <a:avLst/>
            </a:prstTxWarp>
          </a:bodyPr>
          <a:lstStyle/>
          <a:p>
            <a:pPr algn="ctr" defTabSz="685800" fontAlgn="base">
              <a:spcBef>
                <a:spcPct val="0"/>
              </a:spcBef>
              <a:spcAft>
                <a:spcPct val="0"/>
              </a:spcAft>
            </a:pPr>
            <a:endParaRPr kumimoji="1" lang="en-US" sz="1350">
              <a:latin typeface="Tahoma" pitchFamily="34" charset="0"/>
              <a:ea typeface="나눔고딕" pitchFamily="50" charset="-127"/>
              <a:cs typeface="조선일보명조"/>
            </a:endParaRPr>
          </a:p>
        </p:txBody>
      </p:sp>
      <p:sp>
        <p:nvSpPr>
          <p:cNvPr id="7" name="타원 6">
            <a:extLst>
              <a:ext uri="{FF2B5EF4-FFF2-40B4-BE49-F238E27FC236}">
                <a16:creationId xmlns:a16="http://schemas.microsoft.com/office/drawing/2014/main" id="{0EE4F391-81D3-E397-EFFD-442278FA82E8}"/>
              </a:ext>
            </a:extLst>
          </p:cNvPr>
          <p:cNvSpPr/>
          <p:nvPr/>
        </p:nvSpPr>
        <p:spPr bwMode="auto">
          <a:xfrm>
            <a:off x="5453450" y="2133395"/>
            <a:ext cx="304154" cy="320697"/>
          </a:xfrm>
          <a:prstGeom prst="ellipse">
            <a:avLst/>
          </a:prstGeom>
          <a:noFill/>
          <a:ln w="28575" cap="rnd" cmpd="sng" algn="ctr">
            <a:solidFill>
              <a:srgbClr val="FFFF00"/>
            </a:solidFill>
            <a:prstDash val="sysDash"/>
            <a:round/>
            <a:headEnd type="none" w="med" len="med"/>
            <a:tailEnd type="none" w="med" len="med"/>
          </a:ln>
          <a:effectLst/>
        </p:spPr>
        <p:txBody>
          <a:bodyPr vert="horz" wrap="square" lIns="68580" tIns="34290" rIns="68580" bIns="34290" numCol="1" rtlCol="0" anchor="t" anchorCtr="0" compatLnSpc="1">
            <a:prstTxWarp prst="textNoShape">
              <a:avLst/>
            </a:prstTxWarp>
          </a:bodyPr>
          <a:lstStyle/>
          <a:p>
            <a:pPr algn="ctr" defTabSz="685800" fontAlgn="base">
              <a:spcBef>
                <a:spcPct val="0"/>
              </a:spcBef>
              <a:spcAft>
                <a:spcPct val="0"/>
              </a:spcAft>
            </a:pPr>
            <a:endParaRPr kumimoji="1" lang="en-US" sz="1350">
              <a:latin typeface="Tahoma" pitchFamily="34" charset="0"/>
              <a:ea typeface="나눔고딕" pitchFamily="50" charset="-127"/>
              <a:cs typeface="조선일보명조"/>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D3006A-1042-6CD3-9B7A-1241E3145FC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31737B78-E784-70AE-D9C7-F6579127F524}"/>
              </a:ext>
            </a:extLst>
          </p:cNvPr>
          <p:cNvSpPr>
            <a:spLocks noGrp="1"/>
          </p:cNvSpPr>
          <p:nvPr>
            <p:ph type="title"/>
          </p:nvPr>
        </p:nvSpPr>
        <p:spPr>
          <a:xfrm>
            <a:off x="55202" y="104895"/>
            <a:ext cx="8981294" cy="414343"/>
          </a:xfrm>
        </p:spPr>
        <p:txBody>
          <a:bodyPr wrap="square"/>
          <a:lstStyle/>
          <a:p>
            <a:r>
              <a:rPr lang="ko-KR" altLang="en-US"/>
              <a:t>블루프린트 그래프의 구성 요소 </a:t>
            </a:r>
            <a:r>
              <a:rPr lang="en-US" altLang="ko-KR"/>
              <a:t>- </a:t>
            </a:r>
            <a:r>
              <a:rPr lang="ko-KR" altLang="en-US"/>
              <a:t>핀</a:t>
            </a:r>
            <a:endParaRPr lang="ko-KR" altLang="en-US" dirty="0"/>
          </a:p>
        </p:txBody>
      </p:sp>
      <p:sp>
        <p:nvSpPr>
          <p:cNvPr id="3" name="내용 개체 틀 2">
            <a:extLst>
              <a:ext uri="{FF2B5EF4-FFF2-40B4-BE49-F238E27FC236}">
                <a16:creationId xmlns:a16="http://schemas.microsoft.com/office/drawing/2014/main" id="{CDBFA8E1-85FB-692C-0B6F-2CFC825430FE}"/>
              </a:ext>
            </a:extLst>
          </p:cNvPr>
          <p:cNvSpPr>
            <a:spLocks noGrp="1"/>
          </p:cNvSpPr>
          <p:nvPr>
            <p:ph idx="1"/>
          </p:nvPr>
        </p:nvSpPr>
        <p:spPr>
          <a:xfrm>
            <a:off x="55202" y="618982"/>
            <a:ext cx="8981294" cy="1385078"/>
          </a:xfrm>
        </p:spPr>
        <p:txBody>
          <a:bodyPr wrap="square"/>
          <a:lstStyle/>
          <a:p>
            <a:r>
              <a:rPr lang="ko-KR" altLang="en-US"/>
              <a:t>데이터 핀</a:t>
            </a:r>
            <a:r>
              <a:rPr lang="en-US" altLang="ko-KR"/>
              <a:t>: </a:t>
            </a:r>
            <a:r>
              <a:rPr lang="ko-KR" altLang="en-US"/>
              <a:t>색깔이 있는 핀</a:t>
            </a:r>
            <a:r>
              <a:rPr lang="en-US" altLang="ko-KR"/>
              <a:t>, </a:t>
            </a:r>
            <a:r>
              <a:rPr lang="ko-KR" altLang="en-US"/>
              <a:t>입력 핀과 출력 핀으로 구분</a:t>
            </a:r>
          </a:p>
          <a:p>
            <a:pPr lvl="1"/>
            <a:r>
              <a:rPr lang="ko-KR" altLang="en-US"/>
              <a:t>왼쪽 핀은 입력</a:t>
            </a:r>
            <a:r>
              <a:rPr lang="en-US" altLang="ko-KR"/>
              <a:t>, </a:t>
            </a:r>
            <a:r>
              <a:rPr lang="ko-KR" altLang="en-US"/>
              <a:t>오른쪽 핀은 출력</a:t>
            </a:r>
          </a:p>
          <a:p>
            <a:pPr lvl="1"/>
            <a:r>
              <a:rPr lang="ko-KR" altLang="en-US"/>
              <a:t>핀의 색은 데이터 타입에 따라 다르게 표시</a:t>
            </a:r>
          </a:p>
        </p:txBody>
      </p:sp>
      <p:pic>
        <p:nvPicPr>
          <p:cNvPr id="4" name="그림 3">
            <a:extLst>
              <a:ext uri="{FF2B5EF4-FFF2-40B4-BE49-F238E27FC236}">
                <a16:creationId xmlns:a16="http://schemas.microsoft.com/office/drawing/2014/main" id="{FA9E8BBB-0A94-F817-7082-B33EC7625028}"/>
              </a:ext>
            </a:extLst>
          </p:cNvPr>
          <p:cNvPicPr>
            <a:picLocks noChangeAspect="1"/>
          </p:cNvPicPr>
          <p:nvPr/>
        </p:nvPicPr>
        <p:blipFill>
          <a:blip r:embed="rId3"/>
          <a:stretch>
            <a:fillRect/>
          </a:stretch>
        </p:blipFill>
        <p:spPr>
          <a:xfrm>
            <a:off x="1597980" y="1748637"/>
            <a:ext cx="4650581" cy="3164681"/>
          </a:xfrm>
          <a:prstGeom prst="rect">
            <a:avLst/>
          </a:prstGeom>
        </p:spPr>
      </p:pic>
      <p:sp>
        <p:nvSpPr>
          <p:cNvPr id="8" name="직사각형 7">
            <a:extLst>
              <a:ext uri="{FF2B5EF4-FFF2-40B4-BE49-F238E27FC236}">
                <a16:creationId xmlns:a16="http://schemas.microsoft.com/office/drawing/2014/main" id="{18601792-7627-97EE-1020-EC22C03ED6D1}"/>
              </a:ext>
            </a:extLst>
          </p:cNvPr>
          <p:cNvSpPr/>
          <p:nvPr/>
        </p:nvSpPr>
        <p:spPr bwMode="auto">
          <a:xfrm>
            <a:off x="1519881" y="2848233"/>
            <a:ext cx="1773195" cy="2065085"/>
          </a:xfrm>
          <a:prstGeom prst="rect">
            <a:avLst/>
          </a:prstGeom>
          <a:noFill/>
          <a:ln w="28575" cap="rnd" cmpd="sng" algn="ctr">
            <a:solidFill>
              <a:srgbClr val="FFFF00"/>
            </a:solidFill>
            <a:prstDash val="sysDash"/>
            <a:round/>
            <a:headEnd type="none" w="med" len="med"/>
            <a:tailEnd type="none" w="med" len="med"/>
          </a:ln>
          <a:effectLst/>
        </p:spPr>
        <p:txBody>
          <a:bodyPr vert="horz" wrap="square" lIns="68580" tIns="34290" rIns="68580" bIns="34290" numCol="1" rtlCol="0" anchor="t" anchorCtr="0" compatLnSpc="1">
            <a:prstTxWarp prst="textNoShape">
              <a:avLst/>
            </a:prstTxWarp>
          </a:bodyPr>
          <a:lstStyle/>
          <a:p>
            <a:pPr algn="ctr" defTabSz="685800" fontAlgn="base">
              <a:spcBef>
                <a:spcPct val="0"/>
              </a:spcBef>
              <a:spcAft>
                <a:spcPct val="0"/>
              </a:spcAft>
            </a:pPr>
            <a:endParaRPr kumimoji="1" lang="en-US" sz="1350">
              <a:latin typeface="Tahoma" pitchFamily="34" charset="0"/>
              <a:ea typeface="나눔고딕" pitchFamily="50" charset="-127"/>
              <a:cs typeface="조선일보명조"/>
            </a:endParaRPr>
          </a:p>
        </p:txBody>
      </p:sp>
      <p:sp>
        <p:nvSpPr>
          <p:cNvPr id="9" name="직사각형 8">
            <a:extLst>
              <a:ext uri="{FF2B5EF4-FFF2-40B4-BE49-F238E27FC236}">
                <a16:creationId xmlns:a16="http://schemas.microsoft.com/office/drawing/2014/main" id="{280C097B-101E-7BD6-C47C-53B10580E6F4}"/>
              </a:ext>
            </a:extLst>
          </p:cNvPr>
          <p:cNvSpPr/>
          <p:nvPr/>
        </p:nvSpPr>
        <p:spPr bwMode="auto">
          <a:xfrm>
            <a:off x="4241457" y="2848232"/>
            <a:ext cx="2007104" cy="778477"/>
          </a:xfrm>
          <a:prstGeom prst="rect">
            <a:avLst/>
          </a:prstGeom>
          <a:noFill/>
          <a:ln w="28575" cap="rnd" cmpd="sng" algn="ctr">
            <a:solidFill>
              <a:srgbClr val="FFFF00"/>
            </a:solidFill>
            <a:prstDash val="sysDash"/>
            <a:round/>
            <a:headEnd type="none" w="med" len="med"/>
            <a:tailEnd type="none" w="med" len="med"/>
          </a:ln>
          <a:effectLst/>
        </p:spPr>
        <p:txBody>
          <a:bodyPr vert="horz" wrap="square" lIns="68580" tIns="34290" rIns="68580" bIns="34290" numCol="1" rtlCol="0" anchor="t" anchorCtr="0" compatLnSpc="1">
            <a:prstTxWarp prst="textNoShape">
              <a:avLst/>
            </a:prstTxWarp>
          </a:bodyPr>
          <a:lstStyle/>
          <a:p>
            <a:pPr algn="ctr" defTabSz="685800" fontAlgn="base">
              <a:spcBef>
                <a:spcPct val="0"/>
              </a:spcBef>
              <a:spcAft>
                <a:spcPct val="0"/>
              </a:spcAft>
            </a:pPr>
            <a:endParaRPr kumimoji="1" lang="en-US" sz="1350">
              <a:latin typeface="Tahoma" pitchFamily="34" charset="0"/>
              <a:ea typeface="나눔고딕" pitchFamily="50" charset="-127"/>
              <a:cs typeface="조선일보명조"/>
            </a:endParaRPr>
          </a:p>
        </p:txBody>
      </p:sp>
      <p:sp>
        <p:nvSpPr>
          <p:cNvPr id="10" name="Content Placeholder 17">
            <a:extLst>
              <a:ext uri="{FF2B5EF4-FFF2-40B4-BE49-F238E27FC236}">
                <a16:creationId xmlns:a16="http://schemas.microsoft.com/office/drawing/2014/main" id="{E5872F71-C01F-8682-0FEE-5EAF3627F5B1}"/>
              </a:ext>
            </a:extLst>
          </p:cNvPr>
          <p:cNvSpPr txBox="1">
            <a:spLocks/>
          </p:cNvSpPr>
          <p:nvPr/>
        </p:nvSpPr>
        <p:spPr>
          <a:xfrm>
            <a:off x="171450" y="3098971"/>
            <a:ext cx="1582215" cy="276999"/>
          </a:xfrm>
          <a:prstGeom prst="rect">
            <a:avLst/>
          </a:prstGeom>
          <a:solidFill>
            <a:schemeClr val="bg1">
              <a:lumMod val="85000"/>
            </a:schemeClr>
          </a:solidFill>
          <a:ln w="28575">
            <a:solidFill>
              <a:srgbClr val="FF0000"/>
            </a:solidFill>
          </a:ln>
        </p:spPr>
        <p:txBody>
          <a:bodyPr vert="horz" wrap="square" lIns="68580" tIns="34290" rIns="68580" bIns="34290" rtlCol="0" anchor="ctr" anchorCtr="0">
            <a:sp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00000"/>
              </a:lnSpc>
              <a:spcBef>
                <a:spcPts val="0"/>
              </a:spcBef>
              <a:spcAft>
                <a:spcPts val="0"/>
              </a:spcAft>
              <a:buNone/>
            </a:pPr>
            <a:r>
              <a:rPr lang="ko-KR" altLang="en-US" sz="1350" b="1">
                <a:solidFill>
                  <a:srgbClr val="D24726"/>
                </a:solidFill>
                <a:latin typeface="+mn-ea"/>
              </a:rPr>
              <a:t>입력 데이터 핀</a:t>
            </a:r>
            <a:endParaRPr lang="en-US" altLang="ko-KR" sz="1350" b="1" dirty="0">
              <a:solidFill>
                <a:srgbClr val="D24726"/>
              </a:solidFill>
              <a:latin typeface="+mn-ea"/>
            </a:endParaRPr>
          </a:p>
        </p:txBody>
      </p:sp>
      <p:sp>
        <p:nvSpPr>
          <p:cNvPr id="11" name="Content Placeholder 17">
            <a:extLst>
              <a:ext uri="{FF2B5EF4-FFF2-40B4-BE49-F238E27FC236}">
                <a16:creationId xmlns:a16="http://schemas.microsoft.com/office/drawing/2014/main" id="{584590B7-7C9F-52EB-325F-56FD9304F130}"/>
              </a:ext>
            </a:extLst>
          </p:cNvPr>
          <p:cNvSpPr txBox="1">
            <a:spLocks/>
          </p:cNvSpPr>
          <p:nvPr/>
        </p:nvSpPr>
        <p:spPr>
          <a:xfrm>
            <a:off x="5989388" y="3192478"/>
            <a:ext cx="1582215" cy="276999"/>
          </a:xfrm>
          <a:prstGeom prst="rect">
            <a:avLst/>
          </a:prstGeom>
          <a:solidFill>
            <a:schemeClr val="bg1">
              <a:lumMod val="85000"/>
            </a:schemeClr>
          </a:solidFill>
          <a:ln w="28575">
            <a:solidFill>
              <a:srgbClr val="FF0000"/>
            </a:solidFill>
          </a:ln>
        </p:spPr>
        <p:txBody>
          <a:bodyPr vert="horz" wrap="square" lIns="68580" tIns="34290" rIns="68580" bIns="34290" rtlCol="0" anchor="ctr" anchorCtr="0">
            <a:sp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00000"/>
              </a:lnSpc>
              <a:spcBef>
                <a:spcPts val="0"/>
              </a:spcBef>
              <a:spcAft>
                <a:spcPts val="0"/>
              </a:spcAft>
              <a:buNone/>
            </a:pPr>
            <a:r>
              <a:rPr lang="ko-KR" altLang="en-US" sz="1350" b="1" dirty="0">
                <a:solidFill>
                  <a:srgbClr val="D24726"/>
                </a:solidFill>
                <a:latin typeface="+mn-ea"/>
              </a:rPr>
              <a:t>출력 데이터 핀</a:t>
            </a:r>
            <a:endParaRPr lang="en-US" altLang="ko-KR" sz="1350" b="1" dirty="0">
              <a:solidFill>
                <a:srgbClr val="D24726"/>
              </a:solidFill>
              <a:latin typeface="+mn-ea"/>
            </a:endParaRPr>
          </a:p>
        </p:txBody>
      </p:sp>
      <p:sp>
        <p:nvSpPr>
          <p:cNvPr id="12" name="Content Placeholder 17">
            <a:extLst>
              <a:ext uri="{FF2B5EF4-FFF2-40B4-BE49-F238E27FC236}">
                <a16:creationId xmlns:a16="http://schemas.microsoft.com/office/drawing/2014/main" id="{1BAF29AE-FDC1-D8FA-3431-6DC5C4325F9A}"/>
              </a:ext>
            </a:extLst>
          </p:cNvPr>
          <p:cNvSpPr txBox="1">
            <a:spLocks/>
          </p:cNvSpPr>
          <p:nvPr/>
        </p:nvSpPr>
        <p:spPr>
          <a:xfrm>
            <a:off x="2803193" y="2465356"/>
            <a:ext cx="2441816" cy="484748"/>
          </a:xfrm>
          <a:prstGeom prst="rect">
            <a:avLst/>
          </a:prstGeom>
          <a:solidFill>
            <a:schemeClr val="bg1">
              <a:lumMod val="85000"/>
            </a:schemeClr>
          </a:solidFill>
          <a:ln w="28575">
            <a:solidFill>
              <a:srgbClr val="FF0000"/>
            </a:solidFill>
          </a:ln>
        </p:spPr>
        <p:txBody>
          <a:bodyPr vert="horz" wrap="square" lIns="68580" tIns="34290" rIns="68580" bIns="34290" rtlCol="0" anchor="ctr" anchorCtr="0">
            <a:sp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00000"/>
              </a:lnSpc>
              <a:spcBef>
                <a:spcPts val="0"/>
              </a:spcBef>
              <a:spcAft>
                <a:spcPts val="0"/>
              </a:spcAft>
              <a:buNone/>
            </a:pPr>
            <a:r>
              <a:rPr lang="ko-KR" altLang="en-US" sz="1350" b="1" dirty="0">
                <a:solidFill>
                  <a:srgbClr val="D24726"/>
                </a:solidFill>
                <a:latin typeface="+mn-ea"/>
              </a:rPr>
              <a:t>데이터 핀 </a:t>
            </a:r>
            <a:r>
              <a:rPr lang="en-US" altLang="ko-KR" sz="1350" b="1" dirty="0">
                <a:solidFill>
                  <a:srgbClr val="D24726"/>
                </a:solidFill>
                <a:latin typeface="+mn-ea"/>
              </a:rPr>
              <a:t>:</a:t>
            </a:r>
            <a:r>
              <a:rPr lang="ko-KR" altLang="en-US" sz="1350" b="1" dirty="0">
                <a:solidFill>
                  <a:srgbClr val="D24726"/>
                </a:solidFill>
                <a:latin typeface="+mn-ea"/>
              </a:rPr>
              <a:t> 노드 사이에 데이터를 주고 받는 통로의 역할</a:t>
            </a:r>
            <a:endParaRPr lang="en-US" altLang="ko-KR" sz="1350" b="1" dirty="0">
              <a:solidFill>
                <a:srgbClr val="D24726"/>
              </a:solidFill>
              <a:latin typeface="+mn-ea"/>
            </a:endParaRPr>
          </a:p>
        </p:txBody>
      </p:sp>
    </p:spTree>
    <p:extLst>
      <p:ext uri="{BB962C8B-B14F-4D97-AF65-F5344CB8AC3E}">
        <p14:creationId xmlns:p14="http://schemas.microsoft.com/office/powerpoint/2010/main" val="152531303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BDA2922-079D-4EC0-BCF5-8053049360E1}"/>
              </a:ext>
            </a:extLst>
          </p:cNvPr>
          <p:cNvSpPr>
            <a:spLocks noGrp="1"/>
          </p:cNvSpPr>
          <p:nvPr>
            <p:ph type="title"/>
          </p:nvPr>
        </p:nvSpPr>
        <p:spPr>
          <a:xfrm>
            <a:off x="55202" y="104895"/>
            <a:ext cx="8981294" cy="414343"/>
          </a:xfrm>
        </p:spPr>
        <p:txBody>
          <a:bodyPr wrap="square"/>
          <a:lstStyle/>
          <a:p>
            <a:r>
              <a:rPr lang="ko-KR" altLang="en-US"/>
              <a:t>블루프린트 그래프의 구성 요소 </a:t>
            </a:r>
            <a:r>
              <a:rPr lang="en-US" altLang="ko-KR"/>
              <a:t>- </a:t>
            </a:r>
            <a:r>
              <a:rPr lang="ko-KR" altLang="en-US"/>
              <a:t>와이어</a:t>
            </a:r>
            <a:endParaRPr lang="ko-KR" altLang="en-US" dirty="0"/>
          </a:p>
        </p:txBody>
      </p:sp>
      <p:sp>
        <p:nvSpPr>
          <p:cNvPr id="3" name="내용 개체 틀 2">
            <a:extLst>
              <a:ext uri="{FF2B5EF4-FFF2-40B4-BE49-F238E27FC236}">
                <a16:creationId xmlns:a16="http://schemas.microsoft.com/office/drawing/2014/main" id="{79B0F421-0FE8-44AE-86B6-151D0625309C}"/>
              </a:ext>
            </a:extLst>
          </p:cNvPr>
          <p:cNvSpPr>
            <a:spLocks noGrp="1"/>
          </p:cNvSpPr>
          <p:nvPr>
            <p:ph idx="1"/>
          </p:nvPr>
        </p:nvSpPr>
        <p:spPr>
          <a:xfrm>
            <a:off x="55202" y="618982"/>
            <a:ext cx="8981294" cy="4275028"/>
          </a:xfrm>
        </p:spPr>
        <p:txBody>
          <a:bodyPr wrap="square"/>
          <a:lstStyle/>
          <a:p>
            <a:r>
              <a:rPr lang="ko-KR" altLang="en-US"/>
              <a:t>실행 흐름 와이어</a:t>
            </a:r>
            <a:r>
              <a:rPr lang="en-US" altLang="ko-KR"/>
              <a:t>: </a:t>
            </a:r>
            <a:r>
              <a:rPr lang="ko-KR" altLang="en-US"/>
              <a:t>흰색 선</a:t>
            </a:r>
            <a:r>
              <a:rPr lang="en-US" altLang="ko-KR"/>
              <a:t>, </a:t>
            </a:r>
            <a:r>
              <a:rPr lang="ko-KR" altLang="en-US"/>
              <a:t>노드의 실행 순서를 연결</a:t>
            </a:r>
            <a:endParaRPr lang="ko-KR" altLang="en-US" dirty="0"/>
          </a:p>
          <a:p>
            <a:r>
              <a:rPr lang="ko-KR" altLang="en-US"/>
              <a:t>데이터 흐름 와이어</a:t>
            </a:r>
            <a:r>
              <a:rPr lang="en-US" altLang="ko-KR"/>
              <a:t>: </a:t>
            </a:r>
            <a:r>
              <a:rPr lang="ko-KR" altLang="en-US"/>
              <a:t>색깔이 있는 선</a:t>
            </a:r>
            <a:r>
              <a:rPr lang="en-US" altLang="ko-KR"/>
              <a:t>, </a:t>
            </a:r>
            <a:r>
              <a:rPr lang="ko-KR" altLang="en-US"/>
              <a:t>값의 전달을 연결</a:t>
            </a:r>
          </a:p>
          <a:p>
            <a:r>
              <a:rPr lang="ko-KR" altLang="en-US"/>
              <a:t>와이어의 색은 데이터 타입에 따라 결정 </a:t>
            </a:r>
            <a:r>
              <a:rPr lang="en-US" altLang="ko-KR"/>
              <a:t>(</a:t>
            </a:r>
            <a:r>
              <a:rPr lang="ko-KR" altLang="en-US"/>
              <a:t>예</a:t>
            </a:r>
            <a:r>
              <a:rPr lang="en-US" altLang="ko-KR"/>
              <a:t>: </a:t>
            </a:r>
            <a:r>
              <a:rPr lang="ko-KR" altLang="en-US"/>
              <a:t>노란색 </a:t>
            </a:r>
            <a:r>
              <a:rPr lang="en-US" altLang="ko-KR"/>
              <a:t>= Float)</a:t>
            </a:r>
          </a:p>
          <a:p>
            <a:r>
              <a:rPr lang="ko-KR" altLang="en-US"/>
              <a:t>핀과 와이어로 실행 흐름과 데이터 입출력을 모두 표현</a:t>
            </a:r>
          </a:p>
        </p:txBody>
      </p:sp>
      <p:pic>
        <p:nvPicPr>
          <p:cNvPr id="4" name="그림 3">
            <a:extLst>
              <a:ext uri="{FF2B5EF4-FFF2-40B4-BE49-F238E27FC236}">
                <a16:creationId xmlns:a16="http://schemas.microsoft.com/office/drawing/2014/main" id="{F599FF25-7A23-DFC3-944E-796CE876A029}"/>
              </a:ext>
            </a:extLst>
          </p:cNvPr>
          <p:cNvPicPr>
            <a:picLocks noChangeAspect="1"/>
          </p:cNvPicPr>
          <p:nvPr/>
        </p:nvPicPr>
        <p:blipFill>
          <a:blip r:embed="rId3"/>
          <a:stretch>
            <a:fillRect/>
          </a:stretch>
        </p:blipFill>
        <p:spPr>
          <a:xfrm>
            <a:off x="278953" y="2213636"/>
            <a:ext cx="8272463" cy="258603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BDA2922-079D-4EC0-BCF5-8053049360E1}"/>
              </a:ext>
            </a:extLst>
          </p:cNvPr>
          <p:cNvSpPr>
            <a:spLocks noGrp="1"/>
          </p:cNvSpPr>
          <p:nvPr>
            <p:ph type="title"/>
          </p:nvPr>
        </p:nvSpPr>
        <p:spPr>
          <a:xfrm>
            <a:off x="55202" y="104895"/>
            <a:ext cx="8981294" cy="414343"/>
          </a:xfrm>
        </p:spPr>
        <p:txBody>
          <a:bodyPr wrap="square"/>
          <a:lstStyle/>
          <a:p>
            <a:r>
              <a:rPr lang="ko-KR" altLang="en-US"/>
              <a:t>게임 루프와 이벤트 틱</a:t>
            </a:r>
            <a:endParaRPr lang="ko-KR" altLang="en-US" dirty="0"/>
          </a:p>
        </p:txBody>
      </p:sp>
      <p:sp>
        <p:nvSpPr>
          <p:cNvPr id="3" name="내용 개체 틀 2">
            <a:extLst>
              <a:ext uri="{FF2B5EF4-FFF2-40B4-BE49-F238E27FC236}">
                <a16:creationId xmlns:a16="http://schemas.microsoft.com/office/drawing/2014/main" id="{79B0F421-0FE8-44AE-86B6-151D0625309C}"/>
              </a:ext>
            </a:extLst>
          </p:cNvPr>
          <p:cNvSpPr>
            <a:spLocks noGrp="1"/>
          </p:cNvSpPr>
          <p:nvPr>
            <p:ph idx="1"/>
          </p:nvPr>
        </p:nvSpPr>
        <p:spPr>
          <a:xfrm>
            <a:off x="55202" y="618982"/>
            <a:ext cx="8981294" cy="4275028"/>
          </a:xfrm>
        </p:spPr>
        <p:txBody>
          <a:bodyPr wrap="square"/>
          <a:lstStyle/>
          <a:p>
            <a:r>
              <a:rPr lang="ko-KR" altLang="en-US"/>
              <a:t>게임 루프</a:t>
            </a:r>
            <a:r>
              <a:rPr lang="en-US" altLang="ko-KR"/>
              <a:t>: </a:t>
            </a:r>
            <a:r>
              <a:rPr lang="ko-KR" altLang="en-US"/>
              <a:t>스톱모션 애니메이션</a:t>
            </a:r>
            <a:r>
              <a:rPr lang="en-US" altLang="ko-KR"/>
              <a:t>·</a:t>
            </a:r>
            <a:r>
              <a:rPr lang="ko-KR" altLang="en-US"/>
              <a:t>인형극과 같은 원리</a:t>
            </a:r>
            <a:endParaRPr lang="ko-KR" altLang="en-US" dirty="0"/>
          </a:p>
          <a:p>
            <a:r>
              <a:rPr lang="en-US" altLang="ko-KR"/>
              <a:t>BeginPlay: </a:t>
            </a:r>
            <a:r>
              <a:rPr lang="ko-KR" altLang="en-US"/>
              <a:t>게임 시작 시 한 번 실행되는 초기화 이벤트</a:t>
            </a:r>
          </a:p>
          <a:p>
            <a:r>
              <a:rPr lang="en-US" altLang="ko-KR"/>
              <a:t>Tick: </a:t>
            </a:r>
            <a:r>
              <a:rPr lang="ko-KR" altLang="en-US"/>
              <a:t>초당 평균 </a:t>
            </a:r>
            <a:r>
              <a:rPr lang="en-US" altLang="ko-KR"/>
              <a:t>60</a:t>
            </a:r>
            <a:r>
              <a:rPr lang="ko-KR" altLang="en-US"/>
              <a:t>회 이상 반복 실행되는 갱신 이벤트</a:t>
            </a:r>
          </a:p>
          <a:p>
            <a:r>
              <a:rPr lang="ko-KR" altLang="en-US"/>
              <a:t>액터 업데이트 후 엔진이 화면을 렌더링하는 과정을 반복</a:t>
            </a:r>
          </a:p>
        </p:txBody>
      </p:sp>
      <p:pic>
        <p:nvPicPr>
          <p:cNvPr id="21" name="그림 20">
            <a:extLst>
              <a:ext uri="{FF2B5EF4-FFF2-40B4-BE49-F238E27FC236}">
                <a16:creationId xmlns:a16="http://schemas.microsoft.com/office/drawing/2014/main" id="{EE1F4266-1FA5-8171-321C-B365A1B49EEF}"/>
              </a:ext>
            </a:extLst>
          </p:cNvPr>
          <p:cNvPicPr>
            <a:picLocks noChangeAspect="1"/>
          </p:cNvPicPr>
          <p:nvPr/>
        </p:nvPicPr>
        <p:blipFill>
          <a:blip r:embed="rId3"/>
          <a:stretch>
            <a:fillRect/>
          </a:stretch>
        </p:blipFill>
        <p:spPr>
          <a:xfrm>
            <a:off x="5158045" y="1971674"/>
            <a:ext cx="3671888" cy="4214813"/>
          </a:xfrm>
          <a:prstGeom prst="rect">
            <a:avLst/>
          </a:prstGeom>
          <a:solidFill>
            <a:srgbClr val="FFFF00"/>
          </a:solidFill>
        </p:spPr>
      </p:pic>
      <p:sp>
        <p:nvSpPr>
          <p:cNvPr id="22" name="모서리가 둥근 직사각형 4">
            <a:extLst>
              <a:ext uri="{FF2B5EF4-FFF2-40B4-BE49-F238E27FC236}">
                <a16:creationId xmlns:a16="http://schemas.microsoft.com/office/drawing/2014/main" id="{84C15FD9-0881-2077-82D1-1F4FFC66E3F7}"/>
              </a:ext>
            </a:extLst>
          </p:cNvPr>
          <p:cNvSpPr/>
          <p:nvPr/>
        </p:nvSpPr>
        <p:spPr bwMode="auto">
          <a:xfrm>
            <a:off x="3067028" y="2365766"/>
            <a:ext cx="1823422" cy="3547457"/>
          </a:xfrm>
          <a:prstGeom prst="roundRect">
            <a:avLst>
              <a:gd name="adj" fmla="val 6048"/>
            </a:avLst>
          </a:prstGeom>
          <a:solidFill>
            <a:schemeClr val="accent1"/>
          </a:solidFill>
          <a:ln w="12700" cap="rnd" cmpd="sng" algn="ctr">
            <a:solidFill>
              <a:schemeClr val="hlink"/>
            </a:solidFill>
            <a:prstDash val="solid"/>
            <a:round/>
            <a:headEnd type="none" w="med" len="med"/>
            <a:tailEnd type="none" w="med" len="med"/>
          </a:ln>
          <a:effectLst/>
        </p:spPr>
        <p:txBody>
          <a:bodyPr vert="horz" wrap="square" lIns="68580" tIns="34290" rIns="68580" bIns="34290" numCol="1" rtlCol="0" anchor="t" anchorCtr="0" compatLnSpc="1">
            <a:prstTxWarp prst="textNoShape">
              <a:avLst/>
            </a:prstTxWarp>
          </a:bodyPr>
          <a:lstStyle/>
          <a:p>
            <a:pPr algn="ctr" defTabSz="685800" fontAlgn="base">
              <a:spcBef>
                <a:spcPct val="0"/>
              </a:spcBef>
              <a:spcAft>
                <a:spcPct val="0"/>
              </a:spcAft>
            </a:pPr>
            <a:endParaRPr kumimoji="1" lang="en-US" altLang="ko-KR" sz="1350" b="1" dirty="0">
              <a:latin typeface="+mn-ea"/>
              <a:cs typeface="조선일보명조"/>
            </a:endParaRPr>
          </a:p>
          <a:p>
            <a:pPr algn="ctr" defTabSz="685800" fontAlgn="base">
              <a:spcBef>
                <a:spcPct val="0"/>
              </a:spcBef>
              <a:spcAft>
                <a:spcPct val="0"/>
              </a:spcAft>
            </a:pPr>
            <a:endParaRPr kumimoji="1" lang="en-US" altLang="ko-KR" sz="1350" b="1" dirty="0">
              <a:latin typeface="+mn-ea"/>
              <a:cs typeface="조선일보명조"/>
            </a:endParaRPr>
          </a:p>
          <a:p>
            <a:pPr algn="ctr" defTabSz="685800" fontAlgn="base">
              <a:spcBef>
                <a:spcPct val="0"/>
              </a:spcBef>
              <a:spcAft>
                <a:spcPct val="0"/>
              </a:spcAft>
            </a:pPr>
            <a:endParaRPr kumimoji="1" lang="en-US" altLang="ko-KR" sz="1350" b="1" dirty="0">
              <a:latin typeface="+mn-ea"/>
              <a:cs typeface="조선일보명조"/>
            </a:endParaRPr>
          </a:p>
          <a:p>
            <a:pPr defTabSz="685800" fontAlgn="base">
              <a:spcBef>
                <a:spcPct val="0"/>
              </a:spcBef>
              <a:spcAft>
                <a:spcPct val="0"/>
              </a:spcAft>
            </a:pPr>
            <a:endParaRPr kumimoji="1" lang="en-US" altLang="ko-KR" sz="1350" b="1" dirty="0">
              <a:latin typeface="+mn-ea"/>
              <a:cs typeface="조선일보명조"/>
            </a:endParaRPr>
          </a:p>
          <a:p>
            <a:pPr defTabSz="685800" fontAlgn="base">
              <a:spcBef>
                <a:spcPct val="0"/>
              </a:spcBef>
              <a:spcAft>
                <a:spcPct val="0"/>
              </a:spcAft>
            </a:pPr>
            <a:r>
              <a:rPr kumimoji="1" lang="en-US" altLang="ko-KR" sz="1350" b="1" dirty="0">
                <a:latin typeface="+mn-ea"/>
                <a:cs typeface="조선일보명조"/>
              </a:rPr>
              <a:t>for each actor:</a:t>
            </a:r>
          </a:p>
          <a:p>
            <a:pPr defTabSz="685800" fontAlgn="base">
              <a:spcBef>
                <a:spcPct val="0"/>
              </a:spcBef>
              <a:spcAft>
                <a:spcPct val="0"/>
              </a:spcAft>
            </a:pPr>
            <a:r>
              <a:rPr kumimoji="1" lang="en-US" altLang="ko-KR" sz="1350" b="1" dirty="0">
                <a:latin typeface="+mn-ea"/>
                <a:cs typeface="조선일보명조"/>
              </a:rPr>
              <a:t>    actor-&gt;</a:t>
            </a:r>
            <a:r>
              <a:rPr kumimoji="1" lang="en-US" altLang="ko-KR" sz="1350" b="1" dirty="0" err="1">
                <a:latin typeface="+mn-ea"/>
                <a:cs typeface="조선일보명조"/>
              </a:rPr>
              <a:t>BeginPlay</a:t>
            </a:r>
            <a:r>
              <a:rPr kumimoji="1" lang="en-US" altLang="ko-KR" sz="1350" b="1" dirty="0">
                <a:latin typeface="+mn-ea"/>
                <a:cs typeface="조선일보명조"/>
              </a:rPr>
              <a:t>()</a:t>
            </a:r>
          </a:p>
          <a:p>
            <a:pPr defTabSz="685800" fontAlgn="base">
              <a:spcBef>
                <a:spcPct val="0"/>
              </a:spcBef>
              <a:spcAft>
                <a:spcPct val="0"/>
              </a:spcAft>
            </a:pPr>
            <a:endParaRPr kumimoji="1" lang="en-US" altLang="ko-KR" sz="1350" b="1" dirty="0">
              <a:latin typeface="+mn-ea"/>
              <a:cs typeface="조선일보명조"/>
            </a:endParaRPr>
          </a:p>
          <a:p>
            <a:pPr defTabSz="685800" fontAlgn="base">
              <a:spcBef>
                <a:spcPct val="0"/>
              </a:spcBef>
              <a:spcAft>
                <a:spcPct val="0"/>
              </a:spcAft>
            </a:pPr>
            <a:endParaRPr kumimoji="1" lang="en-US" altLang="ko-KR" sz="1350" b="1" dirty="0">
              <a:latin typeface="+mn-ea"/>
              <a:cs typeface="조선일보명조"/>
            </a:endParaRPr>
          </a:p>
          <a:p>
            <a:pPr defTabSz="685800" fontAlgn="base">
              <a:spcBef>
                <a:spcPct val="0"/>
              </a:spcBef>
              <a:spcAft>
                <a:spcPct val="0"/>
              </a:spcAft>
            </a:pPr>
            <a:r>
              <a:rPr kumimoji="1" lang="en-US" altLang="ko-KR" sz="1350" b="1" dirty="0">
                <a:latin typeface="+mn-ea"/>
                <a:cs typeface="조선일보명조"/>
              </a:rPr>
              <a:t>loop</a:t>
            </a:r>
          </a:p>
          <a:p>
            <a:pPr defTabSz="685800" fontAlgn="base">
              <a:spcBef>
                <a:spcPct val="0"/>
              </a:spcBef>
              <a:spcAft>
                <a:spcPct val="0"/>
              </a:spcAft>
            </a:pPr>
            <a:r>
              <a:rPr kumimoji="1" lang="en-US" altLang="ko-KR" sz="1350" b="1" dirty="0">
                <a:latin typeface="+mn-ea"/>
                <a:cs typeface="조선일보명조"/>
              </a:rPr>
              <a:t>{</a:t>
            </a:r>
          </a:p>
          <a:p>
            <a:pPr defTabSz="685800" fontAlgn="base">
              <a:spcBef>
                <a:spcPct val="0"/>
              </a:spcBef>
              <a:spcAft>
                <a:spcPct val="0"/>
              </a:spcAft>
            </a:pPr>
            <a:r>
              <a:rPr kumimoji="1" lang="en-US" altLang="ko-KR" sz="1350" b="1" dirty="0">
                <a:latin typeface="+mn-ea"/>
                <a:cs typeface="조선일보명조"/>
              </a:rPr>
              <a:t>    get inputs</a:t>
            </a:r>
          </a:p>
          <a:p>
            <a:pPr defTabSz="685800" fontAlgn="base">
              <a:spcBef>
                <a:spcPct val="0"/>
              </a:spcBef>
              <a:spcAft>
                <a:spcPct val="0"/>
              </a:spcAft>
            </a:pPr>
            <a:r>
              <a:rPr kumimoji="1" lang="en-US" altLang="ko-KR" sz="1350" b="1" dirty="0">
                <a:latin typeface="+mn-ea"/>
                <a:cs typeface="조선일보명조"/>
              </a:rPr>
              <a:t>    for each actor:</a:t>
            </a:r>
          </a:p>
          <a:p>
            <a:pPr defTabSz="685800" fontAlgn="base">
              <a:spcBef>
                <a:spcPct val="0"/>
              </a:spcBef>
              <a:spcAft>
                <a:spcPct val="0"/>
              </a:spcAft>
            </a:pPr>
            <a:r>
              <a:rPr kumimoji="1" lang="en-US" altLang="ko-KR" sz="1350" b="1" dirty="0">
                <a:latin typeface="+mn-ea"/>
                <a:cs typeface="조선일보명조"/>
              </a:rPr>
              <a:t>        actor-&gt;Tick()</a:t>
            </a:r>
          </a:p>
          <a:p>
            <a:pPr defTabSz="685800" fontAlgn="base">
              <a:spcBef>
                <a:spcPct val="0"/>
              </a:spcBef>
              <a:spcAft>
                <a:spcPct val="0"/>
              </a:spcAft>
            </a:pPr>
            <a:r>
              <a:rPr kumimoji="1" lang="en-US" altLang="ko-KR" sz="1350" b="1" dirty="0">
                <a:latin typeface="+mn-ea"/>
                <a:cs typeface="조선일보명조"/>
              </a:rPr>
              <a:t>    render()</a:t>
            </a:r>
          </a:p>
          <a:p>
            <a:pPr defTabSz="685800" fontAlgn="base">
              <a:spcBef>
                <a:spcPct val="0"/>
              </a:spcBef>
              <a:spcAft>
                <a:spcPct val="0"/>
              </a:spcAft>
            </a:pPr>
            <a:r>
              <a:rPr kumimoji="1" lang="en-US" altLang="ko-KR" sz="1350" b="1" dirty="0">
                <a:latin typeface="+mn-ea"/>
                <a:cs typeface="조선일보명조"/>
              </a:rPr>
              <a:t>}</a:t>
            </a:r>
            <a:endParaRPr kumimoji="1" lang="ko-KR" altLang="en-US" sz="1350" b="1" dirty="0">
              <a:latin typeface="+mn-ea"/>
              <a:cs typeface="조선일보명조"/>
            </a:endParaRPr>
          </a:p>
        </p:txBody>
      </p:sp>
      <p:sp>
        <p:nvSpPr>
          <p:cNvPr id="23" name="오른쪽 화살표 9">
            <a:extLst>
              <a:ext uri="{FF2B5EF4-FFF2-40B4-BE49-F238E27FC236}">
                <a16:creationId xmlns:a16="http://schemas.microsoft.com/office/drawing/2014/main" id="{13D6C73A-17AC-432D-117C-BA6944D2F47B}"/>
              </a:ext>
            </a:extLst>
          </p:cNvPr>
          <p:cNvSpPr/>
          <p:nvPr/>
        </p:nvSpPr>
        <p:spPr bwMode="auto">
          <a:xfrm>
            <a:off x="4841022" y="3358244"/>
            <a:ext cx="762896" cy="387275"/>
          </a:xfrm>
          <a:prstGeom prst="rightArrow">
            <a:avLst/>
          </a:prstGeom>
          <a:solidFill>
            <a:srgbClr val="FF3300"/>
          </a:solidFill>
          <a:ln w="12700" cap="rnd" cmpd="sng" algn="ctr">
            <a:solidFill>
              <a:schemeClr val="hlink"/>
            </a:solidFill>
            <a:prstDash val="solid"/>
            <a:round/>
            <a:headEnd type="none" w="med" len="med"/>
            <a:tailEnd type="none" w="med" len="med"/>
          </a:ln>
          <a:effectLst/>
        </p:spPr>
        <p:txBody>
          <a:bodyPr vert="horz" wrap="square" lIns="68580" tIns="34290" rIns="68580" bIns="34290" numCol="1" rtlCol="0" anchor="t" anchorCtr="0" compatLnSpc="1">
            <a:prstTxWarp prst="textNoShape">
              <a:avLst/>
            </a:prstTxWarp>
          </a:bodyPr>
          <a:lstStyle/>
          <a:p>
            <a:pPr algn="ctr" defTabSz="685800" fontAlgn="base">
              <a:spcBef>
                <a:spcPct val="0"/>
              </a:spcBef>
              <a:spcAft>
                <a:spcPct val="0"/>
              </a:spcAft>
            </a:pPr>
            <a:endParaRPr kumimoji="1" lang="ko-KR" altLang="en-US" sz="1350">
              <a:latin typeface="Tahoma" pitchFamily="34" charset="0"/>
              <a:ea typeface="나눔고딕" pitchFamily="50" charset="-127"/>
              <a:cs typeface="조선일보명조"/>
            </a:endParaRPr>
          </a:p>
        </p:txBody>
      </p:sp>
      <p:sp>
        <p:nvSpPr>
          <p:cNvPr id="24" name="Content Placeholder 17">
            <a:extLst>
              <a:ext uri="{FF2B5EF4-FFF2-40B4-BE49-F238E27FC236}">
                <a16:creationId xmlns:a16="http://schemas.microsoft.com/office/drawing/2014/main" id="{FB8431DC-4B36-193F-2EBD-CAF177EA89F6}"/>
              </a:ext>
            </a:extLst>
          </p:cNvPr>
          <p:cNvSpPr txBox="1">
            <a:spLocks/>
          </p:cNvSpPr>
          <p:nvPr/>
        </p:nvSpPr>
        <p:spPr>
          <a:xfrm>
            <a:off x="5553327" y="3641645"/>
            <a:ext cx="2881325" cy="692497"/>
          </a:xfrm>
          <a:prstGeom prst="rect">
            <a:avLst/>
          </a:prstGeom>
          <a:solidFill>
            <a:schemeClr val="bg1">
              <a:lumMod val="85000"/>
            </a:schemeClr>
          </a:solidFill>
          <a:ln w="28575">
            <a:solidFill>
              <a:srgbClr val="FF0000"/>
            </a:solidFill>
          </a:ln>
        </p:spPr>
        <p:txBody>
          <a:bodyPr vert="horz" wrap="square" lIns="68580" tIns="34290" rIns="68580" bIns="34290" rtlCol="0" anchor="ctr" anchorCtr="0">
            <a:sp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00000"/>
              </a:lnSpc>
              <a:spcBef>
                <a:spcPts val="0"/>
              </a:spcBef>
              <a:spcAft>
                <a:spcPts val="0"/>
              </a:spcAft>
              <a:buNone/>
            </a:pPr>
            <a:r>
              <a:rPr lang="ko-KR" altLang="en-US" sz="1350" b="1" dirty="0">
                <a:solidFill>
                  <a:srgbClr val="D24726"/>
                </a:solidFill>
                <a:latin typeface="+mn-ea"/>
              </a:rPr>
              <a:t>각각의 </a:t>
            </a:r>
            <a:r>
              <a:rPr lang="ko-KR" altLang="en-US" sz="1350" b="1" dirty="0" err="1">
                <a:solidFill>
                  <a:srgbClr val="D24726"/>
                </a:solidFill>
                <a:latin typeface="+mn-ea"/>
              </a:rPr>
              <a:t>액터들에</a:t>
            </a:r>
            <a:r>
              <a:rPr lang="ko-KR" altLang="en-US" sz="1350" b="1" dirty="0">
                <a:solidFill>
                  <a:srgbClr val="D24726"/>
                </a:solidFill>
                <a:latin typeface="+mn-ea"/>
              </a:rPr>
              <a:t> 대해서</a:t>
            </a:r>
            <a:r>
              <a:rPr lang="en-US" altLang="ko-KR" sz="1350" b="1" dirty="0">
                <a:solidFill>
                  <a:srgbClr val="D24726"/>
                </a:solidFill>
                <a:latin typeface="+mn-ea"/>
              </a:rPr>
              <a:t>,</a:t>
            </a:r>
            <a:r>
              <a:rPr lang="ko-KR" altLang="en-US" sz="1350" b="1" dirty="0">
                <a:solidFill>
                  <a:srgbClr val="D24726"/>
                </a:solidFill>
                <a:latin typeface="+mn-ea"/>
              </a:rPr>
              <a:t> </a:t>
            </a:r>
            <a:r>
              <a:rPr lang="ko-KR" altLang="en-US" sz="1350" b="1" dirty="0" err="1">
                <a:solidFill>
                  <a:srgbClr val="D24726"/>
                </a:solidFill>
                <a:latin typeface="+mn-ea"/>
              </a:rPr>
              <a:t>액터의</a:t>
            </a:r>
            <a:r>
              <a:rPr lang="ko-KR" altLang="en-US" sz="1350" b="1" dirty="0">
                <a:solidFill>
                  <a:srgbClr val="D24726"/>
                </a:solidFill>
                <a:latin typeface="+mn-ea"/>
              </a:rPr>
              <a:t> 초기화를 하기 위해 </a:t>
            </a:r>
            <a:r>
              <a:rPr lang="en-US" altLang="ko-KR" sz="1350" b="1" dirty="0" err="1">
                <a:solidFill>
                  <a:srgbClr val="D24726"/>
                </a:solidFill>
                <a:latin typeface="+mn-ea"/>
              </a:rPr>
              <a:t>BeginPlay</a:t>
            </a:r>
            <a:r>
              <a:rPr lang="en-US" altLang="ko-KR" sz="1350" b="1" dirty="0">
                <a:solidFill>
                  <a:srgbClr val="D24726"/>
                </a:solidFill>
                <a:latin typeface="+mn-ea"/>
              </a:rPr>
              <a:t> Event</a:t>
            </a:r>
            <a:r>
              <a:rPr lang="ko-KR" altLang="en-US" sz="1350" b="1" dirty="0">
                <a:solidFill>
                  <a:srgbClr val="D24726"/>
                </a:solidFill>
                <a:latin typeface="+mn-ea"/>
              </a:rPr>
              <a:t>가 호출됨</a:t>
            </a:r>
            <a:r>
              <a:rPr lang="en-US" altLang="ko-KR" sz="1350" b="1" dirty="0">
                <a:solidFill>
                  <a:srgbClr val="D24726"/>
                </a:solidFill>
                <a:latin typeface="+mn-ea"/>
              </a:rPr>
              <a:t>.</a:t>
            </a:r>
          </a:p>
        </p:txBody>
      </p:sp>
      <p:sp>
        <p:nvSpPr>
          <p:cNvPr id="25" name="Content Placeholder 17">
            <a:extLst>
              <a:ext uri="{FF2B5EF4-FFF2-40B4-BE49-F238E27FC236}">
                <a16:creationId xmlns:a16="http://schemas.microsoft.com/office/drawing/2014/main" id="{9E263926-DAF2-31AE-D2AD-01AFA291F048}"/>
              </a:ext>
            </a:extLst>
          </p:cNvPr>
          <p:cNvSpPr txBox="1">
            <a:spLocks/>
          </p:cNvSpPr>
          <p:nvPr/>
        </p:nvSpPr>
        <p:spPr>
          <a:xfrm>
            <a:off x="5804787" y="5374719"/>
            <a:ext cx="2881325" cy="692497"/>
          </a:xfrm>
          <a:prstGeom prst="rect">
            <a:avLst/>
          </a:prstGeom>
          <a:solidFill>
            <a:schemeClr val="bg1">
              <a:lumMod val="85000"/>
            </a:schemeClr>
          </a:solidFill>
          <a:ln w="28575">
            <a:solidFill>
              <a:srgbClr val="FF0000"/>
            </a:solidFill>
          </a:ln>
        </p:spPr>
        <p:txBody>
          <a:bodyPr vert="horz" wrap="square" lIns="68580" tIns="34290" rIns="68580" bIns="34290" rtlCol="0" anchor="ctr" anchorCtr="0">
            <a:sp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00000"/>
              </a:lnSpc>
              <a:spcBef>
                <a:spcPts val="0"/>
              </a:spcBef>
              <a:spcAft>
                <a:spcPts val="0"/>
              </a:spcAft>
              <a:buNone/>
            </a:pPr>
            <a:r>
              <a:rPr lang="ko-KR" altLang="en-US" sz="1350" b="1" dirty="0">
                <a:solidFill>
                  <a:srgbClr val="D24726"/>
                </a:solidFill>
                <a:latin typeface="+mn-ea"/>
              </a:rPr>
              <a:t>메인 게임 루프가 반복되면서</a:t>
            </a:r>
            <a:r>
              <a:rPr lang="en-US" altLang="ko-KR" sz="1350" b="1" dirty="0">
                <a:solidFill>
                  <a:srgbClr val="D24726"/>
                </a:solidFill>
                <a:latin typeface="+mn-ea"/>
              </a:rPr>
              <a:t>,</a:t>
            </a:r>
            <a:r>
              <a:rPr lang="ko-KR" altLang="en-US" sz="1350" b="1" dirty="0">
                <a:solidFill>
                  <a:srgbClr val="D24726"/>
                </a:solidFill>
                <a:latin typeface="+mn-ea"/>
              </a:rPr>
              <a:t> 각각의 </a:t>
            </a:r>
            <a:r>
              <a:rPr lang="ko-KR" altLang="en-US" sz="1350" b="1" dirty="0" err="1">
                <a:solidFill>
                  <a:srgbClr val="D24726"/>
                </a:solidFill>
                <a:latin typeface="+mn-ea"/>
              </a:rPr>
              <a:t>액터들에</a:t>
            </a:r>
            <a:r>
              <a:rPr lang="ko-KR" altLang="en-US" sz="1350" b="1" dirty="0">
                <a:solidFill>
                  <a:srgbClr val="D24726"/>
                </a:solidFill>
                <a:latin typeface="+mn-ea"/>
              </a:rPr>
              <a:t> 대해서 </a:t>
            </a:r>
            <a:r>
              <a:rPr lang="en-US" altLang="ko-KR" sz="1350" b="1" dirty="0">
                <a:solidFill>
                  <a:srgbClr val="D24726"/>
                </a:solidFill>
                <a:latin typeface="+mn-ea"/>
              </a:rPr>
              <a:t>Tick Event</a:t>
            </a:r>
            <a:r>
              <a:rPr lang="ko-KR" altLang="en-US" sz="1350" b="1" dirty="0">
                <a:solidFill>
                  <a:srgbClr val="D24726"/>
                </a:solidFill>
                <a:latin typeface="+mn-ea"/>
              </a:rPr>
              <a:t>를 반복적으로 호출함</a:t>
            </a:r>
            <a:r>
              <a:rPr lang="en-US" altLang="ko-KR" sz="1350" b="1" dirty="0">
                <a:solidFill>
                  <a:srgbClr val="D24726"/>
                </a:solidFill>
                <a:latin typeface="+mn-ea"/>
              </a:rPr>
              <a:t>.</a:t>
            </a:r>
          </a:p>
        </p:txBody>
      </p:sp>
      <p:sp>
        <p:nvSpPr>
          <p:cNvPr id="26" name="오른쪽 화살표 11">
            <a:extLst>
              <a:ext uri="{FF2B5EF4-FFF2-40B4-BE49-F238E27FC236}">
                <a16:creationId xmlns:a16="http://schemas.microsoft.com/office/drawing/2014/main" id="{C45E8CED-DFFF-DEA8-8EC8-58AD7D33CC63}"/>
              </a:ext>
            </a:extLst>
          </p:cNvPr>
          <p:cNvSpPr/>
          <p:nvPr/>
        </p:nvSpPr>
        <p:spPr bwMode="auto">
          <a:xfrm>
            <a:off x="4609791" y="4788568"/>
            <a:ext cx="948347" cy="387275"/>
          </a:xfrm>
          <a:prstGeom prst="rightArrow">
            <a:avLst/>
          </a:prstGeom>
          <a:solidFill>
            <a:srgbClr val="FF3300"/>
          </a:solidFill>
          <a:ln w="12700" cap="rnd" cmpd="sng" algn="ctr">
            <a:solidFill>
              <a:schemeClr val="hlink"/>
            </a:solidFill>
            <a:prstDash val="solid"/>
            <a:round/>
            <a:headEnd type="none" w="med" len="med"/>
            <a:tailEnd type="none" w="med" len="med"/>
          </a:ln>
          <a:effectLst/>
        </p:spPr>
        <p:txBody>
          <a:bodyPr vert="horz" wrap="square" lIns="68580" tIns="34290" rIns="68580" bIns="34290" numCol="1" rtlCol="0" anchor="t" anchorCtr="0" compatLnSpc="1">
            <a:prstTxWarp prst="textNoShape">
              <a:avLst/>
            </a:prstTxWarp>
          </a:bodyPr>
          <a:lstStyle/>
          <a:p>
            <a:pPr algn="ctr" defTabSz="685800" fontAlgn="base">
              <a:spcBef>
                <a:spcPct val="0"/>
              </a:spcBef>
              <a:spcAft>
                <a:spcPct val="0"/>
              </a:spcAft>
            </a:pPr>
            <a:endParaRPr kumimoji="1" lang="ko-KR" altLang="en-US" sz="1350">
              <a:latin typeface="Tahoma" pitchFamily="34" charset="0"/>
              <a:ea typeface="나눔고딕" pitchFamily="50" charset="-127"/>
              <a:cs typeface="조선일보명조"/>
            </a:endParaRPr>
          </a:p>
        </p:txBody>
      </p:sp>
      <p:sp>
        <p:nvSpPr>
          <p:cNvPr id="27" name="원형 화살표 14">
            <a:extLst>
              <a:ext uri="{FF2B5EF4-FFF2-40B4-BE49-F238E27FC236}">
                <a16:creationId xmlns:a16="http://schemas.microsoft.com/office/drawing/2014/main" id="{5FAAC60B-0A30-22E9-F5BF-E680B88B82C2}"/>
              </a:ext>
            </a:extLst>
          </p:cNvPr>
          <p:cNvSpPr/>
          <p:nvPr/>
        </p:nvSpPr>
        <p:spPr bwMode="auto">
          <a:xfrm>
            <a:off x="2613038" y="3776411"/>
            <a:ext cx="1656716" cy="1975448"/>
          </a:xfrm>
          <a:prstGeom prst="circularArrow">
            <a:avLst>
              <a:gd name="adj1" fmla="val 5546"/>
              <a:gd name="adj2" fmla="val 1142319"/>
              <a:gd name="adj3" fmla="val 19059780"/>
              <a:gd name="adj4" fmla="val 3031018"/>
              <a:gd name="adj5" fmla="val 12500"/>
            </a:avLst>
          </a:prstGeom>
          <a:solidFill>
            <a:srgbClr val="FFFF00"/>
          </a:solidFill>
          <a:ln w="12700" cap="rnd" cmpd="sng" algn="ctr">
            <a:solidFill>
              <a:schemeClr val="hlink"/>
            </a:solidFill>
            <a:prstDash val="solid"/>
            <a:round/>
            <a:headEnd type="none" w="med" len="med"/>
            <a:tailEnd type="none" w="med" len="med"/>
          </a:ln>
          <a:effectLst/>
        </p:spPr>
        <p:txBody>
          <a:bodyPr vert="horz" wrap="square" lIns="68580" tIns="34290" rIns="68580" bIns="34290" numCol="1" rtlCol="0" anchor="t" anchorCtr="0" compatLnSpc="1">
            <a:prstTxWarp prst="textNoShape">
              <a:avLst/>
            </a:prstTxWarp>
          </a:bodyPr>
          <a:lstStyle/>
          <a:p>
            <a:pPr algn="ctr" defTabSz="685800" fontAlgn="base">
              <a:spcBef>
                <a:spcPct val="0"/>
              </a:spcBef>
              <a:spcAft>
                <a:spcPct val="0"/>
              </a:spcAft>
            </a:pPr>
            <a:endParaRPr kumimoji="1" lang="ko-KR" altLang="en-US" sz="1350">
              <a:latin typeface="Tahoma" pitchFamily="34" charset="0"/>
              <a:ea typeface="나눔고딕" pitchFamily="50" charset="-127"/>
              <a:cs typeface="조선일보명조"/>
            </a:endParaRPr>
          </a:p>
        </p:txBody>
      </p:sp>
      <p:sp>
        <p:nvSpPr>
          <p:cNvPr id="28" name="직사각형 27">
            <a:extLst>
              <a:ext uri="{FF2B5EF4-FFF2-40B4-BE49-F238E27FC236}">
                <a16:creationId xmlns:a16="http://schemas.microsoft.com/office/drawing/2014/main" id="{94716CCF-0022-A6E3-8D08-F1A8C0180EDD}"/>
              </a:ext>
            </a:extLst>
          </p:cNvPr>
          <p:cNvSpPr/>
          <p:nvPr/>
        </p:nvSpPr>
        <p:spPr bwMode="auto">
          <a:xfrm>
            <a:off x="6598522" y="1792700"/>
            <a:ext cx="1094280" cy="507831"/>
          </a:xfrm>
          <a:prstGeom prst="rect">
            <a:avLst/>
          </a:prstGeom>
          <a:noFill/>
          <a:ln w="38100" cap="rnd" cmpd="sng" algn="ctr">
            <a:noFill/>
            <a:prstDash val="solid"/>
            <a:round/>
            <a:headEnd type="none" w="med" len="med"/>
            <a:tailEnd type="none" w="med" len="med"/>
          </a:ln>
          <a:effectLst>
            <a:outerShdw blurRad="50800" dist="38100" dir="2700000" algn="tl" rotWithShape="0">
              <a:prstClr val="black">
                <a:alpha val="40000"/>
              </a:prstClr>
            </a:outerShdw>
          </a:effectLst>
        </p:spPr>
        <p:txBody>
          <a:bodyPr vert="horz" wrap="square" lIns="68580" tIns="68580" rIns="68580" bIns="68580" numCol="1" rtlCol="0" anchor="t" anchorCtr="0" compatLnSpc="1">
            <a:prstTxWarp prst="textNoShape">
              <a:avLst/>
            </a:prstTxWarp>
            <a:spAutoFit/>
          </a:bodyPr>
          <a:lstStyle/>
          <a:p>
            <a:pPr defTabSz="685800" fontAlgn="base">
              <a:spcBef>
                <a:spcPct val="0"/>
              </a:spcBef>
              <a:spcAft>
                <a:spcPct val="0"/>
              </a:spcAft>
            </a:pPr>
            <a:r>
              <a:rPr kumimoji="1" lang="en-US" altLang="ko-KR" sz="2400" dirty="0">
                <a:solidFill>
                  <a:srgbClr val="E7E200"/>
                </a:solidFill>
                <a:effectLst>
                  <a:outerShdw blurRad="38100" dist="38100" dir="2700000" algn="tl">
                    <a:srgbClr val="000000">
                      <a:alpha val="43137"/>
                    </a:srgbClr>
                  </a:outerShdw>
                </a:effectLst>
                <a:latin typeface="나눔스퀘어 ExtraBold" panose="020B0600000101010101" pitchFamily="50" charset="-127"/>
                <a:ea typeface="나눔스퀘어 ExtraBold" panose="020B0600000101010101" pitchFamily="50" charset="-127"/>
                <a:cs typeface="조선일보명조"/>
              </a:rPr>
              <a:t>Actor</a:t>
            </a:r>
            <a:endParaRPr kumimoji="1" lang="ko-KR" altLang="en-US" sz="2400" dirty="0">
              <a:solidFill>
                <a:srgbClr val="E7E200"/>
              </a:solidFill>
              <a:effectLst>
                <a:outerShdw blurRad="38100" dist="38100" dir="2700000" algn="tl">
                  <a:srgbClr val="000000">
                    <a:alpha val="43137"/>
                  </a:srgbClr>
                </a:outerShdw>
              </a:effectLst>
              <a:latin typeface="나눔스퀘어 ExtraBold" panose="020B0600000101010101" pitchFamily="50" charset="-127"/>
              <a:ea typeface="나눔스퀘어 ExtraBold" panose="020B0600000101010101" pitchFamily="50" charset="-127"/>
              <a:cs typeface="조선일보명조"/>
            </a:endParaRPr>
          </a:p>
        </p:txBody>
      </p:sp>
      <p:sp>
        <p:nvSpPr>
          <p:cNvPr id="29" name="타원 28">
            <a:extLst>
              <a:ext uri="{FF2B5EF4-FFF2-40B4-BE49-F238E27FC236}">
                <a16:creationId xmlns:a16="http://schemas.microsoft.com/office/drawing/2014/main" id="{C055D65E-23F2-CF29-1B45-F62A8EBD770E}"/>
              </a:ext>
            </a:extLst>
          </p:cNvPr>
          <p:cNvSpPr/>
          <p:nvPr/>
        </p:nvSpPr>
        <p:spPr bwMode="auto">
          <a:xfrm>
            <a:off x="498261" y="2716026"/>
            <a:ext cx="588188" cy="613646"/>
          </a:xfrm>
          <a:prstGeom prst="ellipse">
            <a:avLst/>
          </a:prstGeom>
          <a:noFill/>
          <a:ln w="76200" cap="rnd" cmpd="sng" algn="ctr">
            <a:solidFill>
              <a:schemeClr val="bg1">
                <a:lumMod val="65000"/>
              </a:schemeClr>
            </a:solidFill>
            <a:prstDash val="solid"/>
            <a:round/>
            <a:headEnd type="none" w="med" len="med"/>
            <a:tailEnd type="none" w="med" len="med"/>
          </a:ln>
          <a:effectLst>
            <a:outerShdw blurRad="50800" dist="38100" dir="2700000" algn="tl" rotWithShape="0">
              <a:prstClr val="black">
                <a:alpha val="40000"/>
              </a:prstClr>
            </a:outerShdw>
          </a:effectLst>
        </p:spPr>
        <p:txBody>
          <a:bodyPr vert="horz" wrap="square" lIns="0" tIns="0" rIns="0" bIns="0" numCol="1" rtlCol="0" anchor="ctr" anchorCtr="0" compatLnSpc="1">
            <a:prstTxWarp prst="textNoShape">
              <a:avLst/>
            </a:prstTxWarp>
          </a:bodyPr>
          <a:lstStyle/>
          <a:p>
            <a:pPr algn="ctr" defTabSz="685800" fontAlgn="base">
              <a:spcBef>
                <a:spcPct val="0"/>
              </a:spcBef>
              <a:spcAft>
                <a:spcPct val="0"/>
              </a:spcAft>
            </a:pPr>
            <a:r>
              <a:rPr kumimoji="1" lang="en-US" altLang="ko-KR" sz="1200" dirty="0">
                <a:solidFill>
                  <a:schemeClr val="tx1">
                    <a:lumMod val="65000"/>
                    <a:lumOff val="35000"/>
                  </a:schemeClr>
                </a:solidFill>
                <a:effectLst>
                  <a:outerShdw blurRad="38100" dist="38100" dir="2700000" algn="tl">
                    <a:srgbClr val="000000">
                      <a:alpha val="43137"/>
                    </a:srgbClr>
                  </a:outerShdw>
                </a:effectLst>
                <a:latin typeface="나눔스퀘어 ExtraBold" panose="020B0600000101010101" pitchFamily="50" charset="-127"/>
                <a:ea typeface="나눔스퀘어 ExtraBold" panose="020B0600000101010101" pitchFamily="50" charset="-127"/>
                <a:cs typeface="조선일보명조"/>
              </a:rPr>
              <a:t>Actor </a:t>
            </a:r>
            <a:endParaRPr kumimoji="1" lang="ko-KR" altLang="en-US" sz="1200" dirty="0">
              <a:solidFill>
                <a:schemeClr val="tx1">
                  <a:lumMod val="65000"/>
                  <a:lumOff val="35000"/>
                </a:schemeClr>
              </a:solidFill>
              <a:effectLst>
                <a:outerShdw blurRad="38100" dist="38100" dir="2700000" algn="tl">
                  <a:srgbClr val="000000">
                    <a:alpha val="43137"/>
                  </a:srgbClr>
                </a:outerShdw>
              </a:effectLst>
              <a:latin typeface="나눔스퀘어 ExtraBold" panose="020B0600000101010101" pitchFamily="50" charset="-127"/>
              <a:ea typeface="나눔스퀘어 ExtraBold" panose="020B0600000101010101" pitchFamily="50" charset="-127"/>
              <a:cs typeface="조선일보명조"/>
            </a:endParaRPr>
          </a:p>
        </p:txBody>
      </p:sp>
      <p:sp>
        <p:nvSpPr>
          <p:cNvPr id="30" name="타원 29">
            <a:extLst>
              <a:ext uri="{FF2B5EF4-FFF2-40B4-BE49-F238E27FC236}">
                <a16:creationId xmlns:a16="http://schemas.microsoft.com/office/drawing/2014/main" id="{4C7C92FC-0C82-5B59-D158-ED0071B73FEF}"/>
              </a:ext>
            </a:extLst>
          </p:cNvPr>
          <p:cNvSpPr/>
          <p:nvPr/>
        </p:nvSpPr>
        <p:spPr bwMode="auto">
          <a:xfrm>
            <a:off x="1320913" y="2848502"/>
            <a:ext cx="588188" cy="613646"/>
          </a:xfrm>
          <a:prstGeom prst="ellipse">
            <a:avLst/>
          </a:prstGeom>
          <a:noFill/>
          <a:ln w="76200" cap="rnd" cmpd="sng" algn="ctr">
            <a:solidFill>
              <a:schemeClr val="bg1">
                <a:lumMod val="65000"/>
              </a:schemeClr>
            </a:solidFill>
            <a:prstDash val="solid"/>
            <a:round/>
            <a:headEnd type="none" w="med" len="med"/>
            <a:tailEnd type="none" w="med" len="med"/>
          </a:ln>
          <a:effectLst>
            <a:outerShdw blurRad="50800" dist="38100" dir="2700000" algn="tl" rotWithShape="0">
              <a:prstClr val="black">
                <a:alpha val="40000"/>
              </a:prstClr>
            </a:outerShdw>
          </a:effectLst>
        </p:spPr>
        <p:txBody>
          <a:bodyPr vert="horz" wrap="square" lIns="0" tIns="0" rIns="0" bIns="0" numCol="1" rtlCol="0" anchor="ctr" anchorCtr="0" compatLnSpc="1">
            <a:prstTxWarp prst="textNoShape">
              <a:avLst/>
            </a:prstTxWarp>
          </a:bodyPr>
          <a:lstStyle/>
          <a:p>
            <a:pPr algn="ctr" defTabSz="685800" fontAlgn="base">
              <a:spcBef>
                <a:spcPct val="0"/>
              </a:spcBef>
              <a:spcAft>
                <a:spcPct val="0"/>
              </a:spcAft>
            </a:pPr>
            <a:r>
              <a:rPr kumimoji="1" lang="en-US" altLang="ko-KR" sz="1200" dirty="0">
                <a:solidFill>
                  <a:schemeClr val="tx1">
                    <a:lumMod val="65000"/>
                    <a:lumOff val="35000"/>
                  </a:schemeClr>
                </a:solidFill>
                <a:effectLst>
                  <a:outerShdw blurRad="38100" dist="38100" dir="2700000" algn="tl">
                    <a:srgbClr val="000000">
                      <a:alpha val="43137"/>
                    </a:srgbClr>
                  </a:outerShdw>
                </a:effectLst>
                <a:latin typeface="나눔스퀘어 ExtraBold" panose="020B0600000101010101" pitchFamily="50" charset="-127"/>
                <a:ea typeface="나눔스퀘어 ExtraBold" panose="020B0600000101010101" pitchFamily="50" charset="-127"/>
                <a:cs typeface="조선일보명조"/>
              </a:rPr>
              <a:t>Actor </a:t>
            </a:r>
            <a:endParaRPr kumimoji="1" lang="ko-KR" altLang="en-US" sz="1200" dirty="0">
              <a:solidFill>
                <a:schemeClr val="tx1">
                  <a:lumMod val="65000"/>
                  <a:lumOff val="35000"/>
                </a:schemeClr>
              </a:solidFill>
              <a:effectLst>
                <a:outerShdw blurRad="38100" dist="38100" dir="2700000" algn="tl">
                  <a:srgbClr val="000000">
                    <a:alpha val="43137"/>
                  </a:srgbClr>
                </a:outerShdw>
              </a:effectLst>
              <a:latin typeface="나눔스퀘어 ExtraBold" panose="020B0600000101010101" pitchFamily="50" charset="-127"/>
              <a:ea typeface="나눔스퀘어 ExtraBold" panose="020B0600000101010101" pitchFamily="50" charset="-127"/>
              <a:cs typeface="조선일보명조"/>
            </a:endParaRPr>
          </a:p>
        </p:txBody>
      </p:sp>
      <p:sp>
        <p:nvSpPr>
          <p:cNvPr id="31" name="타원 30">
            <a:extLst>
              <a:ext uri="{FF2B5EF4-FFF2-40B4-BE49-F238E27FC236}">
                <a16:creationId xmlns:a16="http://schemas.microsoft.com/office/drawing/2014/main" id="{ADD89CCD-78E8-27A9-B372-66CA933D8E23}"/>
              </a:ext>
            </a:extLst>
          </p:cNvPr>
          <p:cNvSpPr/>
          <p:nvPr/>
        </p:nvSpPr>
        <p:spPr bwMode="auto">
          <a:xfrm>
            <a:off x="1004065" y="3570818"/>
            <a:ext cx="588188" cy="613646"/>
          </a:xfrm>
          <a:prstGeom prst="ellipse">
            <a:avLst/>
          </a:prstGeom>
          <a:noFill/>
          <a:ln w="76200" cap="rnd" cmpd="sng" algn="ctr">
            <a:solidFill>
              <a:schemeClr val="bg1">
                <a:lumMod val="65000"/>
              </a:schemeClr>
            </a:solidFill>
            <a:prstDash val="solid"/>
            <a:round/>
            <a:headEnd type="none" w="med" len="med"/>
            <a:tailEnd type="none" w="med" len="med"/>
          </a:ln>
          <a:effectLst>
            <a:outerShdw blurRad="50800" dist="38100" dir="2700000" algn="tl" rotWithShape="0">
              <a:prstClr val="black">
                <a:alpha val="40000"/>
              </a:prstClr>
            </a:outerShdw>
          </a:effectLst>
        </p:spPr>
        <p:txBody>
          <a:bodyPr vert="horz" wrap="square" lIns="0" tIns="0" rIns="0" bIns="0" numCol="1" rtlCol="0" anchor="ctr" anchorCtr="0" compatLnSpc="1">
            <a:prstTxWarp prst="textNoShape">
              <a:avLst/>
            </a:prstTxWarp>
          </a:bodyPr>
          <a:lstStyle/>
          <a:p>
            <a:pPr algn="ctr" defTabSz="685800" fontAlgn="base">
              <a:spcBef>
                <a:spcPct val="0"/>
              </a:spcBef>
              <a:spcAft>
                <a:spcPct val="0"/>
              </a:spcAft>
            </a:pPr>
            <a:r>
              <a:rPr kumimoji="1" lang="en-US" altLang="ko-KR" sz="1200" dirty="0">
                <a:solidFill>
                  <a:schemeClr val="tx1">
                    <a:lumMod val="65000"/>
                    <a:lumOff val="35000"/>
                  </a:schemeClr>
                </a:solidFill>
                <a:effectLst>
                  <a:outerShdw blurRad="38100" dist="38100" dir="2700000" algn="tl">
                    <a:srgbClr val="000000">
                      <a:alpha val="43137"/>
                    </a:srgbClr>
                  </a:outerShdw>
                </a:effectLst>
                <a:latin typeface="나눔스퀘어 ExtraBold" panose="020B0600000101010101" pitchFamily="50" charset="-127"/>
                <a:ea typeface="나눔스퀘어 ExtraBold" panose="020B0600000101010101" pitchFamily="50" charset="-127"/>
                <a:cs typeface="조선일보명조"/>
              </a:rPr>
              <a:t>Actor </a:t>
            </a:r>
            <a:endParaRPr kumimoji="1" lang="ko-KR" altLang="en-US" sz="1200" dirty="0">
              <a:solidFill>
                <a:schemeClr val="tx1">
                  <a:lumMod val="65000"/>
                  <a:lumOff val="35000"/>
                </a:schemeClr>
              </a:solidFill>
              <a:effectLst>
                <a:outerShdw blurRad="38100" dist="38100" dir="2700000" algn="tl">
                  <a:srgbClr val="000000">
                    <a:alpha val="43137"/>
                  </a:srgbClr>
                </a:outerShdw>
              </a:effectLst>
              <a:latin typeface="나눔스퀘어 ExtraBold" panose="020B0600000101010101" pitchFamily="50" charset="-127"/>
              <a:ea typeface="나눔스퀘어 ExtraBold" panose="020B0600000101010101" pitchFamily="50" charset="-127"/>
              <a:cs typeface="조선일보명조"/>
            </a:endParaRPr>
          </a:p>
        </p:txBody>
      </p:sp>
      <p:sp>
        <p:nvSpPr>
          <p:cNvPr id="32" name="타원 31">
            <a:extLst>
              <a:ext uri="{FF2B5EF4-FFF2-40B4-BE49-F238E27FC236}">
                <a16:creationId xmlns:a16="http://schemas.microsoft.com/office/drawing/2014/main" id="{21AD32FB-1210-BF80-1182-9F6893E56348}"/>
              </a:ext>
            </a:extLst>
          </p:cNvPr>
          <p:cNvSpPr/>
          <p:nvPr/>
        </p:nvSpPr>
        <p:spPr bwMode="auto">
          <a:xfrm>
            <a:off x="1987105" y="3353730"/>
            <a:ext cx="588188" cy="613646"/>
          </a:xfrm>
          <a:prstGeom prst="ellipse">
            <a:avLst/>
          </a:prstGeom>
          <a:noFill/>
          <a:ln w="76200" cap="rnd" cmpd="sng" algn="ctr">
            <a:solidFill>
              <a:schemeClr val="bg1">
                <a:lumMod val="65000"/>
              </a:schemeClr>
            </a:solidFill>
            <a:prstDash val="solid"/>
            <a:round/>
            <a:headEnd type="none" w="med" len="med"/>
            <a:tailEnd type="none" w="med" len="med"/>
          </a:ln>
          <a:effectLst>
            <a:outerShdw blurRad="50800" dist="38100" dir="2700000" algn="tl" rotWithShape="0">
              <a:prstClr val="black">
                <a:alpha val="40000"/>
              </a:prstClr>
            </a:outerShdw>
          </a:effectLst>
        </p:spPr>
        <p:txBody>
          <a:bodyPr vert="horz" wrap="square" lIns="0" tIns="0" rIns="0" bIns="0" numCol="1" rtlCol="0" anchor="ctr" anchorCtr="0" compatLnSpc="1">
            <a:prstTxWarp prst="textNoShape">
              <a:avLst/>
            </a:prstTxWarp>
          </a:bodyPr>
          <a:lstStyle/>
          <a:p>
            <a:pPr algn="ctr" defTabSz="685800" fontAlgn="base">
              <a:spcBef>
                <a:spcPct val="0"/>
              </a:spcBef>
              <a:spcAft>
                <a:spcPct val="0"/>
              </a:spcAft>
            </a:pPr>
            <a:r>
              <a:rPr kumimoji="1" lang="en-US" altLang="ko-KR" sz="1200" dirty="0">
                <a:solidFill>
                  <a:schemeClr val="tx1">
                    <a:lumMod val="65000"/>
                    <a:lumOff val="35000"/>
                  </a:schemeClr>
                </a:solidFill>
                <a:effectLst>
                  <a:outerShdw blurRad="38100" dist="38100" dir="2700000" algn="tl">
                    <a:srgbClr val="000000">
                      <a:alpha val="43137"/>
                    </a:srgbClr>
                  </a:outerShdw>
                </a:effectLst>
                <a:latin typeface="나눔스퀘어 ExtraBold" panose="020B0600000101010101" pitchFamily="50" charset="-127"/>
                <a:ea typeface="나눔스퀘어 ExtraBold" panose="020B0600000101010101" pitchFamily="50" charset="-127"/>
                <a:cs typeface="조선일보명조"/>
              </a:rPr>
              <a:t>Actor </a:t>
            </a:r>
            <a:endParaRPr kumimoji="1" lang="ko-KR" altLang="en-US" sz="1200" dirty="0">
              <a:solidFill>
                <a:schemeClr val="tx1">
                  <a:lumMod val="65000"/>
                  <a:lumOff val="35000"/>
                </a:schemeClr>
              </a:solidFill>
              <a:effectLst>
                <a:outerShdw blurRad="38100" dist="38100" dir="2700000" algn="tl">
                  <a:srgbClr val="000000">
                    <a:alpha val="43137"/>
                  </a:srgbClr>
                </a:outerShdw>
              </a:effectLst>
              <a:latin typeface="나눔스퀘어 ExtraBold" panose="020B0600000101010101" pitchFamily="50" charset="-127"/>
              <a:ea typeface="나눔스퀘어 ExtraBold" panose="020B0600000101010101" pitchFamily="50" charset="-127"/>
              <a:cs typeface="조선일보명조"/>
            </a:endParaRPr>
          </a:p>
        </p:txBody>
      </p:sp>
      <p:sp>
        <p:nvSpPr>
          <p:cNvPr id="33" name="타원 32">
            <a:extLst>
              <a:ext uri="{FF2B5EF4-FFF2-40B4-BE49-F238E27FC236}">
                <a16:creationId xmlns:a16="http://schemas.microsoft.com/office/drawing/2014/main" id="{3373051E-D397-E7CB-061F-8CB2AFC46602}"/>
              </a:ext>
            </a:extLst>
          </p:cNvPr>
          <p:cNvSpPr/>
          <p:nvPr/>
        </p:nvSpPr>
        <p:spPr bwMode="auto">
          <a:xfrm>
            <a:off x="1957752" y="2354440"/>
            <a:ext cx="588188" cy="613646"/>
          </a:xfrm>
          <a:prstGeom prst="ellipse">
            <a:avLst/>
          </a:prstGeom>
          <a:noFill/>
          <a:ln w="76200" cap="rnd" cmpd="sng" algn="ctr">
            <a:solidFill>
              <a:schemeClr val="bg1">
                <a:lumMod val="65000"/>
              </a:schemeClr>
            </a:solidFill>
            <a:prstDash val="solid"/>
            <a:round/>
            <a:headEnd type="none" w="med" len="med"/>
            <a:tailEnd type="none" w="med" len="med"/>
          </a:ln>
          <a:effectLst>
            <a:outerShdw blurRad="50800" dist="38100" dir="2700000" algn="tl" rotWithShape="0">
              <a:prstClr val="black">
                <a:alpha val="40000"/>
              </a:prstClr>
            </a:outerShdw>
          </a:effectLst>
        </p:spPr>
        <p:txBody>
          <a:bodyPr vert="horz" wrap="square" lIns="0" tIns="0" rIns="0" bIns="0" numCol="1" rtlCol="0" anchor="ctr" anchorCtr="0" compatLnSpc="1">
            <a:prstTxWarp prst="textNoShape">
              <a:avLst/>
            </a:prstTxWarp>
          </a:bodyPr>
          <a:lstStyle/>
          <a:p>
            <a:pPr algn="ctr" defTabSz="685800" fontAlgn="base">
              <a:spcBef>
                <a:spcPct val="0"/>
              </a:spcBef>
              <a:spcAft>
                <a:spcPct val="0"/>
              </a:spcAft>
            </a:pPr>
            <a:r>
              <a:rPr kumimoji="1" lang="en-US" altLang="ko-KR" sz="1200" dirty="0">
                <a:solidFill>
                  <a:schemeClr val="tx1">
                    <a:lumMod val="65000"/>
                    <a:lumOff val="35000"/>
                  </a:schemeClr>
                </a:solidFill>
                <a:effectLst>
                  <a:outerShdw blurRad="38100" dist="38100" dir="2700000" algn="tl">
                    <a:srgbClr val="000000">
                      <a:alpha val="43137"/>
                    </a:srgbClr>
                  </a:outerShdw>
                </a:effectLst>
                <a:latin typeface="나눔스퀘어 ExtraBold" panose="020B0600000101010101" pitchFamily="50" charset="-127"/>
                <a:ea typeface="나눔스퀘어 ExtraBold" panose="020B0600000101010101" pitchFamily="50" charset="-127"/>
                <a:cs typeface="조선일보명조"/>
              </a:rPr>
              <a:t>Actor </a:t>
            </a:r>
            <a:endParaRPr kumimoji="1" lang="ko-KR" altLang="en-US" sz="1200" dirty="0">
              <a:solidFill>
                <a:schemeClr val="tx1">
                  <a:lumMod val="65000"/>
                  <a:lumOff val="35000"/>
                </a:schemeClr>
              </a:solidFill>
              <a:effectLst>
                <a:outerShdw blurRad="38100" dist="38100" dir="2700000" algn="tl">
                  <a:srgbClr val="000000">
                    <a:alpha val="43137"/>
                  </a:srgbClr>
                </a:outerShdw>
              </a:effectLst>
              <a:latin typeface="나눔스퀘어 ExtraBold" panose="020B0600000101010101" pitchFamily="50" charset="-127"/>
              <a:ea typeface="나눔스퀘어 ExtraBold" panose="020B0600000101010101" pitchFamily="50" charset="-127"/>
              <a:cs typeface="조선일보명조"/>
            </a:endParaRPr>
          </a:p>
        </p:txBody>
      </p:sp>
      <p:sp>
        <p:nvSpPr>
          <p:cNvPr id="34" name="직사각형 33">
            <a:extLst>
              <a:ext uri="{FF2B5EF4-FFF2-40B4-BE49-F238E27FC236}">
                <a16:creationId xmlns:a16="http://schemas.microsoft.com/office/drawing/2014/main" id="{96CCB907-CE39-61A7-C0D9-8AE450F1FE58}"/>
              </a:ext>
            </a:extLst>
          </p:cNvPr>
          <p:cNvSpPr/>
          <p:nvPr/>
        </p:nvSpPr>
        <p:spPr bwMode="auto">
          <a:xfrm>
            <a:off x="262735" y="2188381"/>
            <a:ext cx="2536697" cy="2168612"/>
          </a:xfrm>
          <a:prstGeom prst="rect">
            <a:avLst/>
          </a:prstGeom>
          <a:noFill/>
          <a:ln w="38100" cap="rnd" cmpd="sng" algn="ctr">
            <a:solidFill>
              <a:schemeClr val="bg1">
                <a:lumMod val="65000"/>
              </a:schemeClr>
            </a:solidFill>
            <a:prstDash val="solid"/>
            <a:round/>
            <a:headEnd type="none" w="med" len="med"/>
            <a:tailEnd type="none" w="med" len="med"/>
          </a:ln>
          <a:effectLst>
            <a:outerShdw blurRad="50800" dist="38100" dir="2700000" algn="tl" rotWithShape="0">
              <a:prstClr val="black">
                <a:alpha val="40000"/>
              </a:prstClr>
            </a:outerShdw>
          </a:effectLst>
        </p:spPr>
        <p:txBody>
          <a:bodyPr vert="horz" wrap="square" lIns="68580" tIns="68580" rIns="68580" bIns="68580" numCol="1" rtlCol="0" anchor="ctr" anchorCtr="0" compatLnSpc="1">
            <a:prstTxWarp prst="textNoShape">
              <a:avLst/>
            </a:prstTxWarp>
            <a:noAutofit/>
          </a:bodyPr>
          <a:lstStyle/>
          <a:p>
            <a:pPr algn="ctr" defTabSz="685800" fontAlgn="base">
              <a:spcBef>
                <a:spcPct val="0"/>
              </a:spcBef>
              <a:spcAft>
                <a:spcPct val="0"/>
              </a:spcAft>
            </a:pPr>
            <a:endParaRPr kumimoji="1" lang="ko-KR" altLang="en-US" sz="2400" b="1" dirty="0">
              <a:solidFill>
                <a:srgbClr val="E7E200"/>
              </a:solidFill>
              <a:effectLst>
                <a:outerShdw blurRad="38100" dist="38100" dir="2700000" algn="tl">
                  <a:srgbClr val="000000">
                    <a:alpha val="43137"/>
                  </a:srgbClr>
                </a:outerShdw>
              </a:effectLst>
              <a:latin typeface="나눔스퀘어 ExtraBold" panose="020B0600000101010101" pitchFamily="50" charset="-127"/>
              <a:ea typeface="나눔스퀘어 ExtraBold" panose="020B0600000101010101" pitchFamily="50" charset="-127"/>
              <a:cs typeface="조선일보명조"/>
            </a:endParaRPr>
          </a:p>
        </p:txBody>
      </p:sp>
      <p:sp>
        <p:nvSpPr>
          <p:cNvPr id="35" name="직사각형 34">
            <a:extLst>
              <a:ext uri="{FF2B5EF4-FFF2-40B4-BE49-F238E27FC236}">
                <a16:creationId xmlns:a16="http://schemas.microsoft.com/office/drawing/2014/main" id="{776A99C6-C879-486C-65E1-25018DB5FB45}"/>
              </a:ext>
            </a:extLst>
          </p:cNvPr>
          <p:cNvSpPr/>
          <p:nvPr/>
        </p:nvSpPr>
        <p:spPr bwMode="auto">
          <a:xfrm>
            <a:off x="289560" y="2246492"/>
            <a:ext cx="1466850" cy="507831"/>
          </a:xfrm>
          <a:prstGeom prst="rect">
            <a:avLst/>
          </a:prstGeom>
          <a:noFill/>
          <a:ln w="38100" cap="rnd" cmpd="sng" algn="ctr">
            <a:noFill/>
            <a:prstDash val="solid"/>
            <a:round/>
            <a:headEnd type="none" w="med" len="med"/>
            <a:tailEnd type="none" w="med" len="med"/>
          </a:ln>
          <a:effectLst>
            <a:outerShdw blurRad="50800" dist="38100" dir="2700000" algn="tl" rotWithShape="0">
              <a:prstClr val="black">
                <a:alpha val="40000"/>
              </a:prstClr>
            </a:outerShdw>
          </a:effectLst>
        </p:spPr>
        <p:txBody>
          <a:bodyPr vert="horz" wrap="square" lIns="68580" tIns="68580" rIns="68580" bIns="68580" numCol="1" rtlCol="0" anchor="t" anchorCtr="0" compatLnSpc="1">
            <a:prstTxWarp prst="textNoShape">
              <a:avLst/>
            </a:prstTxWarp>
            <a:spAutoFit/>
          </a:bodyPr>
          <a:lstStyle/>
          <a:p>
            <a:pPr defTabSz="685800" fontAlgn="base">
              <a:spcBef>
                <a:spcPct val="0"/>
              </a:spcBef>
              <a:spcAft>
                <a:spcPct val="0"/>
              </a:spcAft>
            </a:pPr>
            <a:r>
              <a:rPr kumimoji="1" lang="en-US" altLang="ko-KR" sz="2400" dirty="0">
                <a:solidFill>
                  <a:schemeClr val="tx1">
                    <a:lumMod val="65000"/>
                    <a:lumOff val="35000"/>
                  </a:schemeClr>
                </a:solidFill>
                <a:effectLst>
                  <a:outerShdw blurRad="38100" dist="38100" dir="2700000" algn="tl">
                    <a:srgbClr val="000000">
                      <a:alpha val="43137"/>
                    </a:srgbClr>
                  </a:outerShdw>
                </a:effectLst>
                <a:latin typeface="나눔스퀘어 ExtraBold" panose="020B0600000101010101" pitchFamily="50" charset="-127"/>
                <a:ea typeface="나눔스퀘어 ExtraBold" panose="020B0600000101010101" pitchFamily="50" charset="-127"/>
                <a:cs typeface="조선일보명조"/>
              </a:rPr>
              <a:t>Level</a:t>
            </a:r>
            <a:endParaRPr kumimoji="1" lang="ko-KR" altLang="en-US" sz="2400" dirty="0">
              <a:solidFill>
                <a:schemeClr val="tx1">
                  <a:lumMod val="65000"/>
                  <a:lumOff val="35000"/>
                </a:schemeClr>
              </a:solidFill>
              <a:effectLst>
                <a:outerShdw blurRad="38100" dist="38100" dir="2700000" algn="tl">
                  <a:srgbClr val="000000">
                    <a:alpha val="43137"/>
                  </a:srgbClr>
                </a:outerShdw>
              </a:effectLst>
              <a:latin typeface="나눔스퀘어 ExtraBold" panose="020B0600000101010101" pitchFamily="50" charset="-127"/>
              <a:ea typeface="나눔스퀘어 ExtraBold" panose="020B0600000101010101" pitchFamily="50" charset="-127"/>
              <a:cs typeface="조선일보명조"/>
            </a:endParaRPr>
          </a:p>
        </p:txBody>
      </p:sp>
      <p:sp>
        <p:nvSpPr>
          <p:cNvPr id="36" name="Content Placeholder 17">
            <a:extLst>
              <a:ext uri="{FF2B5EF4-FFF2-40B4-BE49-F238E27FC236}">
                <a16:creationId xmlns:a16="http://schemas.microsoft.com/office/drawing/2014/main" id="{3B8396BA-7E61-7D1C-7AFC-452335517FC1}"/>
              </a:ext>
            </a:extLst>
          </p:cNvPr>
          <p:cNvSpPr txBox="1">
            <a:spLocks/>
          </p:cNvSpPr>
          <p:nvPr/>
        </p:nvSpPr>
        <p:spPr>
          <a:xfrm>
            <a:off x="447059" y="4267801"/>
            <a:ext cx="2165980" cy="484748"/>
          </a:xfrm>
          <a:prstGeom prst="rect">
            <a:avLst/>
          </a:prstGeom>
          <a:solidFill>
            <a:schemeClr val="bg1">
              <a:lumMod val="85000"/>
            </a:schemeClr>
          </a:solidFill>
          <a:ln w="28575">
            <a:solidFill>
              <a:srgbClr val="FF0000"/>
            </a:solidFill>
          </a:ln>
        </p:spPr>
        <p:txBody>
          <a:bodyPr vert="horz" wrap="square" lIns="68580" tIns="34290" rIns="68580" bIns="34290" rtlCol="0" anchor="ctr" anchorCtr="0">
            <a:sp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00000"/>
              </a:lnSpc>
              <a:spcBef>
                <a:spcPts val="0"/>
              </a:spcBef>
              <a:spcAft>
                <a:spcPts val="0"/>
              </a:spcAft>
              <a:buNone/>
            </a:pPr>
            <a:r>
              <a:rPr lang="ko-KR" altLang="en-US" sz="1350" b="1" dirty="0">
                <a:solidFill>
                  <a:srgbClr val="D24726"/>
                </a:solidFill>
                <a:latin typeface="+mn-ea"/>
              </a:rPr>
              <a:t>레벨 상에 배치된 </a:t>
            </a:r>
            <a:r>
              <a:rPr lang="ko-KR" altLang="en-US" sz="1350" b="1" dirty="0" err="1">
                <a:solidFill>
                  <a:srgbClr val="D24726"/>
                </a:solidFill>
                <a:latin typeface="+mn-ea"/>
              </a:rPr>
              <a:t>액터들은</a:t>
            </a:r>
            <a:endParaRPr lang="en-US" altLang="ko-KR" sz="1350" b="1" dirty="0">
              <a:solidFill>
                <a:srgbClr val="D24726"/>
              </a:solidFill>
              <a:latin typeface="+mn-ea"/>
            </a:endParaRPr>
          </a:p>
          <a:p>
            <a:pPr marL="0" indent="0" algn="ctr">
              <a:lnSpc>
                <a:spcPct val="100000"/>
              </a:lnSpc>
              <a:spcBef>
                <a:spcPts val="0"/>
              </a:spcBef>
              <a:spcAft>
                <a:spcPts val="0"/>
              </a:spcAft>
              <a:buNone/>
            </a:pPr>
            <a:r>
              <a:rPr lang="ko-KR" altLang="en-US" sz="1350" b="1" dirty="0">
                <a:solidFill>
                  <a:srgbClr val="D24726"/>
                </a:solidFill>
                <a:latin typeface="+mn-ea"/>
              </a:rPr>
              <a:t>이미 생성된 상태임</a:t>
            </a:r>
            <a:r>
              <a:rPr lang="en-US" altLang="ko-KR" sz="1350" b="1" dirty="0">
                <a:solidFill>
                  <a:srgbClr val="D24726"/>
                </a:solidFill>
                <a:latin typeface="+mn-ea"/>
              </a:rPr>
              <a: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5361971-8052-55FE-438A-08159C2D066E}"/>
              </a:ext>
            </a:extLst>
          </p:cNvPr>
          <p:cNvSpPr>
            <a:spLocks noGrp="1"/>
          </p:cNvSpPr>
          <p:nvPr>
            <p:ph type="title"/>
          </p:nvPr>
        </p:nvSpPr>
        <p:spPr/>
        <p:txBody>
          <a:bodyPr wrap="square"/>
          <a:lstStyle/>
          <a:p>
            <a:r>
              <a:rPr lang="ko-KR" altLang="en-US"/>
              <a:t>실습 </a:t>
            </a:r>
            <a:r>
              <a:rPr lang="en-US" altLang="ko-KR"/>
              <a:t>1. </a:t>
            </a:r>
            <a:r>
              <a:rPr lang="ko-KR" altLang="en-US"/>
              <a:t>액터 이동</a:t>
            </a:r>
            <a:endParaRPr lang="ko-KR" alt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C3715C-40C9-B182-A18B-AF0B96F55603}"/>
            </a:ext>
          </a:extLst>
        </p:cNvPr>
        <p:cNvGrpSpPr/>
        <p:nvPr/>
      </p:nvGrpSpPr>
      <p:grpSpPr>
        <a:xfrm>
          <a:off x="0" y="0"/>
          <a:ext cx="0" cy="0"/>
          <a:chOff x="0" y="0"/>
          <a:chExt cx="0" cy="0"/>
        </a:xfrm>
      </p:grpSpPr>
      <p:sp>
        <p:nvSpPr>
          <p:cNvPr id="3" name="직사각형 2">
            <a:extLst>
              <a:ext uri="{FF2B5EF4-FFF2-40B4-BE49-F238E27FC236}">
                <a16:creationId xmlns:a16="http://schemas.microsoft.com/office/drawing/2014/main" id="{81057E73-5562-A345-EF8B-A47AF3EB8497}"/>
              </a:ext>
            </a:extLst>
          </p:cNvPr>
          <p:cNvSpPr/>
          <p:nvPr/>
        </p:nvSpPr>
        <p:spPr bwMode="auto">
          <a:xfrm>
            <a:off x="0" y="0"/>
            <a:ext cx="9144000" cy="5143500"/>
          </a:xfrm>
          <a:prstGeom prst="rect">
            <a:avLst/>
          </a:prstGeom>
          <a:solidFill>
            <a:schemeClr val="tx1">
              <a:lumMod val="50000"/>
              <a:lumOff val="50000"/>
            </a:schemeClr>
          </a:solidFill>
          <a:ln w="12700" cap="rnd"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1" hangingPunct="1">
              <a:lnSpc>
                <a:spcPct val="100000"/>
              </a:lnSpc>
              <a:spcBef>
                <a:spcPct val="0"/>
              </a:spcBef>
              <a:spcAft>
                <a:spcPct val="0"/>
              </a:spcAft>
              <a:buClrTx/>
              <a:buSzTx/>
              <a:buFontTx/>
              <a:buNone/>
              <a:tabLst/>
            </a:pPr>
            <a:endParaRPr kumimoji="1" lang="ko-KR" altLang="en-US" sz="1800" b="0" i="0" u="none" strike="noStrike" cap="none" normalizeH="0" baseline="0">
              <a:ln>
                <a:noFill/>
              </a:ln>
              <a:solidFill>
                <a:schemeClr val="tx1"/>
              </a:solidFill>
              <a:effectLst/>
              <a:latin typeface="Tahoma" pitchFamily="34" charset="0"/>
              <a:ea typeface="나눔고딕" pitchFamily="50" charset="-127"/>
              <a:cs typeface="조선일보명조"/>
            </a:endParaRPr>
          </a:p>
        </p:txBody>
      </p:sp>
    </p:spTree>
    <p:extLst>
      <p:ext uri="{BB962C8B-B14F-4D97-AF65-F5344CB8AC3E}">
        <p14:creationId xmlns:p14="http://schemas.microsoft.com/office/powerpoint/2010/main" val="40562656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0E51EF-6016-452F-0A31-CFA522F7504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3C22EF8D-C54E-D288-3FED-A6AAE2D70FE6}"/>
              </a:ext>
            </a:extLst>
          </p:cNvPr>
          <p:cNvSpPr>
            <a:spLocks noGrp="1"/>
          </p:cNvSpPr>
          <p:nvPr>
            <p:ph type="title"/>
          </p:nvPr>
        </p:nvSpPr>
        <p:spPr/>
        <p:txBody>
          <a:bodyPr wrap="square"/>
          <a:lstStyle/>
          <a:p>
            <a:r>
              <a:rPr lang="en-US" altLang="ko-KR"/>
              <a:t>2</a:t>
            </a:r>
            <a:r>
              <a:rPr lang="ko-KR" altLang="en-US"/>
              <a:t>차시</a:t>
            </a:r>
            <a:r>
              <a:rPr lang="en-US" altLang="ko-KR"/>
              <a:t>. </a:t>
            </a:r>
            <a:r>
              <a:rPr lang="ko-KR" altLang="en-US"/>
              <a:t>블루프린트 클래스</a:t>
            </a:r>
            <a:endParaRPr lang="ko-KR" altLang="en-US" dirty="0"/>
          </a:p>
        </p:txBody>
      </p:sp>
    </p:spTree>
    <p:extLst>
      <p:ext uri="{BB962C8B-B14F-4D97-AF65-F5344CB8AC3E}">
        <p14:creationId xmlns:p14="http://schemas.microsoft.com/office/powerpoint/2010/main" val="354664871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dirty="0" err="1"/>
              <a:t>블루프린트</a:t>
            </a:r>
            <a:r>
              <a:rPr lang="ko-KR" altLang="en-US" dirty="0"/>
              <a:t> 클래스</a:t>
            </a:r>
            <a:r>
              <a:rPr lang="en-US" altLang="ko-KR" dirty="0"/>
              <a:t>(Blueprint Class)</a:t>
            </a:r>
            <a:endParaRPr lang="ko-KR" altLang="en-US" dirty="0"/>
          </a:p>
        </p:txBody>
      </p:sp>
      <p:sp>
        <p:nvSpPr>
          <p:cNvPr id="3" name="내용 개체 틀 2"/>
          <p:cNvSpPr>
            <a:spLocks noGrp="1"/>
          </p:cNvSpPr>
          <p:nvPr>
            <p:ph idx="1"/>
          </p:nvPr>
        </p:nvSpPr>
        <p:spPr>
          <a:xfrm>
            <a:off x="55202" y="618982"/>
            <a:ext cx="8981294" cy="1026507"/>
          </a:xfrm>
        </p:spPr>
        <p:txBody>
          <a:bodyPr/>
          <a:lstStyle/>
          <a:p>
            <a:r>
              <a:rPr lang="ko-KR" altLang="en-US"/>
              <a:t>가장 핵심적인 블루프린트 유형</a:t>
            </a:r>
            <a:r>
              <a:rPr lang="en-US" altLang="ko-KR"/>
              <a:t>.</a:t>
            </a:r>
            <a:r>
              <a:rPr lang="ko-KR" altLang="en-US"/>
              <a:t> 그냥 블루프린트</a:t>
            </a:r>
            <a:r>
              <a:rPr lang="en-US" altLang="ko-KR"/>
              <a:t> </a:t>
            </a:r>
            <a:r>
              <a:rPr lang="ko-KR" altLang="en-US"/>
              <a:t>라고도 부름</a:t>
            </a:r>
            <a:r>
              <a:rPr lang="en-US" altLang="ko-KR"/>
              <a:t>.</a:t>
            </a:r>
            <a:endParaRPr lang="ko-KR" altLang="en-US"/>
          </a:p>
          <a:p>
            <a:r>
              <a:rPr lang="ko-KR" altLang="en-US"/>
              <a:t>새로운 종류의 액터를 설계하고 생성하는데 사용됨</a:t>
            </a:r>
            <a:r>
              <a:rPr lang="en-US" altLang="ko-KR"/>
              <a:t>.</a:t>
            </a:r>
            <a:r>
              <a:rPr lang="ko-KR" altLang="en-US"/>
              <a:t> </a:t>
            </a:r>
            <a:endParaRPr lang="en-US" altLang="ko-KR"/>
          </a:p>
          <a:p>
            <a:r>
              <a:rPr lang="ko-KR" altLang="en-US"/>
              <a:t>객체지향언어의 </a:t>
            </a:r>
            <a:r>
              <a:rPr lang="en-US" altLang="ko-KR" dirty="0"/>
              <a:t>“</a:t>
            </a:r>
            <a:r>
              <a:rPr lang="ko-KR" altLang="en-US" dirty="0"/>
              <a:t>클래스</a:t>
            </a:r>
            <a:r>
              <a:rPr lang="en-US" altLang="ko-KR" dirty="0"/>
              <a:t>”</a:t>
            </a:r>
            <a:r>
              <a:rPr lang="ko-KR" altLang="en-US" dirty="0"/>
              <a:t>와 동일한 개념</a:t>
            </a:r>
            <a:r>
              <a:rPr lang="en-US" altLang="ko-KR" dirty="0"/>
              <a:t>.</a:t>
            </a:r>
          </a:p>
        </p:txBody>
      </p:sp>
      <p:pic>
        <p:nvPicPr>
          <p:cNvPr id="1026" name="Picture 2" descr="Image result for ë¶ì´ë¹µí"/>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6738" y="2312524"/>
            <a:ext cx="1476375" cy="1543629"/>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Related imag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616994" y="1991738"/>
            <a:ext cx="4143375" cy="2328863"/>
          </a:xfrm>
          <a:prstGeom prst="rect">
            <a:avLst/>
          </a:prstGeom>
          <a:noFill/>
          <a:extLst>
            <a:ext uri="{909E8E84-426E-40DD-AFC4-6F175D3DCCD1}">
              <a14:hiddenFill xmlns:a14="http://schemas.microsoft.com/office/drawing/2010/main">
                <a:solidFill>
                  <a:srgbClr val="FFFFFF"/>
                </a:solidFill>
              </a14:hiddenFill>
            </a:ext>
          </a:extLst>
        </p:spPr>
      </p:pic>
      <p:sp>
        <p:nvSpPr>
          <p:cNvPr id="11" name="직사각형 10"/>
          <p:cNvSpPr/>
          <p:nvPr/>
        </p:nvSpPr>
        <p:spPr bwMode="auto">
          <a:xfrm>
            <a:off x="92868" y="3856153"/>
            <a:ext cx="2314576" cy="346249"/>
          </a:xfrm>
          <a:prstGeom prst="rect">
            <a:avLst/>
          </a:prstGeom>
          <a:noFill/>
          <a:ln w="38100" cap="rnd" cmpd="sng" algn="ctr">
            <a:noFill/>
            <a:prstDash val="solid"/>
            <a:round/>
            <a:headEnd type="none" w="med" len="med"/>
            <a:tailEnd type="none" w="med" len="med"/>
          </a:ln>
          <a:effectLst>
            <a:outerShdw blurRad="50800" dist="38100" dir="2700000" algn="tl" rotWithShape="0">
              <a:prstClr val="black">
                <a:alpha val="40000"/>
              </a:prstClr>
            </a:outerShdw>
          </a:effectLst>
        </p:spPr>
        <p:txBody>
          <a:bodyPr vert="horz" wrap="square" lIns="68580" tIns="68580" rIns="68580" bIns="68580" numCol="1" rtlCol="0" anchor="t" anchorCtr="0" compatLnSpc="1">
            <a:prstTxWarp prst="textNoShape">
              <a:avLst/>
            </a:prstTxWarp>
            <a:spAutoFit/>
          </a:bodyPr>
          <a:lstStyle/>
          <a:p>
            <a:pPr algn="ctr" defTabSz="685800" fontAlgn="base">
              <a:spcBef>
                <a:spcPct val="0"/>
              </a:spcBef>
              <a:spcAft>
                <a:spcPct val="0"/>
              </a:spcAft>
            </a:pPr>
            <a:r>
              <a:rPr kumimoji="1" lang="ko-KR" altLang="en-US" sz="1350">
                <a:solidFill>
                  <a:schemeClr val="tx1">
                    <a:lumMod val="65000"/>
                    <a:lumOff val="35000"/>
                  </a:schemeClr>
                </a:solidFill>
                <a:latin typeface="나눔스퀘어 ExtraBold" panose="020B0600000101010101" pitchFamily="50" charset="-127"/>
                <a:ea typeface="나눔스퀘어 ExtraBold" panose="020B0600000101010101" pitchFamily="50" charset="-127"/>
                <a:cs typeface="조선일보명조"/>
              </a:rPr>
              <a:t>붕어빵틀 </a:t>
            </a:r>
            <a:r>
              <a:rPr kumimoji="1" lang="en-US" altLang="ko-KR" sz="1350">
                <a:solidFill>
                  <a:schemeClr val="tx1">
                    <a:lumMod val="65000"/>
                    <a:lumOff val="35000"/>
                  </a:schemeClr>
                </a:solidFill>
                <a:latin typeface="나눔스퀘어 ExtraBold" panose="020B0600000101010101" pitchFamily="50" charset="-127"/>
                <a:ea typeface="나눔스퀘어 ExtraBold" panose="020B0600000101010101" pitchFamily="50" charset="-127"/>
                <a:cs typeface="조선일보명조"/>
              </a:rPr>
              <a:t>- </a:t>
            </a:r>
            <a:r>
              <a:rPr kumimoji="1" lang="ko-KR" altLang="en-US" sz="1350">
                <a:solidFill>
                  <a:schemeClr val="tx1">
                    <a:lumMod val="65000"/>
                    <a:lumOff val="35000"/>
                  </a:schemeClr>
                </a:solidFill>
                <a:latin typeface="나눔스퀘어 ExtraBold" panose="020B0600000101010101" pitchFamily="50" charset="-127"/>
                <a:ea typeface="나눔스퀘어 ExtraBold" panose="020B0600000101010101" pitchFamily="50" charset="-127"/>
                <a:cs typeface="조선일보명조"/>
              </a:rPr>
              <a:t>클래스</a:t>
            </a:r>
            <a:endParaRPr kumimoji="1" lang="ko-KR" altLang="en-US" sz="1350" dirty="0">
              <a:solidFill>
                <a:schemeClr val="tx1">
                  <a:lumMod val="65000"/>
                  <a:lumOff val="35000"/>
                </a:schemeClr>
              </a:solidFill>
              <a:latin typeface="나눔스퀘어 ExtraBold" panose="020B0600000101010101" pitchFamily="50" charset="-127"/>
              <a:ea typeface="나눔스퀘어 ExtraBold" panose="020B0600000101010101" pitchFamily="50" charset="-127"/>
              <a:cs typeface="조선일보명조"/>
            </a:endParaRPr>
          </a:p>
        </p:txBody>
      </p:sp>
      <p:sp>
        <p:nvSpPr>
          <p:cNvPr id="12" name="직사각형 11"/>
          <p:cNvSpPr/>
          <p:nvPr/>
        </p:nvSpPr>
        <p:spPr bwMode="auto">
          <a:xfrm>
            <a:off x="3586162" y="4320601"/>
            <a:ext cx="2314576" cy="346249"/>
          </a:xfrm>
          <a:prstGeom prst="rect">
            <a:avLst/>
          </a:prstGeom>
          <a:noFill/>
          <a:ln w="38100" cap="rnd" cmpd="sng" algn="ctr">
            <a:noFill/>
            <a:prstDash val="solid"/>
            <a:round/>
            <a:headEnd type="none" w="med" len="med"/>
            <a:tailEnd type="none" w="med" len="med"/>
          </a:ln>
          <a:effectLst>
            <a:outerShdw blurRad="50800" dist="38100" dir="2700000" algn="tl" rotWithShape="0">
              <a:prstClr val="black">
                <a:alpha val="40000"/>
              </a:prstClr>
            </a:outerShdw>
          </a:effectLst>
        </p:spPr>
        <p:txBody>
          <a:bodyPr vert="horz" wrap="square" lIns="68580" tIns="68580" rIns="68580" bIns="68580" numCol="1" rtlCol="0" anchor="t" anchorCtr="0" compatLnSpc="1">
            <a:prstTxWarp prst="textNoShape">
              <a:avLst/>
            </a:prstTxWarp>
            <a:spAutoFit/>
          </a:bodyPr>
          <a:lstStyle/>
          <a:p>
            <a:pPr algn="ctr" defTabSz="685800" fontAlgn="base">
              <a:spcBef>
                <a:spcPct val="0"/>
              </a:spcBef>
              <a:spcAft>
                <a:spcPct val="0"/>
              </a:spcAft>
            </a:pPr>
            <a:r>
              <a:rPr kumimoji="1" lang="ko-KR" altLang="en-US" sz="1350">
                <a:solidFill>
                  <a:schemeClr val="tx1">
                    <a:lumMod val="65000"/>
                    <a:lumOff val="35000"/>
                  </a:schemeClr>
                </a:solidFill>
                <a:latin typeface="나눔스퀘어 ExtraBold" panose="020B0600000101010101" pitchFamily="50" charset="-127"/>
                <a:ea typeface="나눔스퀘어 ExtraBold" panose="020B0600000101010101" pitchFamily="50" charset="-127"/>
                <a:cs typeface="조선일보명조"/>
              </a:rPr>
              <a:t>붕어빵 </a:t>
            </a:r>
            <a:r>
              <a:rPr kumimoji="1" lang="en-US" altLang="ko-KR" sz="1350">
                <a:solidFill>
                  <a:schemeClr val="tx1">
                    <a:lumMod val="65000"/>
                    <a:lumOff val="35000"/>
                  </a:schemeClr>
                </a:solidFill>
                <a:latin typeface="나눔스퀘어 ExtraBold" panose="020B0600000101010101" pitchFamily="50" charset="-127"/>
                <a:ea typeface="나눔스퀘어 ExtraBold" panose="020B0600000101010101" pitchFamily="50" charset="-127"/>
                <a:cs typeface="조선일보명조"/>
              </a:rPr>
              <a:t>– </a:t>
            </a:r>
            <a:r>
              <a:rPr kumimoji="1" lang="ko-KR" altLang="en-US" sz="1350">
                <a:solidFill>
                  <a:schemeClr val="tx1">
                    <a:lumMod val="65000"/>
                    <a:lumOff val="35000"/>
                  </a:schemeClr>
                </a:solidFill>
                <a:latin typeface="나눔스퀘어 ExtraBold" panose="020B0600000101010101" pitchFamily="50" charset="-127"/>
                <a:ea typeface="나눔스퀘어 ExtraBold" panose="020B0600000101010101" pitchFamily="50" charset="-127"/>
                <a:cs typeface="조선일보명조"/>
              </a:rPr>
              <a:t>객체</a:t>
            </a:r>
            <a:r>
              <a:rPr kumimoji="1" lang="en-US" altLang="ko-KR" sz="1350">
                <a:solidFill>
                  <a:schemeClr val="tx1">
                    <a:lumMod val="65000"/>
                    <a:lumOff val="35000"/>
                  </a:schemeClr>
                </a:solidFill>
                <a:latin typeface="나눔스퀘어 ExtraBold" panose="020B0600000101010101" pitchFamily="50" charset="-127"/>
                <a:ea typeface="나눔스퀘어 ExtraBold" panose="020B0600000101010101" pitchFamily="50" charset="-127"/>
                <a:cs typeface="조선일보명조"/>
              </a:rPr>
              <a:t>, </a:t>
            </a:r>
            <a:r>
              <a:rPr kumimoji="1" lang="ko-KR" altLang="en-US" sz="1350">
                <a:solidFill>
                  <a:schemeClr val="tx1">
                    <a:lumMod val="65000"/>
                    <a:lumOff val="35000"/>
                  </a:schemeClr>
                </a:solidFill>
                <a:latin typeface="나눔스퀘어 ExtraBold" panose="020B0600000101010101" pitchFamily="50" charset="-127"/>
                <a:ea typeface="나눔스퀘어 ExtraBold" panose="020B0600000101010101" pitchFamily="50" charset="-127"/>
                <a:cs typeface="조선일보명조"/>
              </a:rPr>
              <a:t>인스턴스</a:t>
            </a:r>
            <a:endParaRPr kumimoji="1" lang="ko-KR" altLang="en-US" sz="1350" dirty="0">
              <a:solidFill>
                <a:schemeClr val="tx1">
                  <a:lumMod val="65000"/>
                  <a:lumOff val="35000"/>
                </a:schemeClr>
              </a:solidFill>
              <a:latin typeface="나눔스퀘어 ExtraBold" panose="020B0600000101010101" pitchFamily="50" charset="-127"/>
              <a:ea typeface="나눔스퀘어 ExtraBold" panose="020B0600000101010101" pitchFamily="50" charset="-127"/>
              <a:cs typeface="조선일보명조"/>
            </a:endParaRPr>
          </a:p>
        </p:txBody>
      </p:sp>
    </p:spTree>
    <p:extLst>
      <p:ext uri="{BB962C8B-B14F-4D97-AF65-F5344CB8AC3E}">
        <p14:creationId xmlns:p14="http://schemas.microsoft.com/office/powerpoint/2010/main" val="24149957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dirty="0" err="1"/>
              <a:t>블루프린트</a:t>
            </a:r>
            <a:r>
              <a:rPr lang="en-US" altLang="ko-KR" dirty="0"/>
              <a:t>(Blueprint)</a:t>
            </a:r>
            <a:r>
              <a:rPr lang="ko-KR" altLang="en-US" dirty="0"/>
              <a:t> </a:t>
            </a:r>
            <a:r>
              <a:rPr lang="en-US" altLang="ko-KR" dirty="0"/>
              <a:t>-</a:t>
            </a:r>
            <a:r>
              <a:rPr lang="ko-KR" altLang="en-US" dirty="0"/>
              <a:t> 청사진</a:t>
            </a:r>
          </a:p>
        </p:txBody>
      </p:sp>
      <p:sp>
        <p:nvSpPr>
          <p:cNvPr id="4" name="내용 개체 틀 3"/>
          <p:cNvSpPr>
            <a:spLocks noGrp="1"/>
          </p:cNvSpPr>
          <p:nvPr>
            <p:ph idx="1"/>
          </p:nvPr>
        </p:nvSpPr>
        <p:spPr/>
        <p:txBody>
          <a:bodyPr/>
          <a:lstStyle/>
          <a:p>
            <a:r>
              <a:rPr lang="ko-KR" altLang="en-US" dirty="0"/>
              <a:t>설계도를 복사한 사진</a:t>
            </a:r>
            <a:endParaRPr lang="en-US" altLang="ko-KR" dirty="0"/>
          </a:p>
          <a:p>
            <a:r>
              <a:rPr lang="ko-KR" altLang="en-US" dirty="0"/>
              <a:t>원본 설계도를 쉽게 복사해서 배포할 수 있음</a:t>
            </a:r>
            <a:r>
              <a:rPr lang="en-US" altLang="ko-KR" dirty="0"/>
              <a:t>.</a:t>
            </a:r>
            <a:endParaRPr lang="ko-KR" altLang="en-US" dirty="0"/>
          </a:p>
        </p:txBody>
      </p:sp>
      <p:pic>
        <p:nvPicPr>
          <p:cNvPr id="1026" name="Picture 2">
            <a:extLst>
              <a:ext uri="{FF2B5EF4-FFF2-40B4-BE49-F238E27FC236}">
                <a16:creationId xmlns:a16="http://schemas.microsoft.com/office/drawing/2014/main" id="{F1B9594C-CE11-E648-82A6-83A1239E03C2}"/>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83077" y="1469334"/>
            <a:ext cx="1617386" cy="1373918"/>
          </a:xfrm>
          <a:prstGeom prst="rect">
            <a:avLst/>
          </a:prstGeom>
          <a:noFill/>
          <a:extLst>
            <a:ext uri="{909E8E84-426E-40DD-AFC4-6F175D3DCCD1}">
              <a14:hiddenFill xmlns:a14="http://schemas.microsoft.com/office/drawing/2010/main">
                <a:solidFill>
                  <a:srgbClr val="FFFFFF"/>
                </a:solidFill>
              </a14:hiddenFill>
            </a:ext>
          </a:extLst>
        </p:spPr>
      </p:pic>
      <p:sp>
        <p:nvSpPr>
          <p:cNvPr id="3" name="직사각형 2">
            <a:extLst>
              <a:ext uri="{FF2B5EF4-FFF2-40B4-BE49-F238E27FC236}">
                <a16:creationId xmlns:a16="http://schemas.microsoft.com/office/drawing/2014/main" id="{FC570C1C-7971-4C4E-9A18-C447E977CDC2}"/>
              </a:ext>
            </a:extLst>
          </p:cNvPr>
          <p:cNvSpPr/>
          <p:nvPr/>
        </p:nvSpPr>
        <p:spPr>
          <a:xfrm>
            <a:off x="51259" y="4912878"/>
            <a:ext cx="4998809" cy="230832"/>
          </a:xfrm>
          <a:prstGeom prst="rect">
            <a:avLst/>
          </a:prstGeom>
        </p:spPr>
        <p:txBody>
          <a:bodyPr wrap="square">
            <a:spAutoFit/>
          </a:bodyPr>
          <a:lstStyle/>
          <a:p>
            <a:r>
              <a:rPr lang="ko-Kore-KR" altLang="en-US" sz="900" dirty="0">
                <a:hlinkClick r:id="rId4"/>
              </a:rPr>
              <a:t>https://en.wikipedia.org/wiki/Blueprint#/media/File:Joy_Oil_gas_station_blueprints.jpg</a:t>
            </a:r>
            <a:r>
              <a:rPr lang="ko-KR" altLang="en-US" sz="900" dirty="0"/>
              <a:t> </a:t>
            </a:r>
            <a:endParaRPr lang="ko-Kore-KR" altLang="en-US" sz="900" dirty="0"/>
          </a:p>
        </p:txBody>
      </p:sp>
      <p:pic>
        <p:nvPicPr>
          <p:cNvPr id="6" name="그림 5">
            <a:extLst>
              <a:ext uri="{FF2B5EF4-FFF2-40B4-BE49-F238E27FC236}">
                <a16:creationId xmlns:a16="http://schemas.microsoft.com/office/drawing/2014/main" id="{2683E6D1-4214-4D62-8F79-E3C4DC11ACA8}"/>
              </a:ext>
            </a:extLst>
          </p:cNvPr>
          <p:cNvPicPr>
            <a:picLocks noChangeAspect="1"/>
          </p:cNvPicPr>
          <p:nvPr/>
        </p:nvPicPr>
        <p:blipFill>
          <a:blip r:embed="rId5" cstate="print">
            <a:extLst>
              <a:ext uri="{28A0092B-C50C-407E-A947-70E740481C1C}">
                <a14:useLocalDpi xmlns:a14="http://schemas.microsoft.com/office/drawing/2010/main" val="0"/>
              </a:ext>
              <a:ext uri="{837473B0-CC2E-450A-ABE3-18F120FF3D39}">
                <a1611:picAttrSrcUrl xmlns:a1611="http://schemas.microsoft.com/office/drawing/2016/11/main" r:id="rId6"/>
              </a:ext>
            </a:extLst>
          </a:blip>
          <a:stretch>
            <a:fillRect/>
          </a:stretch>
        </p:blipFill>
        <p:spPr>
          <a:xfrm>
            <a:off x="1484529" y="2055547"/>
            <a:ext cx="1436752" cy="1508221"/>
          </a:xfrm>
          <a:prstGeom prst="rect">
            <a:avLst/>
          </a:prstGeom>
        </p:spPr>
      </p:pic>
      <p:sp>
        <p:nvSpPr>
          <p:cNvPr id="7" name="TextBox 6">
            <a:extLst>
              <a:ext uri="{FF2B5EF4-FFF2-40B4-BE49-F238E27FC236}">
                <a16:creationId xmlns:a16="http://schemas.microsoft.com/office/drawing/2014/main" id="{6304BF87-4A3B-4E19-AE28-9C6AF78B5D42}"/>
              </a:ext>
            </a:extLst>
          </p:cNvPr>
          <p:cNvSpPr txBox="1"/>
          <p:nvPr/>
        </p:nvSpPr>
        <p:spPr>
          <a:xfrm>
            <a:off x="2049158" y="6128426"/>
            <a:ext cx="4899768" cy="196208"/>
          </a:xfrm>
          <a:prstGeom prst="rect">
            <a:avLst/>
          </a:prstGeom>
          <a:noFill/>
        </p:spPr>
        <p:txBody>
          <a:bodyPr wrap="square" rtlCol="0">
            <a:spAutoFit/>
          </a:bodyPr>
          <a:lstStyle/>
          <a:p>
            <a:r>
              <a:rPr lang="ko-KR" altLang="en-US" sz="675"/>
              <a:t>알 수 없는 작성자 님의 </a:t>
            </a:r>
            <a:r>
              <a:rPr lang="ko-KR" altLang="en-US" sz="675">
                <a:hlinkClick r:id="rId6" tooltip="https://onecommunityranch.org/open-source-sustainable-food-production-systems/"/>
              </a:rPr>
              <a:t>이 사진</a:t>
            </a:r>
            <a:r>
              <a:rPr lang="ko-KR" altLang="en-US" sz="675"/>
              <a:t>에는 </a:t>
            </a:r>
            <a:r>
              <a:rPr lang="ko-KR" altLang="en-US" sz="675">
                <a:hlinkClick r:id="rId7" tooltip="https://creativecommons.org/licenses/by/3.0/"/>
              </a:rPr>
              <a:t>CC BY</a:t>
            </a:r>
            <a:r>
              <a:rPr lang="ko-KR" altLang="en-US" sz="675"/>
              <a:t> 라이선스가 적용됩니다.</a:t>
            </a:r>
          </a:p>
        </p:txBody>
      </p:sp>
      <p:pic>
        <p:nvPicPr>
          <p:cNvPr id="13" name="Picture 2">
            <a:extLst>
              <a:ext uri="{FF2B5EF4-FFF2-40B4-BE49-F238E27FC236}">
                <a16:creationId xmlns:a16="http://schemas.microsoft.com/office/drawing/2014/main" id="{3C6B5BEC-7B5D-4A97-B015-9CEFD3599C3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71172" y="1753404"/>
            <a:ext cx="1617386" cy="1373918"/>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2">
            <a:extLst>
              <a:ext uri="{FF2B5EF4-FFF2-40B4-BE49-F238E27FC236}">
                <a16:creationId xmlns:a16="http://schemas.microsoft.com/office/drawing/2014/main" id="{D49E41F9-2664-4D31-9B05-7F469B09B8E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59266" y="2128085"/>
            <a:ext cx="1617386" cy="1373918"/>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2">
            <a:extLst>
              <a:ext uri="{FF2B5EF4-FFF2-40B4-BE49-F238E27FC236}">
                <a16:creationId xmlns:a16="http://schemas.microsoft.com/office/drawing/2014/main" id="{4AC8DDE7-2994-4511-8984-4C9591B5B2A0}"/>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03773" y="2596494"/>
            <a:ext cx="1617386" cy="1373918"/>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a:extLst>
              <a:ext uri="{FF2B5EF4-FFF2-40B4-BE49-F238E27FC236}">
                <a16:creationId xmlns:a16="http://schemas.microsoft.com/office/drawing/2014/main" id="{5AA2E9CA-2F0F-4CF3-BABE-7529DAC10E3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79865" y="2867528"/>
            <a:ext cx="1617386" cy="1373918"/>
          </a:xfrm>
          <a:prstGeom prst="rect">
            <a:avLst/>
          </a:prstGeom>
          <a:noFill/>
          <a:extLst>
            <a:ext uri="{909E8E84-426E-40DD-AFC4-6F175D3DCCD1}">
              <a14:hiddenFill xmlns:a14="http://schemas.microsoft.com/office/drawing/2010/main">
                <a:solidFill>
                  <a:srgbClr val="FFFFFF"/>
                </a:solidFill>
              </a14:hiddenFill>
            </a:ext>
          </a:extLst>
        </p:spPr>
      </p:pic>
      <p:sp>
        <p:nvSpPr>
          <p:cNvPr id="17" name="직사각형 16">
            <a:extLst>
              <a:ext uri="{FF2B5EF4-FFF2-40B4-BE49-F238E27FC236}">
                <a16:creationId xmlns:a16="http://schemas.microsoft.com/office/drawing/2014/main" id="{472C455F-CF70-4205-8EEE-48F76A99EE9E}"/>
              </a:ext>
            </a:extLst>
          </p:cNvPr>
          <p:cNvSpPr/>
          <p:nvPr/>
        </p:nvSpPr>
        <p:spPr bwMode="auto">
          <a:xfrm>
            <a:off x="1624003" y="3646225"/>
            <a:ext cx="1297278" cy="369332"/>
          </a:xfrm>
          <a:prstGeom prst="rect">
            <a:avLst/>
          </a:prstGeom>
          <a:noFill/>
          <a:ln w="38100" cap="rnd" cmpd="sng" algn="ctr">
            <a:noFill/>
            <a:prstDash val="solid"/>
            <a:round/>
            <a:headEnd type="none" w="med" len="med"/>
            <a:tailEnd type="none" w="med" len="med"/>
          </a:ln>
          <a:effectLst>
            <a:outerShdw blurRad="50800" dist="38100" dir="2700000" algn="tl" rotWithShape="0">
              <a:prstClr val="black">
                <a:alpha val="40000"/>
              </a:prstClr>
            </a:outerShdw>
          </a:effectLst>
        </p:spPr>
        <p:txBody>
          <a:bodyPr vert="horz" wrap="square" lIns="68580" tIns="68580" rIns="68580" bIns="68580" numCol="1" rtlCol="0" anchor="t" anchorCtr="0" compatLnSpc="1">
            <a:prstTxWarp prst="textNoShape">
              <a:avLst/>
            </a:prstTxWarp>
            <a:spAutoFit/>
          </a:bodyPr>
          <a:lstStyle/>
          <a:p>
            <a:pPr algn="ctr" defTabSz="685800" fontAlgn="base">
              <a:spcBef>
                <a:spcPct val="0"/>
              </a:spcBef>
              <a:spcAft>
                <a:spcPct val="0"/>
              </a:spcAft>
            </a:pPr>
            <a:r>
              <a:rPr kumimoji="1" lang="ko-KR" altLang="en-US" sz="1500" dirty="0">
                <a:solidFill>
                  <a:schemeClr val="tx1">
                    <a:lumMod val="75000"/>
                    <a:lumOff val="25000"/>
                  </a:schemeClr>
                </a:solidFill>
                <a:latin typeface="나눔스퀘어 ExtraBold" panose="020B0600000101010101" pitchFamily="50" charset="-127"/>
                <a:ea typeface="나눔스퀘어 ExtraBold" panose="020B0600000101010101" pitchFamily="50" charset="-127"/>
                <a:cs typeface="조선일보명조"/>
              </a:rPr>
              <a:t>원본 설계도</a:t>
            </a:r>
          </a:p>
        </p:txBody>
      </p:sp>
      <p:sp>
        <p:nvSpPr>
          <p:cNvPr id="18" name="직사각형 17">
            <a:extLst>
              <a:ext uri="{FF2B5EF4-FFF2-40B4-BE49-F238E27FC236}">
                <a16:creationId xmlns:a16="http://schemas.microsoft.com/office/drawing/2014/main" id="{B5F79305-24C2-4E9E-A9C3-3BE601F95783}"/>
              </a:ext>
            </a:extLst>
          </p:cNvPr>
          <p:cNvSpPr/>
          <p:nvPr/>
        </p:nvSpPr>
        <p:spPr bwMode="auto">
          <a:xfrm>
            <a:off x="4391935" y="4205987"/>
            <a:ext cx="2012261" cy="369332"/>
          </a:xfrm>
          <a:prstGeom prst="rect">
            <a:avLst/>
          </a:prstGeom>
          <a:noFill/>
          <a:ln w="38100" cap="rnd" cmpd="sng" algn="ctr">
            <a:noFill/>
            <a:prstDash val="solid"/>
            <a:round/>
            <a:headEnd type="none" w="med" len="med"/>
            <a:tailEnd type="none" w="med" len="med"/>
          </a:ln>
          <a:effectLst>
            <a:outerShdw blurRad="50800" dist="38100" dir="2700000" algn="tl" rotWithShape="0">
              <a:prstClr val="black">
                <a:alpha val="40000"/>
              </a:prstClr>
            </a:outerShdw>
          </a:effectLst>
        </p:spPr>
        <p:txBody>
          <a:bodyPr vert="horz" wrap="square" lIns="68580" tIns="68580" rIns="68580" bIns="68580" numCol="1" rtlCol="0" anchor="t" anchorCtr="0" compatLnSpc="1">
            <a:prstTxWarp prst="textNoShape">
              <a:avLst/>
            </a:prstTxWarp>
            <a:spAutoFit/>
          </a:bodyPr>
          <a:lstStyle/>
          <a:p>
            <a:pPr algn="ctr" defTabSz="685800" fontAlgn="base">
              <a:spcBef>
                <a:spcPct val="0"/>
              </a:spcBef>
              <a:spcAft>
                <a:spcPct val="0"/>
              </a:spcAft>
            </a:pPr>
            <a:r>
              <a:rPr kumimoji="1" lang="ko-KR" altLang="en-US" sz="1500" dirty="0">
                <a:solidFill>
                  <a:schemeClr val="tx1">
                    <a:lumMod val="75000"/>
                    <a:lumOff val="25000"/>
                  </a:schemeClr>
                </a:solidFill>
                <a:latin typeface="나눔스퀘어 ExtraBold" panose="020B0600000101010101" pitchFamily="50" charset="-127"/>
                <a:ea typeface="나눔스퀘어 ExtraBold" panose="020B0600000101010101" pitchFamily="50" charset="-127"/>
                <a:cs typeface="조선일보명조"/>
              </a:rPr>
              <a:t>복사된 설계도 청사진들</a:t>
            </a:r>
          </a:p>
        </p:txBody>
      </p:sp>
      <p:sp>
        <p:nvSpPr>
          <p:cNvPr id="19" name="자유형 5">
            <a:extLst>
              <a:ext uri="{FF2B5EF4-FFF2-40B4-BE49-F238E27FC236}">
                <a16:creationId xmlns:a16="http://schemas.microsoft.com/office/drawing/2014/main" id="{5BB25F27-DE69-4803-B7C4-B62A893BD74F}"/>
              </a:ext>
            </a:extLst>
          </p:cNvPr>
          <p:cNvSpPr/>
          <p:nvPr/>
        </p:nvSpPr>
        <p:spPr bwMode="auto">
          <a:xfrm rot="18614188" flipH="1">
            <a:off x="3280911" y="2280677"/>
            <a:ext cx="962558" cy="803662"/>
          </a:xfrm>
          <a:custGeom>
            <a:avLst/>
            <a:gdLst>
              <a:gd name="connsiteX0" fmla="*/ 2181225 w 2181225"/>
              <a:gd name="connsiteY0" fmla="*/ 11832 h 602382"/>
              <a:gd name="connsiteX1" fmla="*/ 647700 w 2181225"/>
              <a:gd name="connsiteY1" fmla="*/ 78507 h 602382"/>
              <a:gd name="connsiteX2" fmla="*/ 0 w 2181225"/>
              <a:gd name="connsiteY2" fmla="*/ 602382 h 602382"/>
            </a:gdLst>
            <a:ahLst/>
            <a:cxnLst>
              <a:cxn ang="0">
                <a:pos x="connsiteX0" y="connsiteY0"/>
              </a:cxn>
              <a:cxn ang="0">
                <a:pos x="connsiteX1" y="connsiteY1"/>
              </a:cxn>
              <a:cxn ang="0">
                <a:pos x="connsiteX2" y="connsiteY2"/>
              </a:cxn>
            </a:cxnLst>
            <a:rect l="l" t="t" r="r" b="b"/>
            <a:pathLst>
              <a:path w="2181225" h="602382">
                <a:moveTo>
                  <a:pt x="2181225" y="11832"/>
                </a:moveTo>
                <a:cubicBezTo>
                  <a:pt x="1596231" y="-4043"/>
                  <a:pt x="1011237" y="-19918"/>
                  <a:pt x="647700" y="78507"/>
                </a:cubicBezTo>
                <a:cubicBezTo>
                  <a:pt x="284163" y="176932"/>
                  <a:pt x="142081" y="389657"/>
                  <a:pt x="0" y="602382"/>
                </a:cubicBezTo>
              </a:path>
            </a:pathLst>
          </a:custGeom>
          <a:noFill/>
          <a:ln w="76200" cap="rnd" cmpd="sng" algn="ctr">
            <a:solidFill>
              <a:schemeClr val="bg1">
                <a:lumMod val="50000"/>
              </a:schemeClr>
            </a:solidFill>
            <a:prstDash val="solid"/>
            <a:round/>
            <a:headEnd type="none" w="med" len="med"/>
            <a:tailEnd type="triangle" w="med" len="med"/>
          </a:ln>
          <a:effectLst>
            <a:outerShdw blurRad="50800" dist="38100" dir="5400000" algn="t" rotWithShape="0">
              <a:prstClr val="black">
                <a:alpha val="40000"/>
              </a:prstClr>
            </a:outerShdw>
          </a:effectLst>
        </p:spPr>
        <p:txBody>
          <a:bodyPr vert="horz" wrap="square" lIns="68580" tIns="34290" rIns="68580" bIns="34290" numCol="1" rtlCol="0" anchor="t" anchorCtr="0" compatLnSpc="1">
            <a:prstTxWarp prst="textNoShape">
              <a:avLst/>
            </a:prstTxWarp>
          </a:bodyPr>
          <a:lstStyle/>
          <a:p>
            <a:pPr algn="ctr" defTabSz="685800" fontAlgn="base">
              <a:spcBef>
                <a:spcPct val="0"/>
              </a:spcBef>
              <a:spcAft>
                <a:spcPct val="0"/>
              </a:spcAft>
            </a:pPr>
            <a:endParaRPr kumimoji="1" lang="ko-KR" altLang="en-US" sz="1350">
              <a:latin typeface="Tahoma" pitchFamily="34" charset="0"/>
              <a:ea typeface="나눔고딕" pitchFamily="50" charset="-127"/>
              <a:cs typeface="조선일보명조"/>
            </a:endParaRPr>
          </a:p>
        </p:txBody>
      </p:sp>
      <p:sp>
        <p:nvSpPr>
          <p:cNvPr id="20" name="직사각형 19">
            <a:extLst>
              <a:ext uri="{FF2B5EF4-FFF2-40B4-BE49-F238E27FC236}">
                <a16:creationId xmlns:a16="http://schemas.microsoft.com/office/drawing/2014/main" id="{F26DDC70-1B50-4255-9C2B-6A7B836D406F}"/>
              </a:ext>
            </a:extLst>
          </p:cNvPr>
          <p:cNvSpPr/>
          <p:nvPr/>
        </p:nvSpPr>
        <p:spPr bwMode="auto">
          <a:xfrm>
            <a:off x="2867300" y="1919199"/>
            <a:ext cx="1466850" cy="415498"/>
          </a:xfrm>
          <a:prstGeom prst="rect">
            <a:avLst/>
          </a:prstGeom>
          <a:noFill/>
          <a:ln w="38100" cap="rnd" cmpd="sng" algn="ctr">
            <a:noFill/>
            <a:prstDash val="solid"/>
            <a:round/>
            <a:headEnd type="none" w="med" len="med"/>
            <a:tailEnd type="none" w="med" len="med"/>
          </a:ln>
          <a:effectLst>
            <a:outerShdw blurRad="50800" dist="38100" dir="2700000" algn="tl" rotWithShape="0">
              <a:prstClr val="black">
                <a:alpha val="40000"/>
              </a:prstClr>
            </a:outerShdw>
          </a:effectLst>
        </p:spPr>
        <p:txBody>
          <a:bodyPr vert="horz" wrap="square" lIns="68580" tIns="68580" rIns="68580" bIns="68580" numCol="1" rtlCol="0" anchor="t" anchorCtr="0" compatLnSpc="1">
            <a:prstTxWarp prst="textNoShape">
              <a:avLst/>
            </a:prstTxWarp>
            <a:spAutoFit/>
          </a:bodyPr>
          <a:lstStyle/>
          <a:p>
            <a:pPr algn="ctr" defTabSz="685800" fontAlgn="base">
              <a:spcBef>
                <a:spcPct val="0"/>
              </a:spcBef>
              <a:spcAft>
                <a:spcPct val="0"/>
              </a:spcAft>
            </a:pPr>
            <a:r>
              <a:rPr kumimoji="1" lang="ko-KR" altLang="en-US" dirty="0">
                <a:solidFill>
                  <a:schemeClr val="tx1">
                    <a:lumMod val="75000"/>
                    <a:lumOff val="25000"/>
                  </a:schemeClr>
                </a:solidFill>
                <a:latin typeface="나눔스퀘어 ExtraBold" panose="020B0600000101010101" pitchFamily="50" charset="-127"/>
                <a:ea typeface="나눔스퀘어 ExtraBold" panose="020B0600000101010101" pitchFamily="50" charset="-127"/>
                <a:cs typeface="조선일보명조"/>
              </a:rPr>
              <a:t>현상</a:t>
            </a:r>
          </a:p>
        </p:txBody>
      </p:sp>
    </p:spTree>
    <p:extLst>
      <p:ext uri="{BB962C8B-B14F-4D97-AF65-F5344CB8AC3E}">
        <p14:creationId xmlns:p14="http://schemas.microsoft.com/office/powerpoint/2010/main" val="24240166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스폰</a:t>
            </a:r>
            <a:r>
              <a:rPr lang="en-US" altLang="ko-KR"/>
              <a:t>(Spawn)</a:t>
            </a:r>
            <a:endParaRPr lang="ko-KR" altLang="en-US" dirty="0"/>
          </a:p>
        </p:txBody>
      </p:sp>
      <p:sp>
        <p:nvSpPr>
          <p:cNvPr id="11" name="직사각형 10"/>
          <p:cNvSpPr/>
          <p:nvPr/>
        </p:nvSpPr>
        <p:spPr bwMode="auto">
          <a:xfrm>
            <a:off x="1695038" y="3570639"/>
            <a:ext cx="1989218" cy="415498"/>
          </a:xfrm>
          <a:prstGeom prst="rect">
            <a:avLst/>
          </a:prstGeom>
          <a:noFill/>
          <a:ln w="38100" cap="rnd" cmpd="sng" algn="ctr">
            <a:noFill/>
            <a:prstDash val="solid"/>
            <a:round/>
            <a:headEnd type="none" w="med" len="med"/>
            <a:tailEnd type="none" w="med" len="med"/>
          </a:ln>
          <a:effectLst>
            <a:outerShdw blurRad="50800" dist="38100" dir="2700000" algn="tl" rotWithShape="0">
              <a:prstClr val="black">
                <a:alpha val="40000"/>
              </a:prstClr>
            </a:outerShdw>
          </a:effectLst>
        </p:spPr>
        <p:txBody>
          <a:bodyPr vert="horz" wrap="square" lIns="68580" tIns="68580" rIns="68580" bIns="68580" numCol="1" rtlCol="0" anchor="t" anchorCtr="0" compatLnSpc="1">
            <a:prstTxWarp prst="textNoShape">
              <a:avLst/>
            </a:prstTxWarp>
            <a:spAutoFit/>
          </a:bodyPr>
          <a:lstStyle/>
          <a:p>
            <a:pPr defTabSz="685800" fontAlgn="base">
              <a:spcBef>
                <a:spcPct val="0"/>
              </a:spcBef>
              <a:spcAft>
                <a:spcPct val="0"/>
              </a:spcAft>
            </a:pPr>
            <a:r>
              <a:rPr kumimoji="1" lang="ko-KR" altLang="en-US" err="1">
                <a:solidFill>
                  <a:schemeClr val="tx1">
                    <a:lumMod val="75000"/>
                    <a:lumOff val="25000"/>
                  </a:schemeClr>
                </a:solidFill>
                <a:latin typeface="나눔스퀘어 ExtraBold" panose="020B0600000101010101" pitchFamily="50" charset="-127"/>
                <a:ea typeface="나눔스퀘어 ExtraBold" panose="020B0600000101010101" pitchFamily="50" charset="-127"/>
                <a:cs typeface="조선일보명조"/>
              </a:rPr>
              <a:t>블루프린트</a:t>
            </a:r>
            <a:r>
              <a:rPr kumimoji="1" lang="ko-KR" altLang="en-US">
                <a:solidFill>
                  <a:schemeClr val="tx1">
                    <a:lumMod val="75000"/>
                    <a:lumOff val="25000"/>
                  </a:schemeClr>
                </a:solidFill>
                <a:latin typeface="나눔스퀘어 ExtraBold" panose="020B0600000101010101" pitchFamily="50" charset="-127"/>
                <a:ea typeface="나눔스퀘어 ExtraBold" panose="020B0600000101010101" pitchFamily="50" charset="-127"/>
                <a:cs typeface="조선일보명조"/>
              </a:rPr>
              <a:t> 클래스</a:t>
            </a:r>
            <a:endParaRPr kumimoji="1" lang="ko-KR" altLang="en-US" dirty="0">
              <a:solidFill>
                <a:schemeClr val="tx1">
                  <a:lumMod val="75000"/>
                  <a:lumOff val="25000"/>
                </a:schemeClr>
              </a:solidFill>
              <a:latin typeface="나눔스퀘어 ExtraBold" panose="020B0600000101010101" pitchFamily="50" charset="-127"/>
              <a:ea typeface="나눔스퀘어 ExtraBold" panose="020B0600000101010101" pitchFamily="50" charset="-127"/>
              <a:cs typeface="조선일보명조"/>
            </a:endParaRPr>
          </a:p>
        </p:txBody>
      </p:sp>
      <p:sp>
        <p:nvSpPr>
          <p:cNvPr id="12" name="직사각형 11"/>
          <p:cNvSpPr/>
          <p:nvPr/>
        </p:nvSpPr>
        <p:spPr bwMode="auto">
          <a:xfrm>
            <a:off x="5086629" y="4269418"/>
            <a:ext cx="2426691" cy="415498"/>
          </a:xfrm>
          <a:prstGeom prst="rect">
            <a:avLst/>
          </a:prstGeom>
          <a:noFill/>
          <a:ln w="38100" cap="rnd" cmpd="sng" algn="ctr">
            <a:noFill/>
            <a:prstDash val="solid"/>
            <a:round/>
            <a:headEnd type="none" w="med" len="med"/>
            <a:tailEnd type="none" w="med" len="med"/>
          </a:ln>
          <a:effectLst>
            <a:outerShdw blurRad="50800" dist="38100" dir="2700000" algn="tl" rotWithShape="0">
              <a:prstClr val="black">
                <a:alpha val="40000"/>
              </a:prstClr>
            </a:outerShdw>
          </a:effectLst>
        </p:spPr>
        <p:txBody>
          <a:bodyPr vert="horz" wrap="square" lIns="68580" tIns="68580" rIns="68580" bIns="68580" numCol="1" rtlCol="0" anchor="t" anchorCtr="0" compatLnSpc="1">
            <a:prstTxWarp prst="textNoShape">
              <a:avLst/>
            </a:prstTxWarp>
            <a:spAutoFit/>
          </a:bodyPr>
          <a:lstStyle/>
          <a:p>
            <a:pPr algn="ctr" defTabSz="685800" fontAlgn="base">
              <a:spcBef>
                <a:spcPct val="0"/>
              </a:spcBef>
              <a:spcAft>
                <a:spcPct val="0"/>
              </a:spcAft>
            </a:pPr>
            <a:r>
              <a:rPr kumimoji="1" lang="ko-KR" altLang="en-US">
                <a:solidFill>
                  <a:schemeClr val="tx1">
                    <a:lumMod val="75000"/>
                    <a:lumOff val="25000"/>
                  </a:schemeClr>
                </a:solidFill>
                <a:latin typeface="나눔스퀘어 ExtraBold" panose="020B0600000101010101" pitchFamily="50" charset="-127"/>
                <a:ea typeface="나눔스퀘어 ExtraBold" panose="020B0600000101010101" pitchFamily="50" charset="-127"/>
                <a:cs typeface="조선일보명조"/>
              </a:rPr>
              <a:t>액터</a:t>
            </a:r>
            <a:r>
              <a:rPr kumimoji="1" lang="en-US" altLang="ko-KR">
                <a:solidFill>
                  <a:schemeClr val="tx1">
                    <a:lumMod val="75000"/>
                    <a:lumOff val="25000"/>
                  </a:schemeClr>
                </a:solidFill>
                <a:latin typeface="나눔스퀘어 ExtraBold" panose="020B0600000101010101" pitchFamily="50" charset="-127"/>
                <a:ea typeface="나눔스퀘어 ExtraBold" panose="020B0600000101010101" pitchFamily="50" charset="-127"/>
                <a:cs typeface="조선일보명조"/>
              </a:rPr>
              <a:t>, </a:t>
            </a:r>
            <a:r>
              <a:rPr kumimoji="1" lang="ko-KR" altLang="en-US">
                <a:solidFill>
                  <a:schemeClr val="tx1">
                    <a:lumMod val="75000"/>
                    <a:lumOff val="25000"/>
                  </a:schemeClr>
                </a:solidFill>
                <a:latin typeface="나눔스퀘어 ExtraBold" panose="020B0600000101010101" pitchFamily="50" charset="-127"/>
                <a:ea typeface="나눔스퀘어 ExtraBold" panose="020B0600000101010101" pitchFamily="50" charset="-127"/>
                <a:cs typeface="조선일보명조"/>
              </a:rPr>
              <a:t>혹은 인스턴스</a:t>
            </a:r>
            <a:endParaRPr kumimoji="1" lang="ko-KR" altLang="en-US" dirty="0">
              <a:solidFill>
                <a:schemeClr val="tx1">
                  <a:lumMod val="75000"/>
                  <a:lumOff val="25000"/>
                </a:schemeClr>
              </a:solidFill>
              <a:latin typeface="나눔스퀘어 ExtraBold" panose="020B0600000101010101" pitchFamily="50" charset="-127"/>
              <a:ea typeface="나눔스퀘어 ExtraBold" panose="020B0600000101010101" pitchFamily="50" charset="-127"/>
              <a:cs typeface="조선일보명조"/>
            </a:endParaRPr>
          </a:p>
        </p:txBody>
      </p:sp>
      <p:grpSp>
        <p:nvGrpSpPr>
          <p:cNvPr id="18" name="그룹 17">
            <a:extLst>
              <a:ext uri="{FF2B5EF4-FFF2-40B4-BE49-F238E27FC236}">
                <a16:creationId xmlns:a16="http://schemas.microsoft.com/office/drawing/2014/main" id="{77A7F1AA-F9CE-4E6A-9A60-63066085648F}"/>
              </a:ext>
            </a:extLst>
          </p:cNvPr>
          <p:cNvGrpSpPr/>
          <p:nvPr/>
        </p:nvGrpSpPr>
        <p:grpSpPr>
          <a:xfrm>
            <a:off x="1769808" y="2206746"/>
            <a:ext cx="1249607" cy="1241577"/>
            <a:chOff x="6394937" y="2309446"/>
            <a:chExt cx="1666142" cy="1655436"/>
          </a:xfrm>
        </p:grpSpPr>
        <p:sp>
          <p:nvSpPr>
            <p:cNvPr id="16" name="직사각형 15">
              <a:extLst>
                <a:ext uri="{FF2B5EF4-FFF2-40B4-BE49-F238E27FC236}">
                  <a16:creationId xmlns:a16="http://schemas.microsoft.com/office/drawing/2014/main" id="{C602D3A0-AC32-4177-9A37-82D5321768CD}"/>
                </a:ext>
              </a:extLst>
            </p:cNvPr>
            <p:cNvSpPr/>
            <p:nvPr/>
          </p:nvSpPr>
          <p:spPr bwMode="auto">
            <a:xfrm>
              <a:off x="6394937" y="2309446"/>
              <a:ext cx="1666142" cy="1655436"/>
            </a:xfrm>
            <a:prstGeom prst="rect">
              <a:avLst/>
            </a:prstGeom>
            <a:solidFill>
              <a:schemeClr val="bg1">
                <a:lumMod val="85000"/>
              </a:schemeClr>
            </a:solidFill>
            <a:ln w="12700" cap="rnd" cmpd="sng" algn="ctr">
              <a:noFill/>
              <a:prstDash val="solid"/>
              <a:round/>
              <a:headEnd type="none" w="med" len="med"/>
              <a:tailEnd type="none" w="med" len="med"/>
            </a:ln>
            <a:effectLst/>
          </p:spPr>
          <p:txBody>
            <a:bodyPr vert="horz" wrap="square" lIns="68580" tIns="34290" rIns="68580" bIns="34290" numCol="1" rtlCol="0" anchor="t" anchorCtr="0" compatLnSpc="1">
              <a:prstTxWarp prst="textNoShape">
                <a:avLst/>
              </a:prstTxWarp>
            </a:bodyPr>
            <a:lstStyle/>
            <a:p>
              <a:pPr algn="ctr" defTabSz="685800" fontAlgn="base">
                <a:spcBef>
                  <a:spcPct val="0"/>
                </a:spcBef>
                <a:spcAft>
                  <a:spcPct val="0"/>
                </a:spcAft>
              </a:pPr>
              <a:endParaRPr kumimoji="1" lang="ko-KR" altLang="en-US" sz="1350">
                <a:latin typeface="Tahoma" pitchFamily="34" charset="0"/>
                <a:ea typeface="나눔고딕" pitchFamily="50" charset="-127"/>
                <a:cs typeface="조선일보명조"/>
              </a:endParaRPr>
            </a:p>
          </p:txBody>
        </p:sp>
        <p:pic>
          <p:nvPicPr>
            <p:cNvPr id="14" name="그래픽 13" descr="사과 윤곽선">
              <a:extLst>
                <a:ext uri="{FF2B5EF4-FFF2-40B4-BE49-F238E27FC236}">
                  <a16:creationId xmlns:a16="http://schemas.microsoft.com/office/drawing/2014/main" id="{CA4162E6-E210-4D5A-8170-C85F695B9A75}"/>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456484" y="2309446"/>
              <a:ext cx="1543048" cy="1543048"/>
            </a:xfrm>
            <a:prstGeom prst="rect">
              <a:avLst/>
            </a:prstGeom>
          </p:spPr>
        </p:pic>
      </p:grpSp>
      <p:grpSp>
        <p:nvGrpSpPr>
          <p:cNvPr id="22" name="그룹 21">
            <a:extLst>
              <a:ext uri="{FF2B5EF4-FFF2-40B4-BE49-F238E27FC236}">
                <a16:creationId xmlns:a16="http://schemas.microsoft.com/office/drawing/2014/main" id="{08B4AD8C-1C9D-417E-9EBD-93CF286CD339}"/>
              </a:ext>
            </a:extLst>
          </p:cNvPr>
          <p:cNvGrpSpPr/>
          <p:nvPr/>
        </p:nvGrpSpPr>
        <p:grpSpPr>
          <a:xfrm>
            <a:off x="4640387" y="991636"/>
            <a:ext cx="1249607" cy="1241577"/>
            <a:chOff x="4491405" y="1522511"/>
            <a:chExt cx="1666142" cy="1655436"/>
          </a:xfrm>
        </p:grpSpPr>
        <p:sp>
          <p:nvSpPr>
            <p:cNvPr id="20" name="직사각형 19">
              <a:extLst>
                <a:ext uri="{FF2B5EF4-FFF2-40B4-BE49-F238E27FC236}">
                  <a16:creationId xmlns:a16="http://schemas.microsoft.com/office/drawing/2014/main" id="{B841ED27-3BC8-4488-B7CC-7CBF91E2D32E}"/>
                </a:ext>
              </a:extLst>
            </p:cNvPr>
            <p:cNvSpPr/>
            <p:nvPr/>
          </p:nvSpPr>
          <p:spPr bwMode="auto">
            <a:xfrm>
              <a:off x="4491405" y="1522511"/>
              <a:ext cx="1666142" cy="1655436"/>
            </a:xfrm>
            <a:prstGeom prst="rect">
              <a:avLst/>
            </a:prstGeom>
            <a:solidFill>
              <a:srgbClr val="0070C0"/>
            </a:solidFill>
            <a:ln w="12700" cap="rnd" cmpd="sng" algn="ctr">
              <a:solidFill>
                <a:schemeClr val="bg1">
                  <a:lumMod val="50000"/>
                </a:schemeClr>
              </a:solidFill>
              <a:prstDash val="solid"/>
              <a:round/>
              <a:headEnd type="none" w="med" len="med"/>
              <a:tailEnd type="none" w="med" len="med"/>
            </a:ln>
            <a:effectLst/>
          </p:spPr>
          <p:txBody>
            <a:bodyPr vert="horz" wrap="square" lIns="68580" tIns="34290" rIns="68580" bIns="34290" numCol="1" rtlCol="0" anchor="t" anchorCtr="0" compatLnSpc="1">
              <a:prstTxWarp prst="textNoShape">
                <a:avLst/>
              </a:prstTxWarp>
            </a:bodyPr>
            <a:lstStyle/>
            <a:p>
              <a:pPr algn="ctr" defTabSz="685800" fontAlgn="base">
                <a:spcBef>
                  <a:spcPct val="0"/>
                </a:spcBef>
                <a:spcAft>
                  <a:spcPct val="0"/>
                </a:spcAft>
              </a:pPr>
              <a:endParaRPr kumimoji="1" lang="ko-KR" altLang="en-US" sz="1350">
                <a:latin typeface="Tahoma" pitchFamily="34" charset="0"/>
                <a:ea typeface="나눔고딕" pitchFamily="50" charset="-127"/>
                <a:cs typeface="조선일보명조"/>
              </a:endParaRPr>
            </a:p>
          </p:txBody>
        </p:sp>
        <p:pic>
          <p:nvPicPr>
            <p:cNvPr id="21" name="그래픽 20" descr="사과 윤곽선">
              <a:extLst>
                <a:ext uri="{FF2B5EF4-FFF2-40B4-BE49-F238E27FC236}">
                  <a16:creationId xmlns:a16="http://schemas.microsoft.com/office/drawing/2014/main" id="{D73A606F-04F9-49BB-8B68-EA5FCD1B661A}"/>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552952" y="1522511"/>
              <a:ext cx="1543048" cy="1543048"/>
            </a:xfrm>
            <a:prstGeom prst="rect">
              <a:avLst/>
            </a:prstGeom>
          </p:spPr>
        </p:pic>
      </p:grpSp>
      <p:grpSp>
        <p:nvGrpSpPr>
          <p:cNvPr id="32" name="그룹 31">
            <a:extLst>
              <a:ext uri="{FF2B5EF4-FFF2-40B4-BE49-F238E27FC236}">
                <a16:creationId xmlns:a16="http://schemas.microsoft.com/office/drawing/2014/main" id="{4580C520-0470-45E2-B5DB-1FB674C03FB3}"/>
              </a:ext>
            </a:extLst>
          </p:cNvPr>
          <p:cNvGrpSpPr/>
          <p:nvPr/>
        </p:nvGrpSpPr>
        <p:grpSpPr>
          <a:xfrm>
            <a:off x="5165316" y="1763456"/>
            <a:ext cx="1249607" cy="1241577"/>
            <a:chOff x="4491405" y="1522511"/>
            <a:chExt cx="1666142" cy="1655436"/>
          </a:xfrm>
        </p:grpSpPr>
        <p:sp>
          <p:nvSpPr>
            <p:cNvPr id="33" name="직사각형 32">
              <a:extLst>
                <a:ext uri="{FF2B5EF4-FFF2-40B4-BE49-F238E27FC236}">
                  <a16:creationId xmlns:a16="http://schemas.microsoft.com/office/drawing/2014/main" id="{485C1C3E-9E96-412B-9FEF-138C53050F77}"/>
                </a:ext>
              </a:extLst>
            </p:cNvPr>
            <p:cNvSpPr/>
            <p:nvPr/>
          </p:nvSpPr>
          <p:spPr bwMode="auto">
            <a:xfrm>
              <a:off x="4491405" y="1522511"/>
              <a:ext cx="1666142" cy="1655436"/>
            </a:xfrm>
            <a:prstGeom prst="rect">
              <a:avLst/>
            </a:prstGeom>
            <a:solidFill>
              <a:srgbClr val="0070C0"/>
            </a:solidFill>
            <a:ln w="12700" cap="rnd" cmpd="sng" algn="ctr">
              <a:solidFill>
                <a:schemeClr val="bg1">
                  <a:lumMod val="50000"/>
                </a:schemeClr>
              </a:solidFill>
              <a:prstDash val="solid"/>
              <a:round/>
              <a:headEnd type="none" w="med" len="med"/>
              <a:tailEnd type="none" w="med" len="med"/>
            </a:ln>
            <a:effectLst/>
          </p:spPr>
          <p:txBody>
            <a:bodyPr vert="horz" wrap="square" lIns="68580" tIns="34290" rIns="68580" bIns="34290" numCol="1" rtlCol="0" anchor="t" anchorCtr="0" compatLnSpc="1">
              <a:prstTxWarp prst="textNoShape">
                <a:avLst/>
              </a:prstTxWarp>
            </a:bodyPr>
            <a:lstStyle/>
            <a:p>
              <a:pPr algn="ctr" defTabSz="685800" fontAlgn="base">
                <a:spcBef>
                  <a:spcPct val="0"/>
                </a:spcBef>
                <a:spcAft>
                  <a:spcPct val="0"/>
                </a:spcAft>
              </a:pPr>
              <a:endParaRPr kumimoji="1" lang="ko-KR" altLang="en-US" sz="1350">
                <a:latin typeface="Tahoma" pitchFamily="34" charset="0"/>
                <a:ea typeface="나눔고딕" pitchFamily="50" charset="-127"/>
                <a:cs typeface="조선일보명조"/>
              </a:endParaRPr>
            </a:p>
          </p:txBody>
        </p:sp>
        <p:pic>
          <p:nvPicPr>
            <p:cNvPr id="34" name="그래픽 33" descr="사과 윤곽선">
              <a:extLst>
                <a:ext uri="{FF2B5EF4-FFF2-40B4-BE49-F238E27FC236}">
                  <a16:creationId xmlns:a16="http://schemas.microsoft.com/office/drawing/2014/main" id="{DC67B78F-49C7-4C91-B8EA-ED936567BC27}"/>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552952" y="1522511"/>
              <a:ext cx="1543048" cy="1543048"/>
            </a:xfrm>
            <a:prstGeom prst="rect">
              <a:avLst/>
            </a:prstGeom>
          </p:spPr>
        </p:pic>
      </p:grpSp>
      <p:grpSp>
        <p:nvGrpSpPr>
          <p:cNvPr id="35" name="그룹 34">
            <a:extLst>
              <a:ext uri="{FF2B5EF4-FFF2-40B4-BE49-F238E27FC236}">
                <a16:creationId xmlns:a16="http://schemas.microsoft.com/office/drawing/2014/main" id="{FF3C9C7B-CA1C-4966-99B3-9E758B06C8FD}"/>
              </a:ext>
            </a:extLst>
          </p:cNvPr>
          <p:cNvGrpSpPr/>
          <p:nvPr/>
        </p:nvGrpSpPr>
        <p:grpSpPr>
          <a:xfrm>
            <a:off x="5553721" y="2370344"/>
            <a:ext cx="1249607" cy="1241577"/>
            <a:chOff x="4491405" y="1522511"/>
            <a:chExt cx="1666142" cy="1655436"/>
          </a:xfrm>
        </p:grpSpPr>
        <p:sp>
          <p:nvSpPr>
            <p:cNvPr id="36" name="직사각형 35">
              <a:extLst>
                <a:ext uri="{FF2B5EF4-FFF2-40B4-BE49-F238E27FC236}">
                  <a16:creationId xmlns:a16="http://schemas.microsoft.com/office/drawing/2014/main" id="{FEF830EE-1665-4206-A1EE-AB273D2366D4}"/>
                </a:ext>
              </a:extLst>
            </p:cNvPr>
            <p:cNvSpPr/>
            <p:nvPr/>
          </p:nvSpPr>
          <p:spPr bwMode="auto">
            <a:xfrm>
              <a:off x="4491405" y="1522511"/>
              <a:ext cx="1666142" cy="1655436"/>
            </a:xfrm>
            <a:prstGeom prst="rect">
              <a:avLst/>
            </a:prstGeom>
            <a:solidFill>
              <a:srgbClr val="0070C0"/>
            </a:solidFill>
            <a:ln w="12700" cap="rnd" cmpd="sng" algn="ctr">
              <a:solidFill>
                <a:schemeClr val="bg1">
                  <a:lumMod val="50000"/>
                </a:schemeClr>
              </a:solidFill>
              <a:prstDash val="solid"/>
              <a:round/>
              <a:headEnd type="none" w="med" len="med"/>
              <a:tailEnd type="none" w="med" len="med"/>
            </a:ln>
            <a:effectLst/>
          </p:spPr>
          <p:txBody>
            <a:bodyPr vert="horz" wrap="square" lIns="68580" tIns="34290" rIns="68580" bIns="34290" numCol="1" rtlCol="0" anchor="t" anchorCtr="0" compatLnSpc="1">
              <a:prstTxWarp prst="textNoShape">
                <a:avLst/>
              </a:prstTxWarp>
            </a:bodyPr>
            <a:lstStyle/>
            <a:p>
              <a:pPr algn="ctr" defTabSz="685800" fontAlgn="base">
                <a:spcBef>
                  <a:spcPct val="0"/>
                </a:spcBef>
                <a:spcAft>
                  <a:spcPct val="0"/>
                </a:spcAft>
              </a:pPr>
              <a:endParaRPr kumimoji="1" lang="ko-KR" altLang="en-US" sz="1350">
                <a:latin typeface="Tahoma" pitchFamily="34" charset="0"/>
                <a:ea typeface="나눔고딕" pitchFamily="50" charset="-127"/>
                <a:cs typeface="조선일보명조"/>
              </a:endParaRPr>
            </a:p>
          </p:txBody>
        </p:sp>
        <p:pic>
          <p:nvPicPr>
            <p:cNvPr id="37" name="그래픽 36" descr="사과 윤곽선">
              <a:extLst>
                <a:ext uri="{FF2B5EF4-FFF2-40B4-BE49-F238E27FC236}">
                  <a16:creationId xmlns:a16="http://schemas.microsoft.com/office/drawing/2014/main" id="{46427ED7-14E2-4F55-A734-0B1BE35B4F55}"/>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552952" y="1522511"/>
              <a:ext cx="1543048" cy="1543048"/>
            </a:xfrm>
            <a:prstGeom prst="rect">
              <a:avLst/>
            </a:prstGeom>
          </p:spPr>
        </p:pic>
      </p:grpSp>
      <p:grpSp>
        <p:nvGrpSpPr>
          <p:cNvPr id="38" name="그룹 37">
            <a:extLst>
              <a:ext uri="{FF2B5EF4-FFF2-40B4-BE49-F238E27FC236}">
                <a16:creationId xmlns:a16="http://schemas.microsoft.com/office/drawing/2014/main" id="{7C7A43FB-B655-4564-A6C7-FF16FFFF207C}"/>
              </a:ext>
            </a:extLst>
          </p:cNvPr>
          <p:cNvGrpSpPr/>
          <p:nvPr/>
        </p:nvGrpSpPr>
        <p:grpSpPr>
          <a:xfrm>
            <a:off x="5984322" y="2948987"/>
            <a:ext cx="1249607" cy="1241577"/>
            <a:chOff x="4491405" y="1522511"/>
            <a:chExt cx="1666142" cy="1655436"/>
          </a:xfrm>
        </p:grpSpPr>
        <p:sp>
          <p:nvSpPr>
            <p:cNvPr id="39" name="직사각형 38">
              <a:extLst>
                <a:ext uri="{FF2B5EF4-FFF2-40B4-BE49-F238E27FC236}">
                  <a16:creationId xmlns:a16="http://schemas.microsoft.com/office/drawing/2014/main" id="{4E80F39A-F558-4C25-9217-5585694C85AE}"/>
                </a:ext>
              </a:extLst>
            </p:cNvPr>
            <p:cNvSpPr/>
            <p:nvPr/>
          </p:nvSpPr>
          <p:spPr bwMode="auto">
            <a:xfrm>
              <a:off x="4491405" y="1522511"/>
              <a:ext cx="1666142" cy="1655436"/>
            </a:xfrm>
            <a:prstGeom prst="rect">
              <a:avLst/>
            </a:prstGeom>
            <a:solidFill>
              <a:srgbClr val="0070C0"/>
            </a:solidFill>
            <a:ln w="12700" cap="rnd" cmpd="sng" algn="ctr">
              <a:solidFill>
                <a:schemeClr val="bg1">
                  <a:lumMod val="50000"/>
                </a:schemeClr>
              </a:solidFill>
              <a:prstDash val="solid"/>
              <a:round/>
              <a:headEnd type="none" w="med" len="med"/>
              <a:tailEnd type="none" w="med" len="med"/>
            </a:ln>
            <a:effectLst/>
          </p:spPr>
          <p:txBody>
            <a:bodyPr vert="horz" wrap="square" lIns="68580" tIns="34290" rIns="68580" bIns="34290" numCol="1" rtlCol="0" anchor="t" anchorCtr="0" compatLnSpc="1">
              <a:prstTxWarp prst="textNoShape">
                <a:avLst/>
              </a:prstTxWarp>
            </a:bodyPr>
            <a:lstStyle/>
            <a:p>
              <a:pPr algn="ctr" defTabSz="685800" fontAlgn="base">
                <a:spcBef>
                  <a:spcPct val="0"/>
                </a:spcBef>
                <a:spcAft>
                  <a:spcPct val="0"/>
                </a:spcAft>
              </a:pPr>
              <a:endParaRPr kumimoji="1" lang="ko-KR" altLang="en-US" sz="1350">
                <a:latin typeface="Tahoma" pitchFamily="34" charset="0"/>
                <a:ea typeface="나눔고딕" pitchFamily="50" charset="-127"/>
                <a:cs typeface="조선일보명조"/>
              </a:endParaRPr>
            </a:p>
          </p:txBody>
        </p:sp>
        <p:pic>
          <p:nvPicPr>
            <p:cNvPr id="40" name="그래픽 39" descr="사과 윤곽선">
              <a:extLst>
                <a:ext uri="{FF2B5EF4-FFF2-40B4-BE49-F238E27FC236}">
                  <a16:creationId xmlns:a16="http://schemas.microsoft.com/office/drawing/2014/main" id="{75D9AB28-13A7-49FB-A187-50BBDE518583}"/>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552952" y="1522511"/>
              <a:ext cx="1543048" cy="1543048"/>
            </a:xfrm>
            <a:prstGeom prst="rect">
              <a:avLst/>
            </a:prstGeom>
          </p:spPr>
        </p:pic>
      </p:grpSp>
      <p:sp>
        <p:nvSpPr>
          <p:cNvPr id="41" name="자유형 5">
            <a:extLst>
              <a:ext uri="{FF2B5EF4-FFF2-40B4-BE49-F238E27FC236}">
                <a16:creationId xmlns:a16="http://schemas.microsoft.com/office/drawing/2014/main" id="{F4F65AA6-374D-49D2-A295-21297DC9C2D6}"/>
              </a:ext>
            </a:extLst>
          </p:cNvPr>
          <p:cNvSpPr/>
          <p:nvPr/>
        </p:nvSpPr>
        <p:spPr bwMode="auto">
          <a:xfrm rot="18614188" flipH="1">
            <a:off x="3479761" y="2491185"/>
            <a:ext cx="1097922" cy="1031173"/>
          </a:xfrm>
          <a:custGeom>
            <a:avLst/>
            <a:gdLst>
              <a:gd name="connsiteX0" fmla="*/ 2181225 w 2181225"/>
              <a:gd name="connsiteY0" fmla="*/ 11832 h 602382"/>
              <a:gd name="connsiteX1" fmla="*/ 647700 w 2181225"/>
              <a:gd name="connsiteY1" fmla="*/ 78507 h 602382"/>
              <a:gd name="connsiteX2" fmla="*/ 0 w 2181225"/>
              <a:gd name="connsiteY2" fmla="*/ 602382 h 602382"/>
            </a:gdLst>
            <a:ahLst/>
            <a:cxnLst>
              <a:cxn ang="0">
                <a:pos x="connsiteX0" y="connsiteY0"/>
              </a:cxn>
              <a:cxn ang="0">
                <a:pos x="connsiteX1" y="connsiteY1"/>
              </a:cxn>
              <a:cxn ang="0">
                <a:pos x="connsiteX2" y="connsiteY2"/>
              </a:cxn>
            </a:cxnLst>
            <a:rect l="l" t="t" r="r" b="b"/>
            <a:pathLst>
              <a:path w="2181225" h="602382">
                <a:moveTo>
                  <a:pt x="2181225" y="11832"/>
                </a:moveTo>
                <a:cubicBezTo>
                  <a:pt x="1596231" y="-4043"/>
                  <a:pt x="1011237" y="-19918"/>
                  <a:pt x="647700" y="78507"/>
                </a:cubicBezTo>
                <a:cubicBezTo>
                  <a:pt x="284163" y="176932"/>
                  <a:pt x="142081" y="389657"/>
                  <a:pt x="0" y="602382"/>
                </a:cubicBezTo>
              </a:path>
            </a:pathLst>
          </a:custGeom>
          <a:noFill/>
          <a:ln w="76200" cap="rnd" cmpd="sng" algn="ctr">
            <a:solidFill>
              <a:schemeClr val="bg1">
                <a:lumMod val="50000"/>
              </a:schemeClr>
            </a:solidFill>
            <a:prstDash val="solid"/>
            <a:round/>
            <a:headEnd type="none" w="med" len="med"/>
            <a:tailEnd type="triangle" w="med" len="med"/>
          </a:ln>
          <a:effectLst>
            <a:outerShdw blurRad="50800" dist="38100" dir="5400000" algn="t" rotWithShape="0">
              <a:prstClr val="black">
                <a:alpha val="40000"/>
              </a:prstClr>
            </a:outerShdw>
          </a:effectLst>
        </p:spPr>
        <p:txBody>
          <a:bodyPr vert="horz" wrap="square" lIns="68580" tIns="34290" rIns="68580" bIns="34290" numCol="1" rtlCol="0" anchor="t" anchorCtr="0" compatLnSpc="1">
            <a:prstTxWarp prst="textNoShape">
              <a:avLst/>
            </a:prstTxWarp>
          </a:bodyPr>
          <a:lstStyle/>
          <a:p>
            <a:pPr algn="ctr" defTabSz="685800" fontAlgn="base">
              <a:spcBef>
                <a:spcPct val="0"/>
              </a:spcBef>
              <a:spcAft>
                <a:spcPct val="0"/>
              </a:spcAft>
            </a:pPr>
            <a:endParaRPr kumimoji="1" lang="ko-KR" altLang="en-US" sz="1350">
              <a:latin typeface="Tahoma" pitchFamily="34" charset="0"/>
              <a:ea typeface="나눔고딕" pitchFamily="50" charset="-127"/>
              <a:cs typeface="조선일보명조"/>
            </a:endParaRPr>
          </a:p>
        </p:txBody>
      </p:sp>
      <p:sp>
        <p:nvSpPr>
          <p:cNvPr id="42" name="직사각형 41">
            <a:extLst>
              <a:ext uri="{FF2B5EF4-FFF2-40B4-BE49-F238E27FC236}">
                <a16:creationId xmlns:a16="http://schemas.microsoft.com/office/drawing/2014/main" id="{FC96F3A8-8E70-4F4F-9BAE-41FA7F9652BD}"/>
              </a:ext>
            </a:extLst>
          </p:cNvPr>
          <p:cNvSpPr/>
          <p:nvPr/>
        </p:nvSpPr>
        <p:spPr bwMode="auto">
          <a:xfrm>
            <a:off x="3101623" y="1912859"/>
            <a:ext cx="1466850" cy="692497"/>
          </a:xfrm>
          <a:prstGeom prst="rect">
            <a:avLst/>
          </a:prstGeom>
          <a:noFill/>
          <a:ln w="38100" cap="rnd" cmpd="sng" algn="ctr">
            <a:noFill/>
            <a:prstDash val="solid"/>
            <a:round/>
            <a:headEnd type="none" w="med" len="med"/>
            <a:tailEnd type="none" w="med" len="med"/>
          </a:ln>
          <a:effectLst>
            <a:outerShdw blurRad="50800" dist="38100" dir="2700000" algn="tl" rotWithShape="0">
              <a:prstClr val="black">
                <a:alpha val="40000"/>
              </a:prstClr>
            </a:outerShdw>
          </a:effectLst>
        </p:spPr>
        <p:txBody>
          <a:bodyPr vert="horz" wrap="square" lIns="68580" tIns="68580" rIns="68580" bIns="68580" numCol="1" rtlCol="0" anchor="t" anchorCtr="0" compatLnSpc="1">
            <a:prstTxWarp prst="textNoShape">
              <a:avLst/>
            </a:prstTxWarp>
            <a:spAutoFit/>
          </a:bodyPr>
          <a:lstStyle/>
          <a:p>
            <a:pPr algn="ctr" defTabSz="685800" fontAlgn="base">
              <a:spcBef>
                <a:spcPct val="0"/>
              </a:spcBef>
              <a:spcAft>
                <a:spcPct val="0"/>
              </a:spcAft>
            </a:pPr>
            <a:r>
              <a:rPr kumimoji="1" lang="ko-KR" altLang="en-US" dirty="0" err="1">
                <a:solidFill>
                  <a:schemeClr val="tx1">
                    <a:lumMod val="75000"/>
                    <a:lumOff val="25000"/>
                  </a:schemeClr>
                </a:solidFill>
                <a:latin typeface="나눔스퀘어 ExtraBold" panose="020B0600000101010101" pitchFamily="50" charset="-127"/>
                <a:ea typeface="나눔스퀘어 ExtraBold" panose="020B0600000101010101" pitchFamily="50" charset="-127"/>
                <a:cs typeface="조선일보명조"/>
              </a:rPr>
              <a:t>스폰</a:t>
            </a:r>
            <a:endParaRPr kumimoji="1" lang="en-US" altLang="ko-KR" dirty="0">
              <a:solidFill>
                <a:schemeClr val="tx1">
                  <a:lumMod val="75000"/>
                  <a:lumOff val="25000"/>
                </a:schemeClr>
              </a:solidFill>
              <a:latin typeface="나눔스퀘어 ExtraBold" panose="020B0600000101010101" pitchFamily="50" charset="-127"/>
              <a:ea typeface="나눔스퀘어 ExtraBold" panose="020B0600000101010101" pitchFamily="50" charset="-127"/>
              <a:cs typeface="조선일보명조"/>
            </a:endParaRPr>
          </a:p>
          <a:p>
            <a:pPr algn="ctr" defTabSz="685800" fontAlgn="base">
              <a:spcBef>
                <a:spcPct val="0"/>
              </a:spcBef>
              <a:spcAft>
                <a:spcPct val="0"/>
              </a:spcAft>
            </a:pPr>
            <a:r>
              <a:rPr kumimoji="1" lang="ko-KR" altLang="en-US">
                <a:solidFill>
                  <a:schemeClr val="tx1">
                    <a:lumMod val="75000"/>
                    <a:lumOff val="25000"/>
                  </a:schemeClr>
                </a:solidFill>
                <a:latin typeface="나눔스퀘어 ExtraBold" panose="020B0600000101010101" pitchFamily="50" charset="-127"/>
                <a:ea typeface="나눔스퀘어 ExtraBold" panose="020B0600000101010101" pitchFamily="50" charset="-127"/>
                <a:cs typeface="조선일보명조"/>
              </a:rPr>
              <a:t> </a:t>
            </a:r>
            <a:endParaRPr kumimoji="1" lang="ko-KR" altLang="en-US" dirty="0">
              <a:solidFill>
                <a:schemeClr val="tx1">
                  <a:lumMod val="75000"/>
                  <a:lumOff val="25000"/>
                </a:schemeClr>
              </a:solidFill>
              <a:latin typeface="나눔스퀘어 ExtraBold" panose="020B0600000101010101" pitchFamily="50" charset="-127"/>
              <a:ea typeface="나눔스퀘어 ExtraBold" panose="020B0600000101010101" pitchFamily="50" charset="-127"/>
              <a:cs typeface="조선일보명조"/>
            </a:endParaRPr>
          </a:p>
        </p:txBody>
      </p:sp>
    </p:spTree>
    <p:extLst>
      <p:ext uri="{BB962C8B-B14F-4D97-AF65-F5344CB8AC3E}">
        <p14:creationId xmlns:p14="http://schemas.microsoft.com/office/powerpoint/2010/main" val="82427468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760B7303-B0C2-C938-B25A-5D1B13640DD2}"/>
              </a:ext>
            </a:extLst>
          </p:cNvPr>
          <p:cNvPicPr>
            <a:picLocks noChangeAspect="1"/>
          </p:cNvPicPr>
          <p:nvPr/>
        </p:nvPicPr>
        <p:blipFill>
          <a:blip r:embed="rId3"/>
          <a:stretch>
            <a:fillRect/>
          </a:stretch>
        </p:blipFill>
        <p:spPr>
          <a:xfrm>
            <a:off x="917800" y="1076320"/>
            <a:ext cx="6944215" cy="3817690"/>
          </a:xfrm>
          <a:prstGeom prst="rect">
            <a:avLst/>
          </a:prstGeom>
        </p:spPr>
      </p:pic>
      <p:sp>
        <p:nvSpPr>
          <p:cNvPr id="2" name="제목 1"/>
          <p:cNvSpPr>
            <a:spLocks noGrp="1"/>
          </p:cNvSpPr>
          <p:nvPr>
            <p:ph type="title"/>
          </p:nvPr>
        </p:nvSpPr>
        <p:spPr/>
        <p:txBody>
          <a:bodyPr/>
          <a:lstStyle/>
          <a:p>
            <a:r>
              <a:rPr lang="ko-KR" altLang="en-US" dirty="0" err="1"/>
              <a:t>블루프린트</a:t>
            </a:r>
            <a:r>
              <a:rPr lang="ko-KR" altLang="en-US" dirty="0"/>
              <a:t> 클래스의 활용</a:t>
            </a:r>
          </a:p>
        </p:txBody>
      </p:sp>
      <p:sp>
        <p:nvSpPr>
          <p:cNvPr id="3" name="내용 개체 틀 2"/>
          <p:cNvSpPr>
            <a:spLocks noGrp="1"/>
          </p:cNvSpPr>
          <p:nvPr>
            <p:ph idx="1"/>
          </p:nvPr>
        </p:nvSpPr>
        <p:spPr>
          <a:xfrm>
            <a:off x="55202" y="618982"/>
            <a:ext cx="8981294" cy="333518"/>
          </a:xfrm>
        </p:spPr>
        <p:txBody>
          <a:bodyPr/>
          <a:lstStyle/>
          <a:p>
            <a:r>
              <a:rPr lang="ko-KR" altLang="en-US" dirty="0" err="1"/>
              <a:t>블루프린트</a:t>
            </a:r>
            <a:r>
              <a:rPr lang="ko-KR" altLang="en-US" dirty="0"/>
              <a:t> 클래스를 </a:t>
            </a:r>
            <a:r>
              <a:rPr lang="en-US" altLang="ko-KR" dirty="0"/>
              <a:t>Level</a:t>
            </a:r>
            <a:r>
              <a:rPr lang="ko-KR" altLang="en-US" dirty="0"/>
              <a:t>에 배치하면</a:t>
            </a:r>
            <a:r>
              <a:rPr lang="en-US" altLang="ko-KR" dirty="0"/>
              <a:t>,</a:t>
            </a:r>
            <a:r>
              <a:rPr lang="ko-KR" altLang="en-US" dirty="0"/>
              <a:t> </a:t>
            </a:r>
            <a:r>
              <a:rPr lang="ko-KR" altLang="en-US" dirty="0" err="1"/>
              <a:t>액터</a:t>
            </a:r>
            <a:r>
              <a:rPr lang="en-US" altLang="ko-KR" dirty="0"/>
              <a:t>(</a:t>
            </a:r>
            <a:r>
              <a:rPr lang="ko-KR" altLang="en-US" dirty="0"/>
              <a:t>인스턴스</a:t>
            </a:r>
            <a:r>
              <a:rPr lang="en-US" altLang="ko-KR" dirty="0"/>
              <a:t>)</a:t>
            </a:r>
            <a:r>
              <a:rPr lang="ko-KR" altLang="en-US"/>
              <a:t>가 스폰</a:t>
            </a:r>
            <a:r>
              <a:rPr lang="en-US" altLang="ko-KR"/>
              <a:t>, </a:t>
            </a:r>
            <a:r>
              <a:rPr lang="ko-KR" altLang="en-US"/>
              <a:t>즉 생성됨</a:t>
            </a:r>
            <a:r>
              <a:rPr lang="en-US" altLang="ko-KR"/>
              <a:t>.</a:t>
            </a:r>
            <a:endParaRPr lang="en-US" altLang="ko-KR" dirty="0"/>
          </a:p>
        </p:txBody>
      </p:sp>
      <p:sp>
        <p:nvSpPr>
          <p:cNvPr id="6" name="오른쪽 화살표 5"/>
          <p:cNvSpPr/>
          <p:nvPr/>
        </p:nvSpPr>
        <p:spPr bwMode="auto">
          <a:xfrm rot="950805">
            <a:off x="1651241" y="2294505"/>
            <a:ext cx="1866180" cy="195305"/>
          </a:xfrm>
          <a:prstGeom prst="rightArrow">
            <a:avLst/>
          </a:prstGeom>
          <a:solidFill>
            <a:srgbClr val="FFFF00"/>
          </a:solidFill>
          <a:ln w="12700" cap="rnd" cmpd="sng" algn="ctr">
            <a:noFill/>
            <a:prstDash val="solid"/>
            <a:round/>
            <a:headEnd type="none" w="med" len="med"/>
            <a:tailEnd type="none" w="med" len="med"/>
          </a:ln>
          <a:effectLst/>
        </p:spPr>
        <p:txBody>
          <a:bodyPr vert="horz" wrap="square" lIns="68580" tIns="34290" rIns="68580" bIns="34290" numCol="1" rtlCol="0" anchor="t" anchorCtr="0" compatLnSpc="1">
            <a:prstTxWarp prst="textNoShape">
              <a:avLst/>
            </a:prstTxWarp>
          </a:bodyPr>
          <a:lstStyle/>
          <a:p>
            <a:pPr algn="ctr" defTabSz="685800" fontAlgn="base">
              <a:spcBef>
                <a:spcPct val="0"/>
              </a:spcBef>
              <a:spcAft>
                <a:spcPct val="0"/>
              </a:spcAft>
            </a:pPr>
            <a:endParaRPr kumimoji="1" lang="ko-KR" altLang="en-US" sz="1350">
              <a:latin typeface="Tahoma" pitchFamily="34" charset="0"/>
              <a:ea typeface="나눔고딕" pitchFamily="50" charset="-127"/>
              <a:cs typeface="조선일보명조"/>
            </a:endParaRPr>
          </a:p>
        </p:txBody>
      </p:sp>
      <p:sp>
        <p:nvSpPr>
          <p:cNvPr id="8" name="직사각형 7"/>
          <p:cNvSpPr/>
          <p:nvPr/>
        </p:nvSpPr>
        <p:spPr>
          <a:xfrm>
            <a:off x="917800" y="1904750"/>
            <a:ext cx="745619" cy="248120"/>
          </a:xfrm>
          <a:prstGeom prst="rect">
            <a:avLst/>
          </a:prstGeom>
          <a:noFill/>
          <a:ln w="38100">
            <a:solidFill>
              <a:srgbClr val="FFFF00"/>
            </a:solidFill>
          </a:ln>
        </p:spPr>
        <p:txBody>
          <a:bodyPr wrap="square" anchor="ctr">
            <a:noAutofit/>
          </a:bodyPr>
          <a:lstStyle/>
          <a:p>
            <a:pPr algn="ctr"/>
            <a:endParaRPr lang="ko-KR" altLang="en-US" sz="2700" dirty="0">
              <a:solidFill>
                <a:schemeClr val="tx1">
                  <a:lumMod val="75000"/>
                  <a:lumOff val="25000"/>
                </a:schemeClr>
              </a:solidFill>
              <a:latin typeface="나눔스퀘어 ExtraBold" panose="020B0600000101010101" pitchFamily="50" charset="-127"/>
              <a:ea typeface="나눔스퀘어 ExtraBold" panose="020B0600000101010101" pitchFamily="50" charset="-127"/>
            </a:endParaRPr>
          </a:p>
        </p:txBody>
      </p:sp>
    </p:spTree>
    <p:extLst>
      <p:ext uri="{BB962C8B-B14F-4D97-AF65-F5344CB8AC3E}">
        <p14:creationId xmlns:p14="http://schemas.microsoft.com/office/powerpoint/2010/main" val="33697706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변수</a:t>
            </a:r>
            <a:endParaRPr lang="en-US" dirty="0"/>
          </a:p>
        </p:txBody>
      </p:sp>
      <p:sp>
        <p:nvSpPr>
          <p:cNvPr id="3" name="내용 개체 틀 2"/>
          <p:cNvSpPr>
            <a:spLocks noGrp="1"/>
          </p:cNvSpPr>
          <p:nvPr>
            <p:ph idx="1"/>
          </p:nvPr>
        </p:nvSpPr>
        <p:spPr>
          <a:xfrm>
            <a:off x="55202" y="618982"/>
            <a:ext cx="8981294" cy="2005272"/>
          </a:xfrm>
        </p:spPr>
        <p:txBody>
          <a:bodyPr/>
          <a:lstStyle/>
          <a:p>
            <a:r>
              <a:rPr lang="ko-KR" altLang="en-US" b="0"/>
              <a:t>값을 저장하고 사용하는 공간</a:t>
            </a:r>
            <a:endParaRPr lang="en-US" altLang="ko-KR" b="0"/>
          </a:p>
          <a:p>
            <a:r>
              <a:rPr lang="ko-KR" altLang="en-US" b="0"/>
              <a:t>변수 유형</a:t>
            </a:r>
            <a:endParaRPr lang="en-US" altLang="ko-KR" b="0"/>
          </a:p>
          <a:p>
            <a:pPr lvl="1"/>
            <a:r>
              <a:rPr lang="ko-KR" altLang="en-US" b="0"/>
              <a:t>변수는 사용 목적에 따라 는 다양한 유형</a:t>
            </a:r>
            <a:r>
              <a:rPr lang="en-US" altLang="ko-KR" b="0"/>
              <a:t>(type)</a:t>
            </a:r>
            <a:r>
              <a:rPr lang="ko-KR" altLang="en-US" b="0"/>
              <a:t>을 가짐</a:t>
            </a:r>
            <a:endParaRPr lang="en-US" altLang="ko-KR" b="0"/>
          </a:p>
          <a:p>
            <a:pPr lvl="1"/>
            <a:r>
              <a:rPr lang="ko-KR" altLang="en-US" b="0"/>
              <a:t>예</a:t>
            </a:r>
            <a:r>
              <a:rPr lang="en-US" altLang="ko-KR" b="0"/>
              <a:t>: Integer, Float, Boolean, String </a:t>
            </a:r>
            <a:r>
              <a:rPr lang="ko-KR" altLang="en-US" b="0"/>
              <a:t>등</a:t>
            </a:r>
            <a:endParaRPr lang="en-US" altLang="ko-KR" b="0"/>
          </a:p>
          <a:p>
            <a:r>
              <a:rPr lang="ko-KR" altLang="en-US" b="0"/>
              <a:t>블루프린트에서의 변수의 사용</a:t>
            </a:r>
            <a:endParaRPr lang="en-US" altLang="ko-KR" b="0"/>
          </a:p>
          <a:p>
            <a:pPr lvl="1"/>
            <a:r>
              <a:rPr lang="en-US" altLang="ko-KR" b="0"/>
              <a:t>Get </a:t>
            </a:r>
            <a:r>
              <a:rPr lang="ko-KR" altLang="en-US" b="0"/>
              <a:t>노드</a:t>
            </a:r>
            <a:r>
              <a:rPr lang="en-US" altLang="ko-KR" b="0"/>
              <a:t>: </a:t>
            </a:r>
            <a:r>
              <a:rPr lang="ko-KR" altLang="en-US" b="0"/>
              <a:t>변수에 저장된 값을 읽어올 때 사용</a:t>
            </a:r>
            <a:endParaRPr lang="en-US" altLang="ko-KR" b="0"/>
          </a:p>
          <a:p>
            <a:pPr lvl="1"/>
            <a:r>
              <a:rPr lang="en-US" altLang="ko-KR" b="0"/>
              <a:t>Set </a:t>
            </a:r>
            <a:r>
              <a:rPr lang="ko-KR" altLang="en-US" b="0"/>
              <a:t>노드</a:t>
            </a:r>
            <a:r>
              <a:rPr lang="en-US" altLang="ko-KR" b="0"/>
              <a:t>: </a:t>
            </a:r>
            <a:r>
              <a:rPr lang="ko-KR" altLang="en-US" b="0"/>
              <a:t>변수에 새로운 값을 저장</a:t>
            </a:r>
            <a:r>
              <a:rPr lang="en-US" altLang="ko-KR" b="0"/>
              <a:t>(</a:t>
            </a:r>
            <a:r>
              <a:rPr lang="ko-KR" altLang="en-US" b="0"/>
              <a:t>쓰기</a:t>
            </a:r>
            <a:r>
              <a:rPr lang="en-US" altLang="ko-KR" b="0"/>
              <a:t>)</a:t>
            </a:r>
            <a:r>
              <a:rPr lang="ko-KR" altLang="en-US" b="0"/>
              <a:t>할 때 사용</a:t>
            </a:r>
            <a:endParaRPr lang="en-US" altLang="ko-KR" b="0"/>
          </a:p>
          <a:p>
            <a:r>
              <a:rPr lang="ko-KR" altLang="en-US" b="0"/>
              <a:t>인스턴스 편집 가능</a:t>
            </a:r>
            <a:r>
              <a:rPr lang="en-US" altLang="ko-KR" b="0"/>
              <a:t>(Instance Editable) </a:t>
            </a:r>
            <a:r>
              <a:rPr lang="ko-KR" altLang="en-US" b="0"/>
              <a:t>기능</a:t>
            </a:r>
            <a:endParaRPr lang="en-US" dirty="0"/>
          </a:p>
        </p:txBody>
      </p:sp>
    </p:spTree>
    <p:extLst>
      <p:ext uri="{BB962C8B-B14F-4D97-AF65-F5344CB8AC3E}">
        <p14:creationId xmlns:p14="http://schemas.microsoft.com/office/powerpoint/2010/main" val="336856199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46B95CA-D6C7-A1F0-63F0-C468BA416D33}"/>
              </a:ext>
            </a:extLst>
          </p:cNvPr>
          <p:cNvSpPr>
            <a:spLocks noGrp="1"/>
          </p:cNvSpPr>
          <p:nvPr>
            <p:ph type="title"/>
          </p:nvPr>
        </p:nvSpPr>
        <p:spPr/>
        <p:txBody>
          <a:bodyPr/>
          <a:lstStyle/>
          <a:p>
            <a:r>
              <a:rPr lang="ko-KR" altLang="en-US"/>
              <a:t>함수 </a:t>
            </a:r>
            <a:r>
              <a:rPr lang="en-US" altLang="ko-KR"/>
              <a:t>Get Game Time in Seconds</a:t>
            </a:r>
            <a:r>
              <a:rPr lang="ko-KR" altLang="en-US"/>
              <a:t> </a:t>
            </a:r>
          </a:p>
        </p:txBody>
      </p:sp>
      <p:sp>
        <p:nvSpPr>
          <p:cNvPr id="5" name="내용 개체 틀 4">
            <a:extLst>
              <a:ext uri="{FF2B5EF4-FFF2-40B4-BE49-F238E27FC236}">
                <a16:creationId xmlns:a16="http://schemas.microsoft.com/office/drawing/2014/main" id="{DED02715-DAFD-388F-8E69-9564C85C9BA6}"/>
              </a:ext>
            </a:extLst>
          </p:cNvPr>
          <p:cNvSpPr>
            <a:spLocks noGrp="1"/>
          </p:cNvSpPr>
          <p:nvPr>
            <p:ph idx="1"/>
          </p:nvPr>
        </p:nvSpPr>
        <p:spPr>
          <a:xfrm>
            <a:off x="55202" y="618982"/>
            <a:ext cx="8981294" cy="414343"/>
          </a:xfrm>
        </p:spPr>
        <p:txBody>
          <a:bodyPr/>
          <a:lstStyle/>
          <a:p>
            <a:r>
              <a:rPr lang="ko-KR" altLang="en-US"/>
              <a:t>게임 시작</a:t>
            </a:r>
            <a:r>
              <a:rPr lang="en-US" altLang="ko-KR"/>
              <a:t>, </a:t>
            </a:r>
            <a:r>
              <a:rPr lang="ko-KR" altLang="en-US"/>
              <a:t>즉 플레이 버튼을 누른 이후 경과된 시간을 측정</a:t>
            </a:r>
          </a:p>
        </p:txBody>
      </p:sp>
      <p:pic>
        <p:nvPicPr>
          <p:cNvPr id="4" name="그림 3" descr="텍스트, 스크린샷, 폰트이(가) 표시된 사진&#10;&#10;AI 생성 콘텐츠는 정확하지 않을 수 있습니다.">
            <a:extLst>
              <a:ext uri="{FF2B5EF4-FFF2-40B4-BE49-F238E27FC236}">
                <a16:creationId xmlns:a16="http://schemas.microsoft.com/office/drawing/2014/main" id="{3AE3294A-2BCA-5329-86AE-D339809EEFF8}"/>
              </a:ext>
            </a:extLst>
          </p:cNvPr>
          <p:cNvPicPr>
            <a:picLocks noChangeAspect="1"/>
          </p:cNvPicPr>
          <p:nvPr/>
        </p:nvPicPr>
        <p:blipFill>
          <a:blip r:embed="rId3"/>
          <a:stretch>
            <a:fillRect/>
          </a:stretch>
        </p:blipFill>
        <p:spPr>
          <a:xfrm>
            <a:off x="182880" y="2164450"/>
            <a:ext cx="5692140" cy="1160897"/>
          </a:xfrm>
          <a:prstGeom prst="rect">
            <a:avLst/>
          </a:prstGeom>
        </p:spPr>
      </p:pic>
    </p:spTree>
    <p:extLst>
      <p:ext uri="{BB962C8B-B14F-4D97-AF65-F5344CB8AC3E}">
        <p14:creationId xmlns:p14="http://schemas.microsoft.com/office/powerpoint/2010/main" val="181547351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5361971-8052-55FE-438A-08159C2D066E}"/>
              </a:ext>
            </a:extLst>
          </p:cNvPr>
          <p:cNvSpPr>
            <a:spLocks noGrp="1"/>
          </p:cNvSpPr>
          <p:nvPr>
            <p:ph type="title"/>
          </p:nvPr>
        </p:nvSpPr>
        <p:spPr/>
        <p:txBody>
          <a:bodyPr wrap="square"/>
          <a:lstStyle/>
          <a:p>
            <a:r>
              <a:rPr lang="ko-KR" altLang="en-US"/>
              <a:t>실습 </a:t>
            </a:r>
            <a:r>
              <a:rPr lang="en-US" altLang="ko-KR"/>
              <a:t>2. </a:t>
            </a:r>
            <a:r>
              <a:rPr lang="ko-KR" altLang="en-US"/>
              <a:t>위아래로 운동하는 액터 만들기</a:t>
            </a:r>
            <a:endParaRPr lang="ko-KR" alt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5361971-8052-55FE-438A-08159C2D066E}"/>
              </a:ext>
            </a:extLst>
          </p:cNvPr>
          <p:cNvSpPr>
            <a:spLocks noGrp="1"/>
          </p:cNvSpPr>
          <p:nvPr>
            <p:ph type="title"/>
          </p:nvPr>
        </p:nvSpPr>
        <p:spPr/>
        <p:txBody>
          <a:bodyPr wrap="square"/>
          <a:lstStyle/>
          <a:p>
            <a:r>
              <a:rPr lang="ko-KR" altLang="en-US"/>
              <a:t>실습 </a:t>
            </a:r>
            <a:r>
              <a:rPr lang="en-US" altLang="ko-KR"/>
              <a:t>3. </a:t>
            </a:r>
            <a:r>
              <a:rPr lang="ko-KR" altLang="en-US"/>
              <a:t>액터 운동의 진폭과 주파수 조절하기</a:t>
            </a:r>
            <a:endParaRPr lang="ko-KR" alt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98F73A-098D-3B03-773C-2A61931B101E}"/>
            </a:ext>
          </a:extLst>
        </p:cNvPr>
        <p:cNvGrpSpPr/>
        <p:nvPr/>
      </p:nvGrpSpPr>
      <p:grpSpPr>
        <a:xfrm>
          <a:off x="0" y="0"/>
          <a:ext cx="0" cy="0"/>
          <a:chOff x="0" y="0"/>
          <a:chExt cx="0" cy="0"/>
        </a:xfrm>
      </p:grpSpPr>
      <p:sp>
        <p:nvSpPr>
          <p:cNvPr id="3" name="직사각형 2">
            <a:extLst>
              <a:ext uri="{FF2B5EF4-FFF2-40B4-BE49-F238E27FC236}">
                <a16:creationId xmlns:a16="http://schemas.microsoft.com/office/drawing/2014/main" id="{C9856123-F259-A76B-2309-51407578B73F}"/>
              </a:ext>
            </a:extLst>
          </p:cNvPr>
          <p:cNvSpPr/>
          <p:nvPr/>
        </p:nvSpPr>
        <p:spPr bwMode="auto">
          <a:xfrm>
            <a:off x="0" y="0"/>
            <a:ext cx="9144000" cy="5143500"/>
          </a:xfrm>
          <a:prstGeom prst="rect">
            <a:avLst/>
          </a:prstGeom>
          <a:solidFill>
            <a:schemeClr val="tx1">
              <a:lumMod val="50000"/>
              <a:lumOff val="50000"/>
            </a:schemeClr>
          </a:solidFill>
          <a:ln w="12700" cap="rnd"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1" hangingPunct="1">
              <a:lnSpc>
                <a:spcPct val="100000"/>
              </a:lnSpc>
              <a:spcBef>
                <a:spcPct val="0"/>
              </a:spcBef>
              <a:spcAft>
                <a:spcPct val="0"/>
              </a:spcAft>
              <a:buClrTx/>
              <a:buSzTx/>
              <a:buFontTx/>
              <a:buNone/>
              <a:tabLst/>
            </a:pPr>
            <a:endParaRPr kumimoji="1" lang="ko-KR" altLang="en-US" sz="1800" b="0" i="0" u="none" strike="noStrike" cap="none" normalizeH="0" baseline="0">
              <a:ln>
                <a:noFill/>
              </a:ln>
              <a:solidFill>
                <a:schemeClr val="tx1"/>
              </a:solidFill>
              <a:effectLst/>
              <a:latin typeface="Tahoma" pitchFamily="34" charset="0"/>
              <a:ea typeface="나눔고딕" pitchFamily="50" charset="-127"/>
              <a:cs typeface="조선일보명조"/>
            </a:endParaRPr>
          </a:p>
        </p:txBody>
      </p:sp>
    </p:spTree>
    <p:extLst>
      <p:ext uri="{BB962C8B-B14F-4D97-AF65-F5344CB8AC3E}">
        <p14:creationId xmlns:p14="http://schemas.microsoft.com/office/powerpoint/2010/main" val="69337504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CAB1EA4-83AA-53ED-4BC4-EA7064EC67A1}"/>
              </a:ext>
            </a:extLst>
          </p:cNvPr>
          <p:cNvSpPr>
            <a:spLocks noGrp="1"/>
          </p:cNvSpPr>
          <p:nvPr>
            <p:ph type="title"/>
          </p:nvPr>
        </p:nvSpPr>
        <p:spPr/>
        <p:txBody>
          <a:bodyPr wrap="square"/>
          <a:lstStyle/>
          <a:p>
            <a:r>
              <a:rPr lang="en-US" altLang="ko-KR"/>
              <a:t>3</a:t>
            </a:r>
            <a:r>
              <a:rPr lang="ko-KR" altLang="en-US"/>
              <a:t>차시</a:t>
            </a:r>
            <a:r>
              <a:rPr lang="en-US" altLang="ko-KR"/>
              <a:t>. </a:t>
            </a:r>
            <a:r>
              <a:rPr lang="ko-KR" altLang="en-US"/>
              <a:t>이벤트 기반 프로그래밍과 레벨 인스턴스</a:t>
            </a:r>
            <a:endParaRPr lang="ko-KR" alt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BDA2922-079D-4EC0-BCF5-8053049360E1}"/>
              </a:ext>
            </a:extLst>
          </p:cNvPr>
          <p:cNvSpPr>
            <a:spLocks noGrp="1"/>
          </p:cNvSpPr>
          <p:nvPr>
            <p:ph type="title"/>
          </p:nvPr>
        </p:nvSpPr>
        <p:spPr>
          <a:xfrm>
            <a:off x="55202" y="104895"/>
            <a:ext cx="8981294" cy="414343"/>
          </a:xfrm>
        </p:spPr>
        <p:txBody>
          <a:bodyPr wrap="square"/>
          <a:lstStyle/>
          <a:p>
            <a:r>
              <a:rPr lang="ko-KR" altLang="en-US"/>
              <a:t>이벤트 기반 프로그래밍</a:t>
            </a:r>
            <a:endParaRPr lang="ko-KR" altLang="en-US" dirty="0"/>
          </a:p>
        </p:txBody>
      </p:sp>
      <p:sp>
        <p:nvSpPr>
          <p:cNvPr id="3" name="내용 개체 틀 2">
            <a:extLst>
              <a:ext uri="{FF2B5EF4-FFF2-40B4-BE49-F238E27FC236}">
                <a16:creationId xmlns:a16="http://schemas.microsoft.com/office/drawing/2014/main" id="{79B0F421-0FE8-44AE-86B6-151D0625309C}"/>
              </a:ext>
            </a:extLst>
          </p:cNvPr>
          <p:cNvSpPr>
            <a:spLocks noGrp="1"/>
          </p:cNvSpPr>
          <p:nvPr>
            <p:ph idx="1"/>
          </p:nvPr>
        </p:nvSpPr>
        <p:spPr>
          <a:xfrm>
            <a:off x="55202" y="618982"/>
            <a:ext cx="8981294" cy="1514618"/>
          </a:xfrm>
        </p:spPr>
        <p:txBody>
          <a:bodyPr wrap="square"/>
          <a:lstStyle/>
          <a:p>
            <a:r>
              <a:rPr lang="ko-KR" altLang="en-US"/>
              <a:t>매 프레임마다 모든 상황을 검사하면 시스템 부하가 크므로</a:t>
            </a:r>
            <a:r>
              <a:rPr lang="en-US" altLang="ko-KR"/>
              <a:t>, </a:t>
            </a:r>
            <a:r>
              <a:rPr lang="ko-KR" altLang="en-US"/>
              <a:t>이벤트 기반 프로그래밍 방식이 활용됨</a:t>
            </a:r>
            <a:r>
              <a:rPr lang="en-US" altLang="ko-KR"/>
              <a:t>.</a:t>
            </a:r>
          </a:p>
          <a:p>
            <a:r>
              <a:rPr lang="ko-KR" altLang="en-US"/>
              <a:t>엔진이 게임 월드의 사건을 조용히 관찰하다가</a:t>
            </a:r>
            <a:r>
              <a:rPr lang="en-US" altLang="ko-KR"/>
              <a:t>, </a:t>
            </a:r>
            <a:r>
              <a:rPr lang="ko-KR" altLang="en-US"/>
              <a:t>특정 사건 발생 시 관련 액터에게만 즉시 알림</a:t>
            </a:r>
            <a:r>
              <a:rPr lang="en-US" altLang="ko-KR"/>
              <a:t>.</a:t>
            </a:r>
          </a:p>
          <a:p>
            <a:pPr lvl="1"/>
            <a:r>
              <a:rPr lang="ko-KR" altLang="en-US"/>
              <a:t>예</a:t>
            </a:r>
            <a:r>
              <a:rPr lang="en-US" altLang="ko-KR"/>
              <a:t>: </a:t>
            </a:r>
            <a:r>
              <a:rPr lang="ko-KR" altLang="en-US"/>
              <a:t>플레이어와 트로피의 충돌 발생 시</a:t>
            </a:r>
            <a:r>
              <a:rPr lang="en-US" altLang="ko-KR"/>
              <a:t>, </a:t>
            </a:r>
            <a:r>
              <a:rPr lang="ko-KR" altLang="en-US"/>
              <a:t>엔진이 이를 감지해 양쪽 액터에게 충돌 정보 전달</a:t>
            </a:r>
            <a:endParaRPr lang="en-US" altLang="ko-KR"/>
          </a:p>
          <a:p>
            <a:r>
              <a:rPr lang="ko-KR" altLang="en-US"/>
              <a:t>이때 로직의 진입점이 되는 것이 이벤트 노드임</a:t>
            </a:r>
            <a:r>
              <a:rPr lang="en-US" altLang="ko-KR"/>
              <a:t>.</a:t>
            </a:r>
          </a:p>
          <a:p>
            <a:r>
              <a:rPr lang="ko-KR" altLang="en-US"/>
              <a:t>개발자는 조건 검사 코드를 직접 짤 필요 없이 이벤트 노드에 로직만 연결하면 되어 직관적이고 효율적</a:t>
            </a:r>
            <a:r>
              <a:rPr lang="en-US" altLang="ko-KR"/>
              <a:t>.</a:t>
            </a:r>
            <a:endParaRPr lang="ko-KR" alt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BDA2922-079D-4EC0-BCF5-8053049360E1}"/>
              </a:ext>
            </a:extLst>
          </p:cNvPr>
          <p:cNvSpPr>
            <a:spLocks noGrp="1"/>
          </p:cNvSpPr>
          <p:nvPr>
            <p:ph type="title"/>
          </p:nvPr>
        </p:nvSpPr>
        <p:spPr>
          <a:xfrm>
            <a:off x="55202" y="104895"/>
            <a:ext cx="8981294" cy="414343"/>
          </a:xfrm>
        </p:spPr>
        <p:txBody>
          <a:bodyPr wrap="square"/>
          <a:lstStyle/>
          <a:p>
            <a:r>
              <a:rPr lang="ko-KR" altLang="en-US"/>
              <a:t>이벤트 노드를 이용한 충돌 감지</a:t>
            </a:r>
            <a:endParaRPr lang="ko-KR" altLang="en-US" dirty="0"/>
          </a:p>
        </p:txBody>
      </p:sp>
      <p:pic>
        <p:nvPicPr>
          <p:cNvPr id="4" name="Picture 3">
            <a:extLst>
              <a:ext uri="{FF2B5EF4-FFF2-40B4-BE49-F238E27FC236}">
                <a16:creationId xmlns:a16="http://schemas.microsoft.com/office/drawing/2014/main" id="{A057BBC2-B9FC-AC51-3126-5260C5486538}"/>
              </a:ext>
            </a:extLst>
          </p:cNvPr>
          <p:cNvPicPr>
            <a:picLocks noChangeAspect="1"/>
          </p:cNvPicPr>
          <p:nvPr/>
        </p:nvPicPr>
        <p:blipFill>
          <a:blip r:embed="rId3"/>
          <a:stretch>
            <a:fillRect/>
          </a:stretch>
        </p:blipFill>
        <p:spPr>
          <a:xfrm>
            <a:off x="636270" y="2529380"/>
            <a:ext cx="5507355" cy="1995138"/>
          </a:xfrm>
          <a:prstGeom prst="rect">
            <a:avLst/>
          </a:prstGeom>
        </p:spPr>
      </p:pic>
      <p:sp>
        <p:nvSpPr>
          <p:cNvPr id="6" name="내용 개체 틀 5">
            <a:extLst>
              <a:ext uri="{FF2B5EF4-FFF2-40B4-BE49-F238E27FC236}">
                <a16:creationId xmlns:a16="http://schemas.microsoft.com/office/drawing/2014/main" id="{7F62B7F0-5591-F05E-E289-23B5F3876F4F}"/>
              </a:ext>
            </a:extLst>
          </p:cNvPr>
          <p:cNvSpPr>
            <a:spLocks noGrp="1"/>
          </p:cNvSpPr>
          <p:nvPr>
            <p:ph idx="1"/>
          </p:nvPr>
        </p:nvSpPr>
        <p:spPr>
          <a:xfrm>
            <a:off x="55202" y="618982"/>
            <a:ext cx="8981294" cy="1705118"/>
          </a:xfrm>
        </p:spPr>
        <p:txBody>
          <a:bodyPr/>
          <a:lstStyle/>
          <a:p>
            <a:r>
              <a:rPr lang="ko-KR" altLang="en-US"/>
              <a:t>액터 간 충돌 감지에는 </a:t>
            </a:r>
            <a:r>
              <a:rPr lang="en-US" altLang="ko-KR"/>
              <a:t>'</a:t>
            </a:r>
            <a:r>
              <a:rPr lang="ko-KR" altLang="en-US"/>
              <a:t>히트</a:t>
            </a:r>
            <a:r>
              <a:rPr lang="en-US" altLang="ko-KR"/>
              <a:t>(Hit)' </a:t>
            </a:r>
            <a:r>
              <a:rPr lang="ko-KR" altLang="en-US"/>
              <a:t>이벤트 노드 활용</a:t>
            </a:r>
            <a:endParaRPr lang="en-US" altLang="ko-KR"/>
          </a:p>
          <a:p>
            <a:r>
              <a:rPr lang="en-US" altLang="ko-KR"/>
              <a:t>On Component Hit</a:t>
            </a:r>
            <a:r>
              <a:rPr lang="ko-KR" altLang="en-US"/>
              <a:t>는 스태틱 메시 컴포넌트가 무언가와 부딪혔을 때 자동 호출되며</a:t>
            </a:r>
            <a:r>
              <a:rPr lang="en-US" altLang="ko-KR"/>
              <a:t>, </a:t>
            </a:r>
            <a:r>
              <a:rPr lang="ko-KR" altLang="en-US"/>
              <a:t>이후 원하는 처리 로직 연결 가능</a:t>
            </a:r>
            <a:endParaRPr lang="en-US" altLang="ko-KR"/>
          </a:p>
          <a:p>
            <a:r>
              <a:rPr lang="ko-KR" altLang="en-US"/>
              <a:t>언리얼 엔진은 충돌 외에도 오버랩</a:t>
            </a:r>
            <a:r>
              <a:rPr lang="en-US" altLang="ko-KR"/>
              <a:t>, </a:t>
            </a:r>
            <a:r>
              <a:rPr lang="ko-KR" altLang="en-US"/>
              <a:t>피격 등 상황별로 세분화된 이벤트 노드 제공</a:t>
            </a:r>
            <a:endParaRPr lang="en-US" altLang="ko-KR"/>
          </a:p>
          <a:p>
            <a:r>
              <a:rPr lang="ko-KR" altLang="en-US"/>
              <a:t>어떤 노드를 쓰느냐에 따라 감지 타이밍</a:t>
            </a:r>
            <a:r>
              <a:rPr lang="en-US" altLang="ko-KR"/>
              <a:t>, </a:t>
            </a:r>
            <a:r>
              <a:rPr lang="ko-KR" altLang="en-US"/>
              <a:t>상대방</a:t>
            </a:r>
            <a:r>
              <a:rPr lang="en-US" altLang="ko-KR"/>
              <a:t>·</a:t>
            </a:r>
            <a:r>
              <a:rPr lang="ko-KR" altLang="en-US"/>
              <a:t>충돌 지점 등 전달받는 데이터가 달라짐</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BE986DF-F67A-1ADA-94C4-2A21889CC368}"/>
              </a:ext>
            </a:extLst>
          </p:cNvPr>
          <p:cNvSpPr>
            <a:spLocks noGrp="1"/>
          </p:cNvSpPr>
          <p:nvPr>
            <p:ph type="title"/>
          </p:nvPr>
        </p:nvSpPr>
        <p:spPr/>
        <p:txBody>
          <a:bodyPr/>
          <a:lstStyle/>
          <a:p>
            <a:r>
              <a:rPr lang="ko-KR" altLang="en-US"/>
              <a:t>레벨 인스턴스</a:t>
            </a:r>
          </a:p>
        </p:txBody>
      </p:sp>
      <p:sp>
        <p:nvSpPr>
          <p:cNvPr id="5" name="내용 개체 틀 4">
            <a:extLst>
              <a:ext uri="{FF2B5EF4-FFF2-40B4-BE49-F238E27FC236}">
                <a16:creationId xmlns:a16="http://schemas.microsoft.com/office/drawing/2014/main" id="{18A0D4B8-7D84-A952-46B3-CC7158D3DB7C}"/>
              </a:ext>
            </a:extLst>
          </p:cNvPr>
          <p:cNvSpPr>
            <a:spLocks noGrp="1"/>
          </p:cNvSpPr>
          <p:nvPr>
            <p:ph idx="1"/>
          </p:nvPr>
        </p:nvSpPr>
        <p:spPr>
          <a:xfrm>
            <a:off x="55202" y="618982"/>
            <a:ext cx="8981294" cy="1524143"/>
          </a:xfrm>
        </p:spPr>
        <p:txBody>
          <a:bodyPr/>
          <a:lstStyle/>
          <a:p>
            <a:pPr marL="285750" lvl="0" indent="-285750" latinLnBrk="0">
              <a:spcBef>
                <a:spcPct val="0"/>
              </a:spcBef>
              <a:buClrTx/>
              <a:buSzTx/>
              <a:buFont typeface="Arial" panose="020B0604020202020204" pitchFamily="34" charset="0"/>
              <a:buChar char="•"/>
            </a:pPr>
            <a:r>
              <a:rPr kumimoji="0" lang="ko-KR" altLang="ko-KR" b="0">
                <a:solidFill>
                  <a:schemeClr val="tx1"/>
                </a:solidFill>
                <a:latin typeface="Arial" panose="020B0604020202020204" pitchFamily="34" charset="0"/>
              </a:rPr>
              <a:t>다른 레벨(맵)에 만들어둔 오브젝트 모음을 통째로 하나의 세트처럼 가져와 배치하는 기능 </a:t>
            </a:r>
          </a:p>
          <a:p>
            <a:pPr marL="285750" lvl="0" indent="-285750" latinLnBrk="0">
              <a:spcBef>
                <a:spcPct val="0"/>
              </a:spcBef>
              <a:buClrTx/>
              <a:buSzTx/>
              <a:buFont typeface="Arial" panose="020B0604020202020204" pitchFamily="34" charset="0"/>
              <a:buChar char="•"/>
            </a:pPr>
            <a:r>
              <a:rPr kumimoji="0" lang="ko-KR" altLang="ko-KR" b="0">
                <a:solidFill>
                  <a:schemeClr val="tx1"/>
                </a:solidFill>
                <a:latin typeface="Arial" panose="020B0604020202020204" pitchFamily="34" charset="0"/>
              </a:rPr>
              <a:t>조명, 이펙트, 캐릭터, 블루프린트 기능까지 뭐든 다 담을 수 있음 </a:t>
            </a:r>
          </a:p>
          <a:p>
            <a:pPr marL="285750" lvl="0" indent="-285750" latinLnBrk="0">
              <a:spcBef>
                <a:spcPct val="0"/>
              </a:spcBef>
              <a:buClrTx/>
              <a:buSzTx/>
              <a:buFont typeface="Arial" panose="020B0604020202020204" pitchFamily="34" charset="0"/>
              <a:buChar char="•"/>
            </a:pPr>
            <a:r>
              <a:rPr kumimoji="0" lang="ko-KR" altLang="ko-KR" b="0">
                <a:solidFill>
                  <a:schemeClr val="tx1"/>
                </a:solidFill>
                <a:latin typeface="Arial" panose="020B0604020202020204" pitchFamily="34" charset="0"/>
              </a:rPr>
              <a:t>원본 세트를 수정하면 배치해둔 모든 복사본에 자동으로 바로 반영됨 </a:t>
            </a:r>
          </a:p>
          <a:p>
            <a:pPr marL="285750" lvl="0" indent="-285750" latinLnBrk="0">
              <a:spcBef>
                <a:spcPct val="0"/>
              </a:spcBef>
              <a:buClrTx/>
              <a:buSzTx/>
              <a:buFont typeface="Arial" panose="020B0604020202020204" pitchFamily="34" charset="0"/>
              <a:buChar char="•"/>
            </a:pPr>
            <a:r>
              <a:rPr kumimoji="0" lang="ko-KR" altLang="ko-KR" b="0">
                <a:solidFill>
                  <a:schemeClr val="tx1"/>
                </a:solidFill>
                <a:latin typeface="Arial" panose="020B0604020202020204" pitchFamily="34" charset="0"/>
              </a:rPr>
              <a:t>오브젝트들이 그대로 </a:t>
            </a:r>
            <a:r>
              <a:rPr kumimoji="0" lang="ko-KR" altLang="en-US" b="0">
                <a:solidFill>
                  <a:schemeClr val="tx1"/>
                </a:solidFill>
                <a:latin typeface="Arial" panose="020B0604020202020204" pitchFamily="34" charset="0"/>
              </a:rPr>
              <a:t>존재하므로</a:t>
            </a:r>
            <a:r>
              <a:rPr kumimoji="0" lang="ko-KR" altLang="ko-KR" b="0">
                <a:solidFill>
                  <a:schemeClr val="tx1"/>
                </a:solidFill>
                <a:latin typeface="Arial" panose="020B0604020202020204" pitchFamily="34" charset="0"/>
              </a:rPr>
              <a:t> 성능상 이득은 없음</a:t>
            </a:r>
            <a:endParaRPr lang="ko-KR" altLang="en-US"/>
          </a:p>
        </p:txBody>
      </p:sp>
    </p:spTree>
    <p:extLst>
      <p:ext uri="{BB962C8B-B14F-4D97-AF65-F5344CB8AC3E}">
        <p14:creationId xmlns:p14="http://schemas.microsoft.com/office/powerpoint/2010/main" val="87173281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C0E7406-4F73-6BC8-CEDE-391FBFC5E6A7}"/>
              </a:ext>
            </a:extLst>
          </p:cNvPr>
          <p:cNvSpPr>
            <a:spLocks noGrp="1"/>
          </p:cNvSpPr>
          <p:nvPr>
            <p:ph type="title"/>
          </p:nvPr>
        </p:nvSpPr>
        <p:spPr/>
        <p:txBody>
          <a:bodyPr/>
          <a:lstStyle/>
          <a:p>
            <a:r>
              <a:rPr lang="ko-KR" altLang="en-US"/>
              <a:t>팩형 레벨 액터 </a:t>
            </a:r>
            <a:r>
              <a:rPr lang="en-US" altLang="ko-KR"/>
              <a:t>(Packed Level Actor)</a:t>
            </a:r>
            <a:endParaRPr lang="ko-KR" altLang="en-US"/>
          </a:p>
        </p:txBody>
      </p:sp>
      <p:sp>
        <p:nvSpPr>
          <p:cNvPr id="5" name="Rectangle 3">
            <a:extLst>
              <a:ext uri="{FF2B5EF4-FFF2-40B4-BE49-F238E27FC236}">
                <a16:creationId xmlns:a16="http://schemas.microsoft.com/office/drawing/2014/main" id="{E8B65B0E-BF9A-D57A-4BB8-D327FC3A7873}"/>
              </a:ext>
            </a:extLst>
          </p:cNvPr>
          <p:cNvSpPr>
            <a:spLocks noChangeArrowheads="1"/>
          </p:cNvSpPr>
          <p:nvPr/>
        </p:nvSpPr>
        <p:spPr bwMode="auto">
          <a:xfrm>
            <a:off x="55202" y="1012774"/>
            <a:ext cx="8734425"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endParaRPr kumimoji="0" lang="ko-KR" altLang="ko-KR" sz="1800" b="0" i="0" u="none" strike="noStrike" cap="none" normalizeH="0" baseline="0">
              <a:ln>
                <a:noFill/>
              </a:ln>
              <a:solidFill>
                <a:schemeClr val="tx1"/>
              </a:solidFill>
              <a:effectLst/>
              <a:latin typeface="Arial" panose="020B0604020202020204" pitchFamily="34" charset="0"/>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ko-KR" altLang="ko-KR" sz="1800" b="0" i="0" u="none" strike="noStrike" cap="none" normalizeH="0" baseline="0">
                <a:ln>
                  <a:noFill/>
                </a:ln>
                <a:solidFill>
                  <a:schemeClr val="tx1"/>
                </a:solidFill>
                <a:effectLst/>
                <a:latin typeface="Arial" panose="020B0604020202020204" pitchFamily="34" charset="0"/>
              </a:rPr>
              <a:t>반복해서 여러 번 배치할 정적 오브젝트(건물, 나무, 바위 등)들을 하나로 묶어서 만드는 액터 </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ko-KR" altLang="ko-KR" sz="1800" b="0" i="0" u="none" strike="noStrike" cap="none" normalizeH="0" baseline="0">
                <a:ln>
                  <a:noFill/>
                </a:ln>
                <a:solidFill>
                  <a:schemeClr val="tx1"/>
                </a:solidFill>
                <a:effectLst/>
                <a:latin typeface="Arial" panose="020B0604020202020204" pitchFamily="34" charset="0"/>
              </a:rPr>
              <a:t>여러 개를 한 화면에 놓아도 하나로 합쳐서 그리기 때문에 렌더링 부담(드로우콜)이 줄어 성능이 좋아짐 </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ko-KR" altLang="ko-KR" sz="1800" b="0" i="0" u="none" strike="noStrike" cap="none" normalizeH="0" baseline="0">
                <a:ln>
                  <a:noFill/>
                </a:ln>
                <a:solidFill>
                  <a:schemeClr val="tx1"/>
                </a:solidFill>
                <a:effectLst/>
                <a:latin typeface="Arial" panose="020B0604020202020204" pitchFamily="34" charset="0"/>
              </a:rPr>
              <a:t>나무나 건물처럼 똑같은 걸 수백 개씩 깔아야 할 때 특히 유리함 </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ko-KR" altLang="ko-KR" sz="1800" b="0" i="0" u="none" strike="noStrike" cap="none" normalizeH="0" baseline="0">
                <a:ln>
                  <a:noFill/>
                </a:ln>
                <a:solidFill>
                  <a:schemeClr val="tx1"/>
                </a:solidFill>
                <a:effectLst/>
                <a:latin typeface="Arial" panose="020B0604020202020204" pitchFamily="34" charset="0"/>
              </a:rPr>
              <a:t>조명, 이펙트, 캐릭터, 블루프린트 기능 같은 건 못 담고 오직 정적 메시만 담을 수 있음 </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ko-KR" altLang="ko-KR" sz="1800" b="0" i="0" u="none" strike="noStrike" cap="none" normalizeH="0" baseline="0">
                <a:ln>
                  <a:noFill/>
                </a:ln>
                <a:solidFill>
                  <a:schemeClr val="tx1"/>
                </a:solidFill>
                <a:effectLst/>
                <a:latin typeface="Arial" panose="020B0604020202020204" pitchFamily="34" charset="0"/>
              </a:rPr>
              <a:t>원본을 고쳐도 자동으로 안 바뀌고, 직접 "다시 패킹(Repack)"을 눌러줘야 반영됨 </a:t>
            </a:r>
          </a:p>
        </p:txBody>
      </p:sp>
    </p:spTree>
    <p:extLst>
      <p:ext uri="{BB962C8B-B14F-4D97-AF65-F5344CB8AC3E}">
        <p14:creationId xmlns:p14="http://schemas.microsoft.com/office/powerpoint/2010/main" val="381139439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5361971-8052-55FE-438A-08159C2D066E}"/>
              </a:ext>
            </a:extLst>
          </p:cNvPr>
          <p:cNvSpPr>
            <a:spLocks noGrp="1"/>
          </p:cNvSpPr>
          <p:nvPr>
            <p:ph type="title"/>
          </p:nvPr>
        </p:nvSpPr>
        <p:spPr/>
        <p:txBody>
          <a:bodyPr wrap="square"/>
          <a:lstStyle/>
          <a:p>
            <a:r>
              <a:rPr lang="ko-KR" altLang="en-US"/>
              <a:t>실습 </a:t>
            </a:r>
            <a:r>
              <a:rPr lang="en-US" altLang="ko-KR"/>
              <a:t>4. </a:t>
            </a:r>
            <a:r>
              <a:rPr lang="ko-KR" altLang="en-US"/>
              <a:t>액터 획득 연출 만들기 </a:t>
            </a:r>
            <a:r>
              <a:rPr lang="en-US" altLang="ko-KR"/>
              <a:t>(</a:t>
            </a:r>
            <a:r>
              <a:rPr lang="ko-KR" altLang="en-US"/>
              <a:t>충돌</a:t>
            </a:r>
            <a:r>
              <a:rPr lang="en-US" altLang="ko-KR"/>
              <a:t>·</a:t>
            </a:r>
            <a:r>
              <a:rPr lang="ko-KR" altLang="en-US"/>
              <a:t>폭파</a:t>
            </a:r>
            <a:r>
              <a:rPr lang="en-US" altLang="ko-KR"/>
              <a:t>·</a:t>
            </a:r>
            <a:r>
              <a:rPr lang="ko-KR" altLang="en-US"/>
              <a:t>사운드</a:t>
            </a:r>
            <a:r>
              <a:rPr lang="en-US" altLang="ko-KR"/>
              <a:t>)</a:t>
            </a:r>
            <a:endParaRPr lang="ko-KR" alt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191CF2D-AEA8-27B8-7A86-6E4D901FC567}"/>
              </a:ext>
            </a:extLst>
          </p:cNvPr>
          <p:cNvSpPr>
            <a:spLocks noGrp="1"/>
          </p:cNvSpPr>
          <p:nvPr>
            <p:ph type="title"/>
          </p:nvPr>
        </p:nvSpPr>
        <p:spPr/>
        <p:txBody>
          <a:bodyPr/>
          <a:lstStyle/>
          <a:p>
            <a:r>
              <a:rPr lang="ko-KR" altLang="en-US"/>
              <a:t>실습 </a:t>
            </a:r>
            <a:r>
              <a:rPr lang="en-US" altLang="ko-KR"/>
              <a:t>5. </a:t>
            </a:r>
            <a:r>
              <a:rPr lang="ko-KR" altLang="en-US"/>
              <a:t>레벨 인스턴스와 팩형 래벨 액터를 활용한 효율적인 레벨 제작</a:t>
            </a:r>
          </a:p>
        </p:txBody>
      </p:sp>
    </p:spTree>
    <p:extLst>
      <p:ext uri="{BB962C8B-B14F-4D97-AF65-F5344CB8AC3E}">
        <p14:creationId xmlns:p14="http://schemas.microsoft.com/office/powerpoint/2010/main" val="40348093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EFC8BB9-873D-DC72-946E-FEA54150986F}"/>
              </a:ext>
            </a:extLst>
          </p:cNvPr>
          <p:cNvSpPr>
            <a:spLocks noGrp="1"/>
          </p:cNvSpPr>
          <p:nvPr>
            <p:ph type="title"/>
          </p:nvPr>
        </p:nvSpPr>
        <p:spPr/>
        <p:txBody>
          <a:bodyPr/>
          <a:lstStyle/>
          <a:p>
            <a:endParaRPr lang="ko-KR" altLang="en-US"/>
          </a:p>
        </p:txBody>
      </p:sp>
    </p:spTree>
    <p:extLst>
      <p:ext uri="{BB962C8B-B14F-4D97-AF65-F5344CB8AC3E}">
        <p14:creationId xmlns:p14="http://schemas.microsoft.com/office/powerpoint/2010/main" val="4069319503"/>
      </p:ext>
    </p:extLst>
  </p:cSld>
  <p:clrMapOvr>
    <a:masterClrMapping/>
  </p:clrMapOvr>
</p:sld>
</file>

<file path=ppt/theme/theme1.xml><?xml version="1.0" encoding="utf-8"?>
<a:theme xmlns:a="http://schemas.openxmlformats.org/drawingml/2006/main" name="1_모자이크">
  <a:themeElements>
    <a:clrScheme name="1_모자이크 10">
      <a:dk1>
        <a:srgbClr val="000000"/>
      </a:dk1>
      <a:lt1>
        <a:srgbClr val="FFFFFF"/>
      </a:lt1>
      <a:dk2>
        <a:srgbClr val="000000"/>
      </a:dk2>
      <a:lt2>
        <a:srgbClr val="FF9900"/>
      </a:lt2>
      <a:accent1>
        <a:srgbClr val="FFCC99"/>
      </a:accent1>
      <a:accent2>
        <a:srgbClr val="FBA313"/>
      </a:accent2>
      <a:accent3>
        <a:srgbClr val="FFFFFF"/>
      </a:accent3>
      <a:accent4>
        <a:srgbClr val="000000"/>
      </a:accent4>
      <a:accent5>
        <a:srgbClr val="FFE2CA"/>
      </a:accent5>
      <a:accent6>
        <a:srgbClr val="E39310"/>
      </a:accent6>
      <a:hlink>
        <a:srgbClr val="CC3300"/>
      </a:hlink>
      <a:folHlink>
        <a:srgbClr val="FCC66E"/>
      </a:folHlink>
    </a:clrScheme>
    <a:fontScheme name="사용자 지정 1">
      <a:majorFont>
        <a:latin typeface="나눔스퀘어 Bold"/>
        <a:ea typeface="나눔스퀘어 Bold"/>
        <a:cs typeface=""/>
      </a:majorFont>
      <a:minorFont>
        <a:latin typeface="나눔스퀘어 Bold"/>
        <a:ea typeface="나눔스퀘어 Bold"/>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12700" cap="rnd" cmpd="sng" algn="ctr">
          <a:solidFill>
            <a:schemeClr val="hlink"/>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ctr" defTabSz="914400" rtl="0" eaLnBrk="1" fontAlgn="base" latinLnBrk="1" hangingPunct="1">
          <a:lnSpc>
            <a:spcPct val="100000"/>
          </a:lnSpc>
          <a:spcBef>
            <a:spcPct val="0"/>
          </a:spcBef>
          <a:spcAft>
            <a:spcPct val="0"/>
          </a:spcAft>
          <a:buClrTx/>
          <a:buSzTx/>
          <a:buFontTx/>
          <a:buNone/>
          <a:tabLst/>
          <a:defRPr kumimoji="1" lang="ko-KR" sz="1800" b="0" i="0" u="none" strike="noStrike" cap="none" normalizeH="0" baseline="0" smtClean="0">
            <a:ln>
              <a:noFill/>
            </a:ln>
            <a:solidFill>
              <a:schemeClr val="tx1"/>
            </a:solidFill>
            <a:effectLst/>
            <a:latin typeface="Tahoma" pitchFamily="34" charset="0"/>
            <a:ea typeface="나눔고딕" pitchFamily="50" charset="-127"/>
            <a:cs typeface="조선일보명조"/>
          </a:defRPr>
        </a:defPPr>
      </a:lstStyle>
    </a:spDef>
    <a:lnDef>
      <a:spPr bwMode="auto">
        <a:xfrm>
          <a:off x="0" y="0"/>
          <a:ext cx="1" cy="1"/>
        </a:xfrm>
        <a:custGeom>
          <a:avLst/>
          <a:gdLst/>
          <a:ahLst/>
          <a:cxnLst/>
          <a:rect l="0" t="0" r="0" b="0"/>
          <a:pathLst/>
        </a:custGeom>
        <a:solidFill>
          <a:schemeClr val="accent1"/>
        </a:solidFill>
        <a:ln w="12700" cap="rnd" cmpd="sng" algn="ctr">
          <a:solidFill>
            <a:schemeClr val="hlink"/>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ctr" defTabSz="914400" rtl="0" eaLnBrk="1" fontAlgn="base" latinLnBrk="1" hangingPunct="1">
          <a:lnSpc>
            <a:spcPct val="100000"/>
          </a:lnSpc>
          <a:spcBef>
            <a:spcPct val="0"/>
          </a:spcBef>
          <a:spcAft>
            <a:spcPct val="0"/>
          </a:spcAft>
          <a:buClrTx/>
          <a:buSzTx/>
          <a:buFontTx/>
          <a:buNone/>
          <a:tabLst/>
          <a:defRPr kumimoji="1" lang="ko-KR" sz="1800" b="0" i="0" u="none" strike="noStrike" cap="none" normalizeH="0" baseline="0" smtClean="0">
            <a:ln>
              <a:noFill/>
            </a:ln>
            <a:solidFill>
              <a:schemeClr val="tx1"/>
            </a:solidFill>
            <a:effectLst/>
            <a:latin typeface="Tahoma" pitchFamily="34" charset="0"/>
            <a:ea typeface="나눔고딕" pitchFamily="50" charset="-127"/>
            <a:cs typeface="조선일보명조"/>
          </a:defRPr>
        </a:defPPr>
      </a:lstStyle>
    </a:lnDef>
  </a:objectDefaults>
  <a:extraClrSchemeLst>
    <a:extraClrScheme>
      <a:clrScheme name="1_모자이크 1">
        <a:dk1>
          <a:srgbClr val="0066FF"/>
        </a:dk1>
        <a:lt1>
          <a:srgbClr val="FFFFFF"/>
        </a:lt1>
        <a:dk2>
          <a:srgbClr val="000066"/>
        </a:dk2>
        <a:lt2>
          <a:srgbClr val="FFFFFF"/>
        </a:lt2>
        <a:accent1>
          <a:srgbClr val="6699FF"/>
        </a:accent1>
        <a:accent2>
          <a:srgbClr val="3333FF"/>
        </a:accent2>
        <a:accent3>
          <a:srgbClr val="AAAAB8"/>
        </a:accent3>
        <a:accent4>
          <a:srgbClr val="DADADA"/>
        </a:accent4>
        <a:accent5>
          <a:srgbClr val="B8CAFF"/>
        </a:accent5>
        <a:accent6>
          <a:srgbClr val="2D2DE7"/>
        </a:accent6>
        <a:hlink>
          <a:srgbClr val="FFCC00"/>
        </a:hlink>
        <a:folHlink>
          <a:srgbClr val="0000CC"/>
        </a:folHlink>
      </a:clrScheme>
      <a:clrMap bg1="dk2" tx1="lt1" bg2="dk1" tx2="lt2" accent1="accent1" accent2="accent2" accent3="accent3" accent4="accent4" accent5="accent5" accent6="accent6" hlink="hlink" folHlink="folHlink"/>
    </a:extraClrScheme>
    <a:extraClrScheme>
      <a:clrScheme name="1_모자이크 2">
        <a:dk1>
          <a:srgbClr val="009999"/>
        </a:dk1>
        <a:lt1>
          <a:srgbClr val="FFFFFF"/>
        </a:lt1>
        <a:dk2>
          <a:srgbClr val="334B49"/>
        </a:dk2>
        <a:lt2>
          <a:srgbClr val="FFFFFF"/>
        </a:lt2>
        <a:accent1>
          <a:srgbClr val="33CCCC"/>
        </a:accent1>
        <a:accent2>
          <a:srgbClr val="008080"/>
        </a:accent2>
        <a:accent3>
          <a:srgbClr val="ADB1B1"/>
        </a:accent3>
        <a:accent4>
          <a:srgbClr val="DADADA"/>
        </a:accent4>
        <a:accent5>
          <a:srgbClr val="ADE2E2"/>
        </a:accent5>
        <a:accent6>
          <a:srgbClr val="007373"/>
        </a:accent6>
        <a:hlink>
          <a:srgbClr val="FFCC00"/>
        </a:hlink>
        <a:folHlink>
          <a:srgbClr val="006666"/>
        </a:folHlink>
      </a:clrScheme>
      <a:clrMap bg1="dk2" tx1="lt1" bg2="dk1" tx2="lt2" accent1="accent1" accent2="accent2" accent3="accent3" accent4="accent4" accent5="accent5" accent6="accent6" hlink="hlink" folHlink="folHlink"/>
    </a:extraClrScheme>
    <a:extraClrScheme>
      <a:clrScheme name="1_모자이크 3">
        <a:dk1>
          <a:srgbClr val="006699"/>
        </a:dk1>
        <a:lt1>
          <a:srgbClr val="FFFFFF"/>
        </a:lt1>
        <a:dk2>
          <a:srgbClr val="333399"/>
        </a:dk2>
        <a:lt2>
          <a:srgbClr val="FFFFFF"/>
        </a:lt2>
        <a:accent1>
          <a:srgbClr val="0099CC"/>
        </a:accent1>
        <a:accent2>
          <a:srgbClr val="0386AF"/>
        </a:accent2>
        <a:accent3>
          <a:srgbClr val="ADADCA"/>
        </a:accent3>
        <a:accent4>
          <a:srgbClr val="DADADA"/>
        </a:accent4>
        <a:accent5>
          <a:srgbClr val="AACAE2"/>
        </a:accent5>
        <a:accent6>
          <a:srgbClr val="02799E"/>
        </a:accent6>
        <a:hlink>
          <a:srgbClr val="FFCC00"/>
        </a:hlink>
        <a:folHlink>
          <a:srgbClr val="6699FF"/>
        </a:folHlink>
      </a:clrScheme>
      <a:clrMap bg1="dk2" tx1="lt1" bg2="dk1" tx2="lt2" accent1="accent1" accent2="accent2" accent3="accent3" accent4="accent4" accent5="accent5" accent6="accent6" hlink="hlink" folHlink="folHlink"/>
    </a:extraClrScheme>
    <a:extraClrScheme>
      <a:clrScheme name="1_모자이크 4">
        <a:dk1>
          <a:srgbClr val="008080"/>
        </a:dk1>
        <a:lt1>
          <a:srgbClr val="FFFFFF"/>
        </a:lt1>
        <a:dk2>
          <a:srgbClr val="2F978D"/>
        </a:dk2>
        <a:lt2>
          <a:srgbClr val="FFFFFF"/>
        </a:lt2>
        <a:accent1>
          <a:srgbClr val="0099FF"/>
        </a:accent1>
        <a:accent2>
          <a:srgbClr val="009999"/>
        </a:accent2>
        <a:accent3>
          <a:srgbClr val="ADC9C5"/>
        </a:accent3>
        <a:accent4>
          <a:srgbClr val="DADADA"/>
        </a:accent4>
        <a:accent5>
          <a:srgbClr val="AACAFF"/>
        </a:accent5>
        <a:accent6>
          <a:srgbClr val="008A8A"/>
        </a:accent6>
        <a:hlink>
          <a:srgbClr val="FFFFCC"/>
        </a:hlink>
        <a:folHlink>
          <a:srgbClr val="70CAC6"/>
        </a:folHlink>
      </a:clrScheme>
      <a:clrMap bg1="dk2" tx1="lt1" bg2="dk1" tx2="lt2" accent1="accent1" accent2="accent2" accent3="accent3" accent4="accent4" accent5="accent5" accent6="accent6" hlink="hlink" folHlink="folHlink"/>
    </a:extraClrScheme>
    <a:extraClrScheme>
      <a:clrScheme name="1_모자이크 5">
        <a:dk1>
          <a:srgbClr val="822504"/>
        </a:dk1>
        <a:lt1>
          <a:srgbClr val="FFFFFF"/>
        </a:lt1>
        <a:dk2>
          <a:srgbClr val="330000"/>
        </a:dk2>
        <a:lt2>
          <a:srgbClr val="FFFFFF"/>
        </a:lt2>
        <a:accent1>
          <a:srgbClr val="FF9900"/>
        </a:accent1>
        <a:accent2>
          <a:srgbClr val="9E2A06"/>
        </a:accent2>
        <a:accent3>
          <a:srgbClr val="ADAAAA"/>
        </a:accent3>
        <a:accent4>
          <a:srgbClr val="DADADA"/>
        </a:accent4>
        <a:accent5>
          <a:srgbClr val="FFCAAA"/>
        </a:accent5>
        <a:accent6>
          <a:srgbClr val="8F2505"/>
        </a:accent6>
        <a:hlink>
          <a:srgbClr val="FF3300"/>
        </a:hlink>
        <a:folHlink>
          <a:srgbClr val="7C0704"/>
        </a:folHlink>
      </a:clrScheme>
      <a:clrMap bg1="dk2" tx1="lt1" bg2="dk1" tx2="lt2" accent1="accent1" accent2="accent2" accent3="accent3" accent4="accent4" accent5="accent5" accent6="accent6" hlink="hlink" folHlink="folHlink"/>
    </a:extraClrScheme>
    <a:extraClrScheme>
      <a:clrScheme name="1_모자이크 6">
        <a:dk1>
          <a:srgbClr val="336600"/>
        </a:dk1>
        <a:lt1>
          <a:srgbClr val="FFFFFF"/>
        </a:lt1>
        <a:dk2>
          <a:srgbClr val="4A7911"/>
        </a:dk2>
        <a:lt2>
          <a:srgbClr val="FFFFFF"/>
        </a:lt2>
        <a:accent1>
          <a:srgbClr val="666633"/>
        </a:accent1>
        <a:accent2>
          <a:srgbClr val="669900"/>
        </a:accent2>
        <a:accent3>
          <a:srgbClr val="B1BEAA"/>
        </a:accent3>
        <a:accent4>
          <a:srgbClr val="DADADA"/>
        </a:accent4>
        <a:accent5>
          <a:srgbClr val="B8B8AD"/>
        </a:accent5>
        <a:accent6>
          <a:srgbClr val="5C8A00"/>
        </a:accent6>
        <a:hlink>
          <a:srgbClr val="FFCC00"/>
        </a:hlink>
        <a:folHlink>
          <a:srgbClr val="99CC00"/>
        </a:folHlink>
      </a:clrScheme>
      <a:clrMap bg1="dk2" tx1="lt1" bg2="dk1" tx2="lt2" accent1="accent1" accent2="accent2" accent3="accent3" accent4="accent4" accent5="accent5" accent6="accent6" hlink="hlink" folHlink="folHlink"/>
    </a:extraClrScheme>
    <a:extraClrScheme>
      <a:clrScheme name="1_모자이크 7">
        <a:dk1>
          <a:srgbClr val="000000"/>
        </a:dk1>
        <a:lt1>
          <a:srgbClr val="FFFFFF"/>
        </a:lt1>
        <a:dk2>
          <a:srgbClr val="000000"/>
        </a:dk2>
        <a:lt2>
          <a:srgbClr val="CC3300"/>
        </a:lt2>
        <a:accent1>
          <a:srgbClr val="FFCC00"/>
        </a:accent1>
        <a:accent2>
          <a:srgbClr val="CC6600"/>
        </a:accent2>
        <a:accent3>
          <a:srgbClr val="FFFFFF"/>
        </a:accent3>
        <a:accent4>
          <a:srgbClr val="000000"/>
        </a:accent4>
        <a:accent5>
          <a:srgbClr val="FFE2AA"/>
        </a:accent5>
        <a:accent6>
          <a:srgbClr val="B95C00"/>
        </a:accent6>
        <a:hlink>
          <a:srgbClr val="663300"/>
        </a:hlink>
        <a:folHlink>
          <a:srgbClr val="CC9900"/>
        </a:folHlink>
      </a:clrScheme>
      <a:clrMap bg1="lt1" tx1="dk1" bg2="lt2" tx2="dk2" accent1="accent1" accent2="accent2" accent3="accent3" accent4="accent4" accent5="accent5" accent6="accent6" hlink="hlink" folHlink="folHlink"/>
    </a:extraClrScheme>
    <a:extraClrScheme>
      <a:clrScheme name="1_모자이크 8">
        <a:dk1>
          <a:srgbClr val="003300"/>
        </a:dk1>
        <a:lt1>
          <a:srgbClr val="FFFFFF"/>
        </a:lt1>
        <a:dk2>
          <a:srgbClr val="000000"/>
        </a:dk2>
        <a:lt2>
          <a:srgbClr val="336600"/>
        </a:lt2>
        <a:accent1>
          <a:srgbClr val="CCCC00"/>
        </a:accent1>
        <a:accent2>
          <a:srgbClr val="669900"/>
        </a:accent2>
        <a:accent3>
          <a:srgbClr val="FFFFFF"/>
        </a:accent3>
        <a:accent4>
          <a:srgbClr val="002A00"/>
        </a:accent4>
        <a:accent5>
          <a:srgbClr val="E2E2AA"/>
        </a:accent5>
        <a:accent6>
          <a:srgbClr val="5C8A00"/>
        </a:accent6>
        <a:hlink>
          <a:srgbClr val="333300"/>
        </a:hlink>
        <a:folHlink>
          <a:srgbClr val="99CC00"/>
        </a:folHlink>
      </a:clrScheme>
      <a:clrMap bg1="lt1" tx1="dk1" bg2="lt2" tx2="dk2" accent1="accent1" accent2="accent2" accent3="accent3" accent4="accent4" accent5="accent5" accent6="accent6" hlink="hlink" folHlink="folHlink"/>
    </a:extraClrScheme>
    <a:extraClrScheme>
      <a:clrScheme name="1_모자이크 9">
        <a:dk1>
          <a:srgbClr val="000000"/>
        </a:dk1>
        <a:lt1>
          <a:srgbClr val="FFFFFF"/>
        </a:lt1>
        <a:dk2>
          <a:srgbClr val="000000"/>
        </a:dk2>
        <a:lt2>
          <a:srgbClr val="440044"/>
        </a:lt2>
        <a:accent1>
          <a:srgbClr val="FFCCCC"/>
        </a:accent1>
        <a:accent2>
          <a:srgbClr val="790571"/>
        </a:accent2>
        <a:accent3>
          <a:srgbClr val="FFFFFF"/>
        </a:accent3>
        <a:accent4>
          <a:srgbClr val="000000"/>
        </a:accent4>
        <a:accent5>
          <a:srgbClr val="FFE2E2"/>
        </a:accent5>
        <a:accent6>
          <a:srgbClr val="6D0466"/>
        </a:accent6>
        <a:hlink>
          <a:srgbClr val="993366"/>
        </a:hlink>
        <a:folHlink>
          <a:srgbClr val="9F839F"/>
        </a:folHlink>
      </a:clrScheme>
      <a:clrMap bg1="lt1" tx1="dk1" bg2="lt2" tx2="dk2" accent1="accent1" accent2="accent2" accent3="accent3" accent4="accent4" accent5="accent5" accent6="accent6" hlink="hlink" folHlink="folHlink"/>
    </a:extraClrScheme>
    <a:extraClrScheme>
      <a:clrScheme name="1_모자이크 10">
        <a:dk1>
          <a:srgbClr val="000000"/>
        </a:dk1>
        <a:lt1>
          <a:srgbClr val="FFFFFF"/>
        </a:lt1>
        <a:dk2>
          <a:srgbClr val="000000"/>
        </a:dk2>
        <a:lt2>
          <a:srgbClr val="FF9900"/>
        </a:lt2>
        <a:accent1>
          <a:srgbClr val="FFCC99"/>
        </a:accent1>
        <a:accent2>
          <a:srgbClr val="FBA313"/>
        </a:accent2>
        <a:accent3>
          <a:srgbClr val="FFFFFF"/>
        </a:accent3>
        <a:accent4>
          <a:srgbClr val="000000"/>
        </a:accent4>
        <a:accent5>
          <a:srgbClr val="FFE2CA"/>
        </a:accent5>
        <a:accent6>
          <a:srgbClr val="E39310"/>
        </a:accent6>
        <a:hlink>
          <a:srgbClr val="CC3300"/>
        </a:hlink>
        <a:folHlink>
          <a:srgbClr val="FCC66E"/>
        </a:folHlink>
      </a:clrScheme>
      <a:clrMap bg1="lt1" tx1="dk1" bg2="lt2" tx2="dk2" accent1="accent1" accent2="accent2" accent3="accent3" accent4="accent4" accent5="accent5" accent6="accent6" hlink="hlink" folHlink="folHlink"/>
    </a:extraClrScheme>
    <a:extraClrScheme>
      <a:clrScheme name="1_모자이크 11">
        <a:dk1>
          <a:srgbClr val="000000"/>
        </a:dk1>
        <a:lt1>
          <a:srgbClr val="FFFFFF"/>
        </a:lt1>
        <a:dk2>
          <a:srgbClr val="000000"/>
        </a:dk2>
        <a:lt2>
          <a:srgbClr val="779F92"/>
        </a:lt2>
        <a:accent1>
          <a:srgbClr val="33CCCC"/>
        </a:accent1>
        <a:accent2>
          <a:srgbClr val="9DC2D7"/>
        </a:accent2>
        <a:accent3>
          <a:srgbClr val="FFFFFF"/>
        </a:accent3>
        <a:accent4>
          <a:srgbClr val="000000"/>
        </a:accent4>
        <a:accent5>
          <a:srgbClr val="ADE2E2"/>
        </a:accent5>
        <a:accent6>
          <a:srgbClr val="8EB0C3"/>
        </a:accent6>
        <a:hlink>
          <a:srgbClr val="006666"/>
        </a:hlink>
        <a:folHlink>
          <a:srgbClr val="CCCCFF"/>
        </a:folHlink>
      </a:clrScheme>
      <a:clrMap bg1="lt1" tx1="dk1" bg2="lt2" tx2="dk2" accent1="accent1" accent2="accent2" accent3="accent3" accent4="accent4" accent5="accent5" accent6="accent6" hlink="hlink" folHlink="folHlink"/>
    </a:extraClrScheme>
    <a:extraClrScheme>
      <a:clrScheme name="1_모자이크 12">
        <a:dk1>
          <a:srgbClr val="000000"/>
        </a:dk1>
        <a:lt1>
          <a:srgbClr val="FFFFFF"/>
        </a:lt1>
        <a:dk2>
          <a:srgbClr val="000000"/>
        </a:dk2>
        <a:lt2>
          <a:srgbClr val="00007D"/>
        </a:lt2>
        <a:accent1>
          <a:srgbClr val="9999FF"/>
        </a:accent1>
        <a:accent2>
          <a:srgbClr val="9999CC"/>
        </a:accent2>
        <a:accent3>
          <a:srgbClr val="FFFFFF"/>
        </a:accent3>
        <a:accent4>
          <a:srgbClr val="000000"/>
        </a:accent4>
        <a:accent5>
          <a:srgbClr val="CACAFF"/>
        </a:accent5>
        <a:accent6>
          <a:srgbClr val="8A8AB9"/>
        </a:accent6>
        <a:hlink>
          <a:srgbClr val="666699"/>
        </a:hlink>
        <a:folHlink>
          <a:srgbClr val="CCCCE6"/>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6223</TotalTime>
  <Words>4539</Words>
  <Application>Microsoft Office PowerPoint</Application>
  <PresentationFormat>화면 슬라이드 쇼(16:9)</PresentationFormat>
  <Paragraphs>281</Paragraphs>
  <Slides>33</Slides>
  <Notes>28</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33</vt:i4>
      </vt:variant>
    </vt:vector>
  </HeadingPairs>
  <TitlesOfParts>
    <vt:vector size="43" baseType="lpstr">
      <vt:lpstr>나눔고딕</vt:lpstr>
      <vt:lpstr>나눔스퀘어</vt:lpstr>
      <vt:lpstr>나눔스퀘어 Bold</vt:lpstr>
      <vt:lpstr>나눔스퀘어 ExtraBold</vt:lpstr>
      <vt:lpstr>맑은 고딕</vt:lpstr>
      <vt:lpstr>Arial</vt:lpstr>
      <vt:lpstr>Consolas</vt:lpstr>
      <vt:lpstr>Tahoma</vt:lpstr>
      <vt:lpstr>Wingdings</vt:lpstr>
      <vt:lpstr>1_모자이크</vt:lpstr>
      <vt:lpstr>학습 목표</vt:lpstr>
      <vt:lpstr>PowerPoint 프레젠테이션</vt:lpstr>
      <vt:lpstr>1차시. 블루프린트 기초</vt:lpstr>
      <vt:lpstr>액터 움직이기</vt:lpstr>
      <vt:lpstr>블루프린트란?</vt:lpstr>
      <vt:lpstr>블루프린트의 특징 - 비주얼 언어</vt:lpstr>
      <vt:lpstr>블루프린트의 특징 - 스크립팅(인터프리터) 언어</vt:lpstr>
      <vt:lpstr>블루프린트의 장점과 단점</vt:lpstr>
      <vt:lpstr>블루프린트 그래프의 구성 요소 - 노드</vt:lpstr>
      <vt:lpstr>블루프린트 그래프의 구성 요소 - 핀</vt:lpstr>
      <vt:lpstr>블루프린트 그래프의 구성 요소 - 핀</vt:lpstr>
      <vt:lpstr>블루프린트 그래프의 구성 요소 - 와이어</vt:lpstr>
      <vt:lpstr>게임 루프와 이벤트 틱</vt:lpstr>
      <vt:lpstr>실습 1. 액터 이동</vt:lpstr>
      <vt:lpstr>PowerPoint 프레젠테이션</vt:lpstr>
      <vt:lpstr>2차시. 블루프린트 클래스</vt:lpstr>
      <vt:lpstr>블루프린트 클래스(Blueprint Class)</vt:lpstr>
      <vt:lpstr>블루프린트(Blueprint) - 청사진</vt:lpstr>
      <vt:lpstr>스폰(Spawn)</vt:lpstr>
      <vt:lpstr>블루프린트 클래스의 활용</vt:lpstr>
      <vt:lpstr>변수</vt:lpstr>
      <vt:lpstr>함수 Get Game Time in Seconds </vt:lpstr>
      <vt:lpstr>실습 2. 위아래로 운동하는 액터 만들기</vt:lpstr>
      <vt:lpstr>실습 3. 액터 운동의 진폭과 주파수 조절하기</vt:lpstr>
      <vt:lpstr>PowerPoint 프레젠테이션</vt:lpstr>
      <vt:lpstr>3차시. 이벤트 기반 프로그래밍과 레벨 인스턴스</vt:lpstr>
      <vt:lpstr>이벤트 기반 프로그래밍</vt:lpstr>
      <vt:lpstr>이벤트 노드를 이용한 충돌 감지</vt:lpstr>
      <vt:lpstr>레벨 인스턴스</vt:lpstr>
      <vt:lpstr>팩형 레벨 액터 (Packed Level Actor)</vt:lpstr>
      <vt:lpstr>실습 4. 액터 획득 연출 만들기 (충돌·폭파·사운드)</vt:lpstr>
      <vt:lpstr>실습 5. 레벨 인스턴스와 팩형 래벨 액터를 활용한 효율적인 레벨 제작</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Dae-Hyun Lee</dc:creator>
  <cp:lastModifiedBy>이대현(A0125)</cp:lastModifiedBy>
  <cp:revision>916</cp:revision>
  <dcterms:created xsi:type="dcterms:W3CDTF">2017-12-17T05:40:28Z</dcterms:created>
  <dcterms:modified xsi:type="dcterms:W3CDTF">2026-07-14T00:18:08Z</dcterms:modified>
</cp:coreProperties>
</file>